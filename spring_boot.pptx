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63" r:id="rId5"/>
    <p:sldId id="262" r:id="rId6"/>
    <p:sldId id="264" r:id="rId7"/>
    <p:sldId id="266" r:id="rId8"/>
    <p:sldId id="267" r:id="rId9"/>
    <p:sldId id="268" r:id="rId10"/>
    <p:sldId id="269" r:id="rId11"/>
    <p:sldId id="270" r:id="rId12"/>
    <p:sldId id="259" r:id="rId13"/>
    <p:sldId id="271" r:id="rId14"/>
    <p:sldId id="272" r:id="rId15"/>
    <p:sldId id="273" r:id="rId16"/>
    <p:sldId id="275" r:id="rId17"/>
    <p:sldId id="277" r:id="rId18"/>
    <p:sldId id="278" r:id="rId19"/>
    <p:sldId id="279" r:id="rId20"/>
    <p:sldId id="280" r:id="rId21"/>
    <p:sldId id="286" r:id="rId22"/>
    <p:sldId id="260" r:id="rId23"/>
    <p:sldId id="285" r:id="rId24"/>
    <p:sldId id="282" r:id="rId25"/>
    <p:sldId id="283" r:id="rId26"/>
    <p:sldId id="284" r:id="rId27"/>
    <p:sldId id="28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12.png"/><Relationship Id="rId4" Type="http://schemas.openxmlformats.org/officeDocument/2006/relationships/image" Target="../media/image29.svg"/></Relationships>
</file>

<file path=ppt/diagrams/_rels/data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12.png"/><Relationship Id="rId4" Type="http://schemas.openxmlformats.org/officeDocument/2006/relationships/image" Target="../media/image29.svg"/></Relationships>
</file>

<file path=ppt/diagrams/_rels/data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ata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_rels/data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12.png"/><Relationship Id="rId4" Type="http://schemas.openxmlformats.org/officeDocument/2006/relationships/image" Target="../media/image2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12.png"/><Relationship Id="rId4" Type="http://schemas.openxmlformats.org/officeDocument/2006/relationships/image" Target="../media/image2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_rels/drawing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0D4561-8BA8-492E-A99F-3FBE46A804A8}"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90601D79-1AE5-42F8-8943-37608730E380}">
      <dgm:prSet/>
      <dgm:spPr/>
      <dgm:t>
        <a:bodyPr/>
        <a:lstStyle/>
        <a:p>
          <a:pPr>
            <a:defRPr b="1"/>
          </a:pPr>
          <a:r>
            <a:rPr lang="en-IN"/>
            <a:t>Independence</a:t>
          </a:r>
          <a:endParaRPr lang="en-US"/>
        </a:p>
      </dgm:t>
    </dgm:pt>
    <dgm:pt modelId="{7DDAFB9C-7D78-4D5B-9510-3595E91233B6}" type="parTrans" cxnId="{1DF08857-E34B-4C30-B886-194B4583CE49}">
      <dgm:prSet/>
      <dgm:spPr/>
      <dgm:t>
        <a:bodyPr/>
        <a:lstStyle/>
        <a:p>
          <a:endParaRPr lang="en-US"/>
        </a:p>
      </dgm:t>
    </dgm:pt>
    <dgm:pt modelId="{CE9051E2-7103-4A3D-ABF6-C821A79072D3}" type="sibTrans" cxnId="{1DF08857-E34B-4C30-B886-194B4583CE49}">
      <dgm:prSet/>
      <dgm:spPr/>
      <dgm:t>
        <a:bodyPr/>
        <a:lstStyle/>
        <a:p>
          <a:endParaRPr lang="en-US"/>
        </a:p>
      </dgm:t>
    </dgm:pt>
    <dgm:pt modelId="{D6CF748A-4F37-4FE3-BCE7-90B1A479FEA9}">
      <dgm:prSet/>
      <dgm:spPr/>
      <dgm:t>
        <a:bodyPr/>
        <a:lstStyle/>
        <a:p>
          <a:r>
            <a:rPr lang="en-IN"/>
            <a:t>Each microservice can be deployed, updated, and scaled independently.</a:t>
          </a:r>
          <a:endParaRPr lang="en-US"/>
        </a:p>
      </dgm:t>
    </dgm:pt>
    <dgm:pt modelId="{C8472B34-723E-410C-A215-B5F7E5E5B14B}" type="parTrans" cxnId="{DF6908CD-1C67-43F3-B37D-4460443A09B6}">
      <dgm:prSet/>
      <dgm:spPr/>
      <dgm:t>
        <a:bodyPr/>
        <a:lstStyle/>
        <a:p>
          <a:endParaRPr lang="en-US"/>
        </a:p>
      </dgm:t>
    </dgm:pt>
    <dgm:pt modelId="{3D0C92BC-DB72-4C53-8DAB-4BA6E8E2A4EC}" type="sibTrans" cxnId="{DF6908CD-1C67-43F3-B37D-4460443A09B6}">
      <dgm:prSet/>
      <dgm:spPr/>
      <dgm:t>
        <a:bodyPr/>
        <a:lstStyle/>
        <a:p>
          <a:endParaRPr lang="en-US"/>
        </a:p>
      </dgm:t>
    </dgm:pt>
    <dgm:pt modelId="{8B61DAAE-3B73-4DE8-A4D0-4C0C4C8DCACF}">
      <dgm:prSet/>
      <dgm:spPr/>
      <dgm:t>
        <a:bodyPr/>
        <a:lstStyle/>
        <a:p>
          <a:pPr>
            <a:defRPr b="1"/>
          </a:pPr>
          <a:r>
            <a:rPr lang="en-IN"/>
            <a:t>Bounded Context</a:t>
          </a:r>
          <a:endParaRPr lang="en-US"/>
        </a:p>
      </dgm:t>
    </dgm:pt>
    <dgm:pt modelId="{5F6F6549-7562-415A-87E0-535DF89B8ACC}" type="parTrans" cxnId="{098D786C-EEA8-4EC2-A53F-1B380311DAAA}">
      <dgm:prSet/>
      <dgm:spPr/>
      <dgm:t>
        <a:bodyPr/>
        <a:lstStyle/>
        <a:p>
          <a:endParaRPr lang="en-US"/>
        </a:p>
      </dgm:t>
    </dgm:pt>
    <dgm:pt modelId="{62D37A46-95C4-4826-9C70-DEDDBD209CF0}" type="sibTrans" cxnId="{098D786C-EEA8-4EC2-A53F-1B380311DAAA}">
      <dgm:prSet/>
      <dgm:spPr/>
      <dgm:t>
        <a:bodyPr/>
        <a:lstStyle/>
        <a:p>
          <a:endParaRPr lang="en-US"/>
        </a:p>
      </dgm:t>
    </dgm:pt>
    <dgm:pt modelId="{915EC0E3-40F7-41C4-8479-AA987F37F421}">
      <dgm:prSet/>
      <dgm:spPr/>
      <dgm:t>
        <a:bodyPr/>
        <a:lstStyle/>
        <a:p>
          <a:r>
            <a:rPr lang="en-IN"/>
            <a:t>Each service encapsulates a distinct business function or process.</a:t>
          </a:r>
          <a:endParaRPr lang="en-US"/>
        </a:p>
      </dgm:t>
    </dgm:pt>
    <dgm:pt modelId="{144F48CD-7063-4F0D-B7BC-BF2BDB9FA25E}" type="parTrans" cxnId="{F48F4B1C-ED87-4C8F-B0D9-F8EC915E5E84}">
      <dgm:prSet/>
      <dgm:spPr/>
      <dgm:t>
        <a:bodyPr/>
        <a:lstStyle/>
        <a:p>
          <a:endParaRPr lang="en-US"/>
        </a:p>
      </dgm:t>
    </dgm:pt>
    <dgm:pt modelId="{EE7327E3-88E5-4088-B2E5-5F5AFBFA9E69}" type="sibTrans" cxnId="{F48F4B1C-ED87-4C8F-B0D9-F8EC915E5E84}">
      <dgm:prSet/>
      <dgm:spPr/>
      <dgm:t>
        <a:bodyPr/>
        <a:lstStyle/>
        <a:p>
          <a:endParaRPr lang="en-US"/>
        </a:p>
      </dgm:t>
    </dgm:pt>
    <dgm:pt modelId="{275C6DEE-29F8-4290-AD22-A50481730E81}">
      <dgm:prSet/>
      <dgm:spPr/>
      <dgm:t>
        <a:bodyPr/>
        <a:lstStyle/>
        <a:p>
          <a:pPr>
            <a:defRPr b="1"/>
          </a:pPr>
          <a:r>
            <a:rPr lang="en-IN"/>
            <a:t>Technology Agnostic</a:t>
          </a:r>
          <a:endParaRPr lang="en-US"/>
        </a:p>
      </dgm:t>
    </dgm:pt>
    <dgm:pt modelId="{653E2FA2-2439-4F7F-AA00-73D7EC2C3C39}" type="parTrans" cxnId="{58D34ECB-2F0B-4C62-931B-74D93819B507}">
      <dgm:prSet/>
      <dgm:spPr/>
      <dgm:t>
        <a:bodyPr/>
        <a:lstStyle/>
        <a:p>
          <a:endParaRPr lang="en-US"/>
        </a:p>
      </dgm:t>
    </dgm:pt>
    <dgm:pt modelId="{130EE652-1607-4584-845D-20BFC1DD9D5D}" type="sibTrans" cxnId="{58D34ECB-2F0B-4C62-931B-74D93819B507}">
      <dgm:prSet/>
      <dgm:spPr/>
      <dgm:t>
        <a:bodyPr/>
        <a:lstStyle/>
        <a:p>
          <a:endParaRPr lang="en-US"/>
        </a:p>
      </dgm:t>
    </dgm:pt>
    <dgm:pt modelId="{D459B4AD-0970-4708-89A3-2F8925BAD833}">
      <dgm:prSet/>
      <dgm:spPr/>
      <dgm:t>
        <a:bodyPr/>
        <a:lstStyle/>
        <a:p>
          <a:r>
            <a:rPr lang="en-IN"/>
            <a:t>Services can be built with different programming languages or technologies.</a:t>
          </a:r>
          <a:endParaRPr lang="en-US"/>
        </a:p>
      </dgm:t>
    </dgm:pt>
    <dgm:pt modelId="{E7E972E8-CF28-4F60-A4C6-53AB40431789}" type="parTrans" cxnId="{24FCAACF-8D57-4102-803C-D348BCE4ED94}">
      <dgm:prSet/>
      <dgm:spPr/>
      <dgm:t>
        <a:bodyPr/>
        <a:lstStyle/>
        <a:p>
          <a:endParaRPr lang="en-US"/>
        </a:p>
      </dgm:t>
    </dgm:pt>
    <dgm:pt modelId="{C78D3C72-C2FD-448A-B58F-2EEE159391F4}" type="sibTrans" cxnId="{24FCAACF-8D57-4102-803C-D348BCE4ED94}">
      <dgm:prSet/>
      <dgm:spPr/>
      <dgm:t>
        <a:bodyPr/>
        <a:lstStyle/>
        <a:p>
          <a:endParaRPr lang="en-US"/>
        </a:p>
      </dgm:t>
    </dgm:pt>
    <dgm:pt modelId="{F548E63F-B8AF-46BA-96A8-0A2D6C131C86}" type="pres">
      <dgm:prSet presAssocID="{F40D4561-8BA8-492E-A99F-3FBE46A804A8}" presName="root" presStyleCnt="0">
        <dgm:presLayoutVars>
          <dgm:dir/>
          <dgm:resizeHandles val="exact"/>
        </dgm:presLayoutVars>
      </dgm:prSet>
      <dgm:spPr/>
    </dgm:pt>
    <dgm:pt modelId="{318029C8-138C-49A9-AD1B-480312AF0B99}" type="pres">
      <dgm:prSet presAssocID="{90601D79-1AE5-42F8-8943-37608730E380}" presName="compNode" presStyleCnt="0"/>
      <dgm:spPr/>
    </dgm:pt>
    <dgm:pt modelId="{333943AE-B721-47BF-8680-B3B3FC1C62BD}" type="pres">
      <dgm:prSet presAssocID="{90601D79-1AE5-42F8-8943-37608730E38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Circle"/>
        </a:ext>
      </dgm:extLst>
    </dgm:pt>
    <dgm:pt modelId="{B893FA05-55C6-49E7-8BB3-9B16C14E7892}" type="pres">
      <dgm:prSet presAssocID="{90601D79-1AE5-42F8-8943-37608730E380}" presName="iconSpace" presStyleCnt="0"/>
      <dgm:spPr/>
    </dgm:pt>
    <dgm:pt modelId="{215D4B47-258B-48B8-BADB-574B09E74912}" type="pres">
      <dgm:prSet presAssocID="{90601D79-1AE5-42F8-8943-37608730E380}" presName="parTx" presStyleLbl="revTx" presStyleIdx="0" presStyleCnt="6">
        <dgm:presLayoutVars>
          <dgm:chMax val="0"/>
          <dgm:chPref val="0"/>
        </dgm:presLayoutVars>
      </dgm:prSet>
      <dgm:spPr/>
    </dgm:pt>
    <dgm:pt modelId="{1A7AAA36-6EE1-437F-88CA-EF5ECA9E8509}" type="pres">
      <dgm:prSet presAssocID="{90601D79-1AE5-42F8-8943-37608730E380}" presName="txSpace" presStyleCnt="0"/>
      <dgm:spPr/>
    </dgm:pt>
    <dgm:pt modelId="{019266DC-FE48-41B0-B81D-F48E49674A25}" type="pres">
      <dgm:prSet presAssocID="{90601D79-1AE5-42F8-8943-37608730E380}" presName="desTx" presStyleLbl="revTx" presStyleIdx="1" presStyleCnt="6">
        <dgm:presLayoutVars/>
      </dgm:prSet>
      <dgm:spPr/>
    </dgm:pt>
    <dgm:pt modelId="{6A5E9231-DF8C-4871-93F2-6D50DCA88EFD}" type="pres">
      <dgm:prSet presAssocID="{CE9051E2-7103-4A3D-ABF6-C821A79072D3}" presName="sibTrans" presStyleCnt="0"/>
      <dgm:spPr/>
    </dgm:pt>
    <dgm:pt modelId="{E3A9DDD9-283E-4787-BB7F-26BC07D92777}" type="pres">
      <dgm:prSet presAssocID="{8B61DAAE-3B73-4DE8-A4D0-4C0C4C8DCACF}" presName="compNode" presStyleCnt="0"/>
      <dgm:spPr/>
    </dgm:pt>
    <dgm:pt modelId="{B8C249AF-761A-46EE-A5BE-C26687844E30}" type="pres">
      <dgm:prSet presAssocID="{8B61DAAE-3B73-4DE8-A4D0-4C0C4C8DCAC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00180011-7093-4392-9406-9841FEFB21BF}" type="pres">
      <dgm:prSet presAssocID="{8B61DAAE-3B73-4DE8-A4D0-4C0C4C8DCACF}" presName="iconSpace" presStyleCnt="0"/>
      <dgm:spPr/>
    </dgm:pt>
    <dgm:pt modelId="{F6E11A3A-0CC2-41BF-B2F3-56D4B59730A7}" type="pres">
      <dgm:prSet presAssocID="{8B61DAAE-3B73-4DE8-A4D0-4C0C4C8DCACF}" presName="parTx" presStyleLbl="revTx" presStyleIdx="2" presStyleCnt="6">
        <dgm:presLayoutVars>
          <dgm:chMax val="0"/>
          <dgm:chPref val="0"/>
        </dgm:presLayoutVars>
      </dgm:prSet>
      <dgm:spPr/>
    </dgm:pt>
    <dgm:pt modelId="{83F60976-FF21-4B01-A47A-CC3AFFF51B17}" type="pres">
      <dgm:prSet presAssocID="{8B61DAAE-3B73-4DE8-A4D0-4C0C4C8DCACF}" presName="txSpace" presStyleCnt="0"/>
      <dgm:spPr/>
    </dgm:pt>
    <dgm:pt modelId="{ED34A138-D36B-4677-B15C-8BF7B1FDF5BF}" type="pres">
      <dgm:prSet presAssocID="{8B61DAAE-3B73-4DE8-A4D0-4C0C4C8DCACF}" presName="desTx" presStyleLbl="revTx" presStyleIdx="3" presStyleCnt="6">
        <dgm:presLayoutVars/>
      </dgm:prSet>
      <dgm:spPr/>
    </dgm:pt>
    <dgm:pt modelId="{9F07A9CB-E128-425D-937D-72DC36604F4D}" type="pres">
      <dgm:prSet presAssocID="{62D37A46-95C4-4826-9C70-DEDDBD209CF0}" presName="sibTrans" presStyleCnt="0"/>
      <dgm:spPr/>
    </dgm:pt>
    <dgm:pt modelId="{9F83207F-C326-4988-837B-9ACA23B37EAD}" type="pres">
      <dgm:prSet presAssocID="{275C6DEE-29F8-4290-AD22-A50481730E81}" presName="compNode" presStyleCnt="0"/>
      <dgm:spPr/>
    </dgm:pt>
    <dgm:pt modelId="{BEE2692B-B21A-4FD1-B93C-D7EAF318D6CD}" type="pres">
      <dgm:prSet presAssocID="{275C6DEE-29F8-4290-AD22-A50481730E8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4997ED5E-8356-4B88-A264-AB7977965F34}" type="pres">
      <dgm:prSet presAssocID="{275C6DEE-29F8-4290-AD22-A50481730E81}" presName="iconSpace" presStyleCnt="0"/>
      <dgm:spPr/>
    </dgm:pt>
    <dgm:pt modelId="{00545369-8424-40C3-80AB-D71257ADB97C}" type="pres">
      <dgm:prSet presAssocID="{275C6DEE-29F8-4290-AD22-A50481730E81}" presName="parTx" presStyleLbl="revTx" presStyleIdx="4" presStyleCnt="6">
        <dgm:presLayoutVars>
          <dgm:chMax val="0"/>
          <dgm:chPref val="0"/>
        </dgm:presLayoutVars>
      </dgm:prSet>
      <dgm:spPr/>
    </dgm:pt>
    <dgm:pt modelId="{5B454848-E9FB-4F5D-A7B3-30EA1A5E4F05}" type="pres">
      <dgm:prSet presAssocID="{275C6DEE-29F8-4290-AD22-A50481730E81}" presName="txSpace" presStyleCnt="0"/>
      <dgm:spPr/>
    </dgm:pt>
    <dgm:pt modelId="{3CE6899F-23B9-4937-B323-8FFDA33AE796}" type="pres">
      <dgm:prSet presAssocID="{275C6DEE-29F8-4290-AD22-A50481730E81}" presName="desTx" presStyleLbl="revTx" presStyleIdx="5" presStyleCnt="6">
        <dgm:presLayoutVars/>
      </dgm:prSet>
      <dgm:spPr/>
    </dgm:pt>
  </dgm:ptLst>
  <dgm:cxnLst>
    <dgm:cxn modelId="{E3A4410B-9BFA-4EF2-8581-48E8753A4F77}" type="presOf" srcId="{F40D4561-8BA8-492E-A99F-3FBE46A804A8}" destId="{F548E63F-B8AF-46BA-96A8-0A2D6C131C86}" srcOrd="0" destOrd="0" presId="urn:microsoft.com/office/officeart/2018/5/layout/CenteredIconLabelDescriptionList"/>
    <dgm:cxn modelId="{FAD51311-AEF0-4274-9FA8-C6725883C608}" type="presOf" srcId="{8B61DAAE-3B73-4DE8-A4D0-4C0C4C8DCACF}" destId="{F6E11A3A-0CC2-41BF-B2F3-56D4B59730A7}" srcOrd="0" destOrd="0" presId="urn:microsoft.com/office/officeart/2018/5/layout/CenteredIconLabelDescriptionList"/>
    <dgm:cxn modelId="{F48F4B1C-ED87-4C8F-B0D9-F8EC915E5E84}" srcId="{8B61DAAE-3B73-4DE8-A4D0-4C0C4C8DCACF}" destId="{915EC0E3-40F7-41C4-8479-AA987F37F421}" srcOrd="0" destOrd="0" parTransId="{144F48CD-7063-4F0D-B7BC-BF2BDB9FA25E}" sibTransId="{EE7327E3-88E5-4088-B2E5-5F5AFBFA9E69}"/>
    <dgm:cxn modelId="{D3C13C23-2374-49A9-A308-A809247E4A61}" type="presOf" srcId="{90601D79-1AE5-42F8-8943-37608730E380}" destId="{215D4B47-258B-48B8-BADB-574B09E74912}" srcOrd="0" destOrd="0" presId="urn:microsoft.com/office/officeart/2018/5/layout/CenteredIconLabelDescriptionList"/>
    <dgm:cxn modelId="{7AC8995C-FAB6-41A3-A5F2-ED1102F1ABC5}" type="presOf" srcId="{D459B4AD-0970-4708-89A3-2F8925BAD833}" destId="{3CE6899F-23B9-4937-B323-8FFDA33AE796}" srcOrd="0" destOrd="0" presId="urn:microsoft.com/office/officeart/2018/5/layout/CenteredIconLabelDescriptionList"/>
    <dgm:cxn modelId="{098D786C-EEA8-4EC2-A53F-1B380311DAAA}" srcId="{F40D4561-8BA8-492E-A99F-3FBE46A804A8}" destId="{8B61DAAE-3B73-4DE8-A4D0-4C0C4C8DCACF}" srcOrd="1" destOrd="0" parTransId="{5F6F6549-7562-415A-87E0-535DF89B8ACC}" sibTransId="{62D37A46-95C4-4826-9C70-DEDDBD209CF0}"/>
    <dgm:cxn modelId="{1DF08857-E34B-4C30-B886-194B4583CE49}" srcId="{F40D4561-8BA8-492E-A99F-3FBE46A804A8}" destId="{90601D79-1AE5-42F8-8943-37608730E380}" srcOrd="0" destOrd="0" parTransId="{7DDAFB9C-7D78-4D5B-9510-3595E91233B6}" sibTransId="{CE9051E2-7103-4A3D-ABF6-C821A79072D3}"/>
    <dgm:cxn modelId="{D9D34389-7332-4C7B-87A6-B5CF2A26B99A}" type="presOf" srcId="{915EC0E3-40F7-41C4-8479-AA987F37F421}" destId="{ED34A138-D36B-4677-B15C-8BF7B1FDF5BF}" srcOrd="0" destOrd="0" presId="urn:microsoft.com/office/officeart/2018/5/layout/CenteredIconLabelDescriptionList"/>
    <dgm:cxn modelId="{58D34ECB-2F0B-4C62-931B-74D93819B507}" srcId="{F40D4561-8BA8-492E-A99F-3FBE46A804A8}" destId="{275C6DEE-29F8-4290-AD22-A50481730E81}" srcOrd="2" destOrd="0" parTransId="{653E2FA2-2439-4F7F-AA00-73D7EC2C3C39}" sibTransId="{130EE652-1607-4584-845D-20BFC1DD9D5D}"/>
    <dgm:cxn modelId="{DF6908CD-1C67-43F3-B37D-4460443A09B6}" srcId="{90601D79-1AE5-42F8-8943-37608730E380}" destId="{D6CF748A-4F37-4FE3-BCE7-90B1A479FEA9}" srcOrd="0" destOrd="0" parTransId="{C8472B34-723E-410C-A215-B5F7E5E5B14B}" sibTransId="{3D0C92BC-DB72-4C53-8DAB-4BA6E8E2A4EC}"/>
    <dgm:cxn modelId="{24FCAACF-8D57-4102-803C-D348BCE4ED94}" srcId="{275C6DEE-29F8-4290-AD22-A50481730E81}" destId="{D459B4AD-0970-4708-89A3-2F8925BAD833}" srcOrd="0" destOrd="0" parTransId="{E7E972E8-CF28-4F60-A4C6-53AB40431789}" sibTransId="{C78D3C72-C2FD-448A-B58F-2EEE159391F4}"/>
    <dgm:cxn modelId="{37FD71F2-7505-4C6E-B80A-0B5965830E35}" type="presOf" srcId="{275C6DEE-29F8-4290-AD22-A50481730E81}" destId="{00545369-8424-40C3-80AB-D71257ADB97C}" srcOrd="0" destOrd="0" presId="urn:microsoft.com/office/officeart/2018/5/layout/CenteredIconLabelDescriptionList"/>
    <dgm:cxn modelId="{2A928DF7-B2C1-4275-927E-6F12F7997825}" type="presOf" srcId="{D6CF748A-4F37-4FE3-BCE7-90B1A479FEA9}" destId="{019266DC-FE48-41B0-B81D-F48E49674A25}" srcOrd="0" destOrd="0" presId="urn:microsoft.com/office/officeart/2018/5/layout/CenteredIconLabelDescriptionList"/>
    <dgm:cxn modelId="{0062E7E7-3737-4C5E-BA04-2E237831B12E}" type="presParOf" srcId="{F548E63F-B8AF-46BA-96A8-0A2D6C131C86}" destId="{318029C8-138C-49A9-AD1B-480312AF0B99}" srcOrd="0" destOrd="0" presId="urn:microsoft.com/office/officeart/2018/5/layout/CenteredIconLabelDescriptionList"/>
    <dgm:cxn modelId="{C9DC67B3-6FFD-4F1A-83F4-4DC5C6ED4BEE}" type="presParOf" srcId="{318029C8-138C-49A9-AD1B-480312AF0B99}" destId="{333943AE-B721-47BF-8680-B3B3FC1C62BD}" srcOrd="0" destOrd="0" presId="urn:microsoft.com/office/officeart/2018/5/layout/CenteredIconLabelDescriptionList"/>
    <dgm:cxn modelId="{BB666BEF-4AB1-4FA4-AFFA-B5826B3C91C0}" type="presParOf" srcId="{318029C8-138C-49A9-AD1B-480312AF0B99}" destId="{B893FA05-55C6-49E7-8BB3-9B16C14E7892}" srcOrd="1" destOrd="0" presId="urn:microsoft.com/office/officeart/2018/5/layout/CenteredIconLabelDescriptionList"/>
    <dgm:cxn modelId="{EE4B1CAD-EDA7-440C-ACE2-2ACE87530D3C}" type="presParOf" srcId="{318029C8-138C-49A9-AD1B-480312AF0B99}" destId="{215D4B47-258B-48B8-BADB-574B09E74912}" srcOrd="2" destOrd="0" presId="urn:microsoft.com/office/officeart/2018/5/layout/CenteredIconLabelDescriptionList"/>
    <dgm:cxn modelId="{03554961-D557-4367-BED1-CB4882FA337A}" type="presParOf" srcId="{318029C8-138C-49A9-AD1B-480312AF0B99}" destId="{1A7AAA36-6EE1-437F-88CA-EF5ECA9E8509}" srcOrd="3" destOrd="0" presId="urn:microsoft.com/office/officeart/2018/5/layout/CenteredIconLabelDescriptionList"/>
    <dgm:cxn modelId="{B183A0A4-C903-441F-80E0-25DEB1693395}" type="presParOf" srcId="{318029C8-138C-49A9-AD1B-480312AF0B99}" destId="{019266DC-FE48-41B0-B81D-F48E49674A25}" srcOrd="4" destOrd="0" presId="urn:microsoft.com/office/officeart/2018/5/layout/CenteredIconLabelDescriptionList"/>
    <dgm:cxn modelId="{ACEBB6D5-D54C-47E4-A4F6-D4EBFB88B2D8}" type="presParOf" srcId="{F548E63F-B8AF-46BA-96A8-0A2D6C131C86}" destId="{6A5E9231-DF8C-4871-93F2-6D50DCA88EFD}" srcOrd="1" destOrd="0" presId="urn:microsoft.com/office/officeart/2018/5/layout/CenteredIconLabelDescriptionList"/>
    <dgm:cxn modelId="{64038C5E-BC1B-4655-958C-D00828CD19C2}" type="presParOf" srcId="{F548E63F-B8AF-46BA-96A8-0A2D6C131C86}" destId="{E3A9DDD9-283E-4787-BB7F-26BC07D92777}" srcOrd="2" destOrd="0" presId="urn:microsoft.com/office/officeart/2018/5/layout/CenteredIconLabelDescriptionList"/>
    <dgm:cxn modelId="{2AC55B21-EAF7-4224-B8B0-6A86FF76DBEA}" type="presParOf" srcId="{E3A9DDD9-283E-4787-BB7F-26BC07D92777}" destId="{B8C249AF-761A-46EE-A5BE-C26687844E30}" srcOrd="0" destOrd="0" presId="urn:microsoft.com/office/officeart/2018/5/layout/CenteredIconLabelDescriptionList"/>
    <dgm:cxn modelId="{41F9B14E-8E06-4E18-A9E7-FAE5272D7192}" type="presParOf" srcId="{E3A9DDD9-283E-4787-BB7F-26BC07D92777}" destId="{00180011-7093-4392-9406-9841FEFB21BF}" srcOrd="1" destOrd="0" presId="urn:microsoft.com/office/officeart/2018/5/layout/CenteredIconLabelDescriptionList"/>
    <dgm:cxn modelId="{BAE569E1-D05F-4128-B4D0-FCF67268E753}" type="presParOf" srcId="{E3A9DDD9-283E-4787-BB7F-26BC07D92777}" destId="{F6E11A3A-0CC2-41BF-B2F3-56D4B59730A7}" srcOrd="2" destOrd="0" presId="urn:microsoft.com/office/officeart/2018/5/layout/CenteredIconLabelDescriptionList"/>
    <dgm:cxn modelId="{DDD10942-97F8-4E0B-A5E4-7B2002BB1A01}" type="presParOf" srcId="{E3A9DDD9-283E-4787-BB7F-26BC07D92777}" destId="{83F60976-FF21-4B01-A47A-CC3AFFF51B17}" srcOrd="3" destOrd="0" presId="urn:microsoft.com/office/officeart/2018/5/layout/CenteredIconLabelDescriptionList"/>
    <dgm:cxn modelId="{BB179F33-7618-4465-80F3-C4EFB6022AEC}" type="presParOf" srcId="{E3A9DDD9-283E-4787-BB7F-26BC07D92777}" destId="{ED34A138-D36B-4677-B15C-8BF7B1FDF5BF}" srcOrd="4" destOrd="0" presId="urn:microsoft.com/office/officeart/2018/5/layout/CenteredIconLabelDescriptionList"/>
    <dgm:cxn modelId="{4D62A4DB-99FE-4A5E-8326-94A287EDBC1C}" type="presParOf" srcId="{F548E63F-B8AF-46BA-96A8-0A2D6C131C86}" destId="{9F07A9CB-E128-425D-937D-72DC36604F4D}" srcOrd="3" destOrd="0" presId="urn:microsoft.com/office/officeart/2018/5/layout/CenteredIconLabelDescriptionList"/>
    <dgm:cxn modelId="{94D9449E-BB2B-483A-88E3-43DCD56124DE}" type="presParOf" srcId="{F548E63F-B8AF-46BA-96A8-0A2D6C131C86}" destId="{9F83207F-C326-4988-837B-9ACA23B37EAD}" srcOrd="4" destOrd="0" presId="urn:microsoft.com/office/officeart/2018/5/layout/CenteredIconLabelDescriptionList"/>
    <dgm:cxn modelId="{9C4C76D0-7AC3-4F9F-B55F-F4B467AF897A}" type="presParOf" srcId="{9F83207F-C326-4988-837B-9ACA23B37EAD}" destId="{BEE2692B-B21A-4FD1-B93C-D7EAF318D6CD}" srcOrd="0" destOrd="0" presId="urn:microsoft.com/office/officeart/2018/5/layout/CenteredIconLabelDescriptionList"/>
    <dgm:cxn modelId="{FEE04042-3E84-4AD7-A95E-442617B0B259}" type="presParOf" srcId="{9F83207F-C326-4988-837B-9ACA23B37EAD}" destId="{4997ED5E-8356-4B88-A264-AB7977965F34}" srcOrd="1" destOrd="0" presId="urn:microsoft.com/office/officeart/2018/5/layout/CenteredIconLabelDescriptionList"/>
    <dgm:cxn modelId="{C5235E85-23BE-4697-94AC-9FBAD02B0CDA}" type="presParOf" srcId="{9F83207F-C326-4988-837B-9ACA23B37EAD}" destId="{00545369-8424-40C3-80AB-D71257ADB97C}" srcOrd="2" destOrd="0" presId="urn:microsoft.com/office/officeart/2018/5/layout/CenteredIconLabelDescriptionList"/>
    <dgm:cxn modelId="{E7A44A3C-CB01-4971-B264-60D70E4A19BB}" type="presParOf" srcId="{9F83207F-C326-4988-837B-9ACA23B37EAD}" destId="{5B454848-E9FB-4F5D-A7B3-30EA1A5E4F05}" srcOrd="3" destOrd="0" presId="urn:microsoft.com/office/officeart/2018/5/layout/CenteredIconLabelDescriptionList"/>
    <dgm:cxn modelId="{4E4C881E-223F-4A07-9DD6-1987E59B09CB}" type="presParOf" srcId="{9F83207F-C326-4988-837B-9ACA23B37EAD}" destId="{3CE6899F-23B9-4937-B323-8FFDA33AE796}"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4F8F73-0ADC-4563-9D2C-7E5E8240643B}"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AE7FF324-95B7-47E6-99EA-2B470369A28D}">
      <dgm:prSet/>
      <dgm:spPr/>
      <dgm:t>
        <a:bodyPr/>
        <a:lstStyle/>
        <a:p>
          <a:r>
            <a:rPr lang="en-US" b="0" i="0" baseline="0" dirty="0"/>
            <a:t>Microservices allow organizations to build and scale complex applications faster, improve resilience, and enhance flexibility.</a:t>
          </a:r>
          <a:endParaRPr lang="en-US" dirty="0"/>
        </a:p>
      </dgm:t>
    </dgm:pt>
    <dgm:pt modelId="{3C4E782B-6510-44DB-800D-3576885F9E98}" type="parTrans" cxnId="{FF7703CF-91AE-496B-828E-630497F99186}">
      <dgm:prSet/>
      <dgm:spPr/>
      <dgm:t>
        <a:bodyPr/>
        <a:lstStyle/>
        <a:p>
          <a:endParaRPr lang="en-US"/>
        </a:p>
      </dgm:t>
    </dgm:pt>
    <dgm:pt modelId="{936CF9DF-43C3-4583-83F1-4192BD8AC50C}" type="sibTrans" cxnId="{FF7703CF-91AE-496B-828E-630497F99186}">
      <dgm:prSet/>
      <dgm:spPr/>
      <dgm:t>
        <a:bodyPr/>
        <a:lstStyle/>
        <a:p>
          <a:endParaRPr lang="en-US"/>
        </a:p>
      </dgm:t>
    </dgm:pt>
    <dgm:pt modelId="{8AAE8484-896E-4599-A15E-9B96678DD883}">
      <dgm:prSet/>
      <dgm:spPr/>
      <dgm:t>
        <a:bodyPr/>
        <a:lstStyle/>
        <a:p>
          <a:r>
            <a:rPr lang="en-US" b="0" i="0" baseline="0" dirty="0"/>
            <a:t>By breaking a monolithic application into smaller, more manageable parts, microservices enable continuous delivery, independent development, and deployment of services. </a:t>
          </a:r>
          <a:endParaRPr lang="en-US" dirty="0"/>
        </a:p>
      </dgm:t>
    </dgm:pt>
    <dgm:pt modelId="{E72682E4-A710-49A4-816C-667B696E7B45}" type="parTrans" cxnId="{3CE52601-2CC2-476C-8CCA-EE045FB723C6}">
      <dgm:prSet/>
      <dgm:spPr/>
      <dgm:t>
        <a:bodyPr/>
        <a:lstStyle/>
        <a:p>
          <a:endParaRPr lang="en-US"/>
        </a:p>
      </dgm:t>
    </dgm:pt>
    <dgm:pt modelId="{C7E821C9-356D-4E1A-90D1-5ADDCB9209F7}" type="sibTrans" cxnId="{3CE52601-2CC2-476C-8CCA-EE045FB723C6}">
      <dgm:prSet/>
      <dgm:spPr/>
      <dgm:t>
        <a:bodyPr/>
        <a:lstStyle/>
        <a:p>
          <a:endParaRPr lang="en-US"/>
        </a:p>
      </dgm:t>
    </dgm:pt>
    <dgm:pt modelId="{987879FB-426B-4BD1-8290-3847F4119007}" type="pres">
      <dgm:prSet presAssocID="{2C4F8F73-0ADC-4563-9D2C-7E5E8240643B}" presName="outerComposite" presStyleCnt="0">
        <dgm:presLayoutVars>
          <dgm:chMax val="5"/>
          <dgm:dir/>
          <dgm:resizeHandles val="exact"/>
        </dgm:presLayoutVars>
      </dgm:prSet>
      <dgm:spPr/>
    </dgm:pt>
    <dgm:pt modelId="{3A3D2288-A4FD-4D66-8A6F-70DD9A0688C2}" type="pres">
      <dgm:prSet presAssocID="{2C4F8F73-0ADC-4563-9D2C-7E5E8240643B}" presName="dummyMaxCanvas" presStyleCnt="0">
        <dgm:presLayoutVars/>
      </dgm:prSet>
      <dgm:spPr/>
    </dgm:pt>
    <dgm:pt modelId="{0D19157F-BB9C-4852-BB6A-2A85B133CEEA}" type="pres">
      <dgm:prSet presAssocID="{2C4F8F73-0ADC-4563-9D2C-7E5E8240643B}" presName="TwoNodes_1" presStyleLbl="node1" presStyleIdx="0" presStyleCnt="2">
        <dgm:presLayoutVars>
          <dgm:bulletEnabled val="1"/>
        </dgm:presLayoutVars>
      </dgm:prSet>
      <dgm:spPr/>
    </dgm:pt>
    <dgm:pt modelId="{CB6620B2-97B0-4A41-8235-0D13564ECE70}" type="pres">
      <dgm:prSet presAssocID="{2C4F8F73-0ADC-4563-9D2C-7E5E8240643B}" presName="TwoNodes_2" presStyleLbl="node1" presStyleIdx="1" presStyleCnt="2">
        <dgm:presLayoutVars>
          <dgm:bulletEnabled val="1"/>
        </dgm:presLayoutVars>
      </dgm:prSet>
      <dgm:spPr/>
    </dgm:pt>
    <dgm:pt modelId="{0F94016F-D0E0-4EB7-B8BB-214FA3391086}" type="pres">
      <dgm:prSet presAssocID="{2C4F8F73-0ADC-4563-9D2C-7E5E8240643B}" presName="TwoConn_1-2" presStyleLbl="fgAccFollowNode1" presStyleIdx="0" presStyleCnt="1">
        <dgm:presLayoutVars>
          <dgm:bulletEnabled val="1"/>
        </dgm:presLayoutVars>
      </dgm:prSet>
      <dgm:spPr/>
    </dgm:pt>
    <dgm:pt modelId="{29F75CE0-A6DF-4BB8-87FD-1CB9F4ADD63F}" type="pres">
      <dgm:prSet presAssocID="{2C4F8F73-0ADC-4563-9D2C-7E5E8240643B}" presName="TwoNodes_1_text" presStyleLbl="node1" presStyleIdx="1" presStyleCnt="2">
        <dgm:presLayoutVars>
          <dgm:bulletEnabled val="1"/>
        </dgm:presLayoutVars>
      </dgm:prSet>
      <dgm:spPr/>
    </dgm:pt>
    <dgm:pt modelId="{5DD68166-38F9-482B-925A-BFA58474797E}" type="pres">
      <dgm:prSet presAssocID="{2C4F8F73-0ADC-4563-9D2C-7E5E8240643B}" presName="TwoNodes_2_text" presStyleLbl="node1" presStyleIdx="1" presStyleCnt="2">
        <dgm:presLayoutVars>
          <dgm:bulletEnabled val="1"/>
        </dgm:presLayoutVars>
      </dgm:prSet>
      <dgm:spPr/>
    </dgm:pt>
  </dgm:ptLst>
  <dgm:cxnLst>
    <dgm:cxn modelId="{3CE52601-2CC2-476C-8CCA-EE045FB723C6}" srcId="{2C4F8F73-0ADC-4563-9D2C-7E5E8240643B}" destId="{8AAE8484-896E-4599-A15E-9B96678DD883}" srcOrd="1" destOrd="0" parTransId="{E72682E4-A710-49A4-816C-667B696E7B45}" sibTransId="{C7E821C9-356D-4E1A-90D1-5ADDCB9209F7}"/>
    <dgm:cxn modelId="{D0E4B404-BB31-487C-AADF-46F6CD23CB1D}" type="presOf" srcId="{AE7FF324-95B7-47E6-99EA-2B470369A28D}" destId="{0D19157F-BB9C-4852-BB6A-2A85B133CEEA}" srcOrd="0" destOrd="0" presId="urn:microsoft.com/office/officeart/2005/8/layout/vProcess5"/>
    <dgm:cxn modelId="{01867F05-8294-40F7-8C97-CB390ABBD598}" type="presOf" srcId="{8AAE8484-896E-4599-A15E-9B96678DD883}" destId="{CB6620B2-97B0-4A41-8235-0D13564ECE70}" srcOrd="0" destOrd="0" presId="urn:microsoft.com/office/officeart/2005/8/layout/vProcess5"/>
    <dgm:cxn modelId="{F03C5121-3A75-41D3-AB44-4F4ED81E7A5C}" type="presOf" srcId="{936CF9DF-43C3-4583-83F1-4192BD8AC50C}" destId="{0F94016F-D0E0-4EB7-B8BB-214FA3391086}" srcOrd="0" destOrd="0" presId="urn:microsoft.com/office/officeart/2005/8/layout/vProcess5"/>
    <dgm:cxn modelId="{FF7703CF-91AE-496B-828E-630497F99186}" srcId="{2C4F8F73-0ADC-4563-9D2C-7E5E8240643B}" destId="{AE7FF324-95B7-47E6-99EA-2B470369A28D}" srcOrd="0" destOrd="0" parTransId="{3C4E782B-6510-44DB-800D-3576885F9E98}" sibTransId="{936CF9DF-43C3-4583-83F1-4192BD8AC50C}"/>
    <dgm:cxn modelId="{122FBBF5-24FD-4BEC-ADEE-BBB7A4603944}" type="presOf" srcId="{8AAE8484-896E-4599-A15E-9B96678DD883}" destId="{5DD68166-38F9-482B-925A-BFA58474797E}" srcOrd="1" destOrd="0" presId="urn:microsoft.com/office/officeart/2005/8/layout/vProcess5"/>
    <dgm:cxn modelId="{946214F6-A0DE-4BFE-A1D6-80ECC1F7F6CF}" type="presOf" srcId="{AE7FF324-95B7-47E6-99EA-2B470369A28D}" destId="{29F75CE0-A6DF-4BB8-87FD-1CB9F4ADD63F}" srcOrd="1" destOrd="0" presId="urn:microsoft.com/office/officeart/2005/8/layout/vProcess5"/>
    <dgm:cxn modelId="{B10637FB-65CB-46D3-9F6D-ECEB4BF21B0B}" type="presOf" srcId="{2C4F8F73-0ADC-4563-9D2C-7E5E8240643B}" destId="{987879FB-426B-4BD1-8290-3847F4119007}" srcOrd="0" destOrd="0" presId="urn:microsoft.com/office/officeart/2005/8/layout/vProcess5"/>
    <dgm:cxn modelId="{1AF2B54A-82D1-4FA8-8607-0833F3486F88}" type="presParOf" srcId="{987879FB-426B-4BD1-8290-3847F4119007}" destId="{3A3D2288-A4FD-4D66-8A6F-70DD9A0688C2}" srcOrd="0" destOrd="0" presId="urn:microsoft.com/office/officeart/2005/8/layout/vProcess5"/>
    <dgm:cxn modelId="{A763D140-C224-479F-B9D8-3BF5DCF84695}" type="presParOf" srcId="{987879FB-426B-4BD1-8290-3847F4119007}" destId="{0D19157F-BB9C-4852-BB6A-2A85B133CEEA}" srcOrd="1" destOrd="0" presId="urn:microsoft.com/office/officeart/2005/8/layout/vProcess5"/>
    <dgm:cxn modelId="{8081567B-A879-48A5-BA57-0CC0EC5F8663}" type="presParOf" srcId="{987879FB-426B-4BD1-8290-3847F4119007}" destId="{CB6620B2-97B0-4A41-8235-0D13564ECE70}" srcOrd="2" destOrd="0" presId="urn:microsoft.com/office/officeart/2005/8/layout/vProcess5"/>
    <dgm:cxn modelId="{1FD15358-CB99-444A-996D-765581C235F1}" type="presParOf" srcId="{987879FB-426B-4BD1-8290-3847F4119007}" destId="{0F94016F-D0E0-4EB7-B8BB-214FA3391086}" srcOrd="3" destOrd="0" presId="urn:microsoft.com/office/officeart/2005/8/layout/vProcess5"/>
    <dgm:cxn modelId="{382153A6-8A1E-4019-99D8-D0EDEF2A0298}" type="presParOf" srcId="{987879FB-426B-4BD1-8290-3847F4119007}" destId="{29F75CE0-A6DF-4BB8-87FD-1CB9F4ADD63F}" srcOrd="4" destOrd="0" presId="urn:microsoft.com/office/officeart/2005/8/layout/vProcess5"/>
    <dgm:cxn modelId="{268C866F-636D-4690-9B8B-CC0E4FE48E84}" type="presParOf" srcId="{987879FB-426B-4BD1-8290-3847F4119007}" destId="{5DD68166-38F9-482B-925A-BFA58474797E}"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8AB1D8-E565-4A79-9ECA-D40C050D8F27}"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07B2910F-FA97-4819-980E-9147F5BF689A}">
      <dgm:prSet/>
      <dgm:spPr/>
      <dgm:t>
        <a:bodyPr/>
        <a:lstStyle/>
        <a:p>
          <a:pPr>
            <a:lnSpc>
              <a:spcPct val="100000"/>
            </a:lnSpc>
          </a:pPr>
          <a:r>
            <a:rPr lang="en-US" b="1" i="0" baseline="0" dirty="0"/>
            <a:t>Decentralized Governance</a:t>
          </a:r>
          <a:r>
            <a:rPr lang="en-US" b="0" i="0" baseline="0" dirty="0"/>
            <a:t>: Each microservice is developed and governed independently, enabling technology and process freedom.</a:t>
          </a:r>
          <a:endParaRPr lang="en-US" dirty="0"/>
        </a:p>
      </dgm:t>
    </dgm:pt>
    <dgm:pt modelId="{6664C640-8F66-4B69-ADEA-16D677BDC0DC}" type="parTrans" cxnId="{D53A2862-F51C-4B90-BBE2-5E28CF347C8C}">
      <dgm:prSet/>
      <dgm:spPr/>
      <dgm:t>
        <a:bodyPr/>
        <a:lstStyle/>
        <a:p>
          <a:endParaRPr lang="en-US"/>
        </a:p>
      </dgm:t>
    </dgm:pt>
    <dgm:pt modelId="{E933A024-43F4-4859-B6A4-1F95EDEA1688}" type="sibTrans" cxnId="{D53A2862-F51C-4B90-BBE2-5E28CF347C8C}">
      <dgm:prSet/>
      <dgm:spPr/>
      <dgm:t>
        <a:bodyPr/>
        <a:lstStyle/>
        <a:p>
          <a:endParaRPr lang="en-US"/>
        </a:p>
      </dgm:t>
    </dgm:pt>
    <dgm:pt modelId="{5D2691FB-FA6D-4C9D-9B96-875E002701A7}">
      <dgm:prSet/>
      <dgm:spPr/>
      <dgm:t>
        <a:bodyPr/>
        <a:lstStyle/>
        <a:p>
          <a:pPr>
            <a:lnSpc>
              <a:spcPct val="100000"/>
            </a:lnSpc>
          </a:pPr>
          <a:r>
            <a:rPr lang="en-US" b="1" i="0" baseline="0"/>
            <a:t>Scalability</a:t>
          </a:r>
          <a:r>
            <a:rPr lang="en-US" b="0" i="0" baseline="0"/>
            <a:t>: Microservices are scalable both vertically and horizontally, focusing on the demand of individual services.</a:t>
          </a:r>
          <a:endParaRPr lang="en-US"/>
        </a:p>
      </dgm:t>
    </dgm:pt>
    <dgm:pt modelId="{8E092CD3-9387-4E48-A202-F1FCAA1766BA}" type="parTrans" cxnId="{FDD5A9D9-5ACC-4D85-B655-F7518EF13017}">
      <dgm:prSet/>
      <dgm:spPr/>
      <dgm:t>
        <a:bodyPr/>
        <a:lstStyle/>
        <a:p>
          <a:endParaRPr lang="en-US"/>
        </a:p>
      </dgm:t>
    </dgm:pt>
    <dgm:pt modelId="{498171BE-FE24-49ED-BAFA-3972DC6C4EFF}" type="sibTrans" cxnId="{FDD5A9D9-5ACC-4D85-B655-F7518EF13017}">
      <dgm:prSet/>
      <dgm:spPr/>
      <dgm:t>
        <a:bodyPr/>
        <a:lstStyle/>
        <a:p>
          <a:endParaRPr lang="en-US"/>
        </a:p>
      </dgm:t>
    </dgm:pt>
    <dgm:pt modelId="{A0DCB2B2-DA3A-4045-8FA8-37622656E543}">
      <dgm:prSet/>
      <dgm:spPr/>
      <dgm:t>
        <a:bodyPr/>
        <a:lstStyle/>
        <a:p>
          <a:pPr>
            <a:lnSpc>
              <a:spcPct val="100000"/>
            </a:lnSpc>
          </a:pPr>
          <a:r>
            <a:rPr lang="en-US" b="1" i="0" baseline="0"/>
            <a:t>Fault Tolerance</a:t>
          </a:r>
          <a:r>
            <a:rPr lang="en-US" b="0" i="0" baseline="0"/>
            <a:t>: With microservices, failures in one service do not affect the entire system. Built-in resilience allows other services to continue functioning. </a:t>
          </a:r>
          <a:endParaRPr lang="en-US"/>
        </a:p>
      </dgm:t>
    </dgm:pt>
    <dgm:pt modelId="{8D62B145-69C4-4996-A8AF-3E6DE2460785}" type="parTrans" cxnId="{D10922A7-0281-4CC3-ACF1-E41CA272004B}">
      <dgm:prSet/>
      <dgm:spPr/>
      <dgm:t>
        <a:bodyPr/>
        <a:lstStyle/>
        <a:p>
          <a:endParaRPr lang="en-US"/>
        </a:p>
      </dgm:t>
    </dgm:pt>
    <dgm:pt modelId="{D4EA102F-2C6F-4D27-B035-FAB34257E936}" type="sibTrans" cxnId="{D10922A7-0281-4CC3-ACF1-E41CA272004B}">
      <dgm:prSet/>
      <dgm:spPr/>
      <dgm:t>
        <a:bodyPr/>
        <a:lstStyle/>
        <a:p>
          <a:endParaRPr lang="en-US"/>
        </a:p>
      </dgm:t>
    </dgm:pt>
    <dgm:pt modelId="{36E60725-D503-4136-A902-2DEAE06A151F}" type="pres">
      <dgm:prSet presAssocID="{9D8AB1D8-E565-4A79-9ECA-D40C050D8F27}" presName="root" presStyleCnt="0">
        <dgm:presLayoutVars>
          <dgm:dir/>
          <dgm:resizeHandles val="exact"/>
        </dgm:presLayoutVars>
      </dgm:prSet>
      <dgm:spPr/>
    </dgm:pt>
    <dgm:pt modelId="{FC44DFED-DFBC-4411-A1DC-DE36ED802A19}" type="pres">
      <dgm:prSet presAssocID="{07B2910F-FA97-4819-980E-9147F5BF689A}" presName="compNode" presStyleCnt="0"/>
      <dgm:spPr/>
    </dgm:pt>
    <dgm:pt modelId="{8F7F8F1D-76F2-41E8-837E-E743948B7021}" type="pres">
      <dgm:prSet presAssocID="{07B2910F-FA97-4819-980E-9147F5BF689A}" presName="bgRect" presStyleLbl="bgShp" presStyleIdx="0" presStyleCnt="3"/>
      <dgm:spPr/>
    </dgm:pt>
    <dgm:pt modelId="{A8DADB31-A43C-4D70-A208-83BF657C4760}" type="pres">
      <dgm:prSet presAssocID="{07B2910F-FA97-4819-980E-9147F5BF689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nching Diagram"/>
        </a:ext>
      </dgm:extLst>
    </dgm:pt>
    <dgm:pt modelId="{A36D1ABC-BEFB-46D7-8112-E1675BBE558F}" type="pres">
      <dgm:prSet presAssocID="{07B2910F-FA97-4819-980E-9147F5BF689A}" presName="spaceRect" presStyleCnt="0"/>
      <dgm:spPr/>
    </dgm:pt>
    <dgm:pt modelId="{90E8F32F-AFCB-44D8-9FD0-395F7029F4F5}" type="pres">
      <dgm:prSet presAssocID="{07B2910F-FA97-4819-980E-9147F5BF689A}" presName="parTx" presStyleLbl="revTx" presStyleIdx="0" presStyleCnt="3">
        <dgm:presLayoutVars>
          <dgm:chMax val="0"/>
          <dgm:chPref val="0"/>
        </dgm:presLayoutVars>
      </dgm:prSet>
      <dgm:spPr/>
    </dgm:pt>
    <dgm:pt modelId="{BF21573E-9572-42FF-A7A4-25BDAF0EDA79}" type="pres">
      <dgm:prSet presAssocID="{E933A024-43F4-4859-B6A4-1F95EDEA1688}" presName="sibTrans" presStyleCnt="0"/>
      <dgm:spPr/>
    </dgm:pt>
    <dgm:pt modelId="{62AEC194-CFC8-4996-9008-EFD6E5329E57}" type="pres">
      <dgm:prSet presAssocID="{5D2691FB-FA6D-4C9D-9B96-875E002701A7}" presName="compNode" presStyleCnt="0"/>
      <dgm:spPr/>
    </dgm:pt>
    <dgm:pt modelId="{8C3BC5AC-97DF-436E-A82B-CA7B25CD239C}" type="pres">
      <dgm:prSet presAssocID="{5D2691FB-FA6D-4C9D-9B96-875E002701A7}" presName="bgRect" presStyleLbl="bgShp" presStyleIdx="1" presStyleCnt="3"/>
      <dgm:spPr/>
    </dgm:pt>
    <dgm:pt modelId="{60181BCA-63B3-47D3-8CCB-0C5042DCC53F}" type="pres">
      <dgm:prSet presAssocID="{5D2691FB-FA6D-4C9D-9B96-875E002701A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ximize"/>
        </a:ext>
      </dgm:extLst>
    </dgm:pt>
    <dgm:pt modelId="{AE004077-CDA9-4C41-8B2C-AD61D71DA2A9}" type="pres">
      <dgm:prSet presAssocID="{5D2691FB-FA6D-4C9D-9B96-875E002701A7}" presName="spaceRect" presStyleCnt="0"/>
      <dgm:spPr/>
    </dgm:pt>
    <dgm:pt modelId="{3D40AA3D-E932-4ADC-A6A2-81F87B061A55}" type="pres">
      <dgm:prSet presAssocID="{5D2691FB-FA6D-4C9D-9B96-875E002701A7}" presName="parTx" presStyleLbl="revTx" presStyleIdx="1" presStyleCnt="3">
        <dgm:presLayoutVars>
          <dgm:chMax val="0"/>
          <dgm:chPref val="0"/>
        </dgm:presLayoutVars>
      </dgm:prSet>
      <dgm:spPr/>
    </dgm:pt>
    <dgm:pt modelId="{FE319435-07A3-4249-9CDA-B27ED26F73A6}" type="pres">
      <dgm:prSet presAssocID="{498171BE-FE24-49ED-BAFA-3972DC6C4EFF}" presName="sibTrans" presStyleCnt="0"/>
      <dgm:spPr/>
    </dgm:pt>
    <dgm:pt modelId="{4BEDD285-AD90-4C43-98EC-2461CCE6014E}" type="pres">
      <dgm:prSet presAssocID="{A0DCB2B2-DA3A-4045-8FA8-37622656E543}" presName="compNode" presStyleCnt="0"/>
      <dgm:spPr/>
    </dgm:pt>
    <dgm:pt modelId="{0F799A60-85D4-46A3-AAA3-3A4AF4FD3305}" type="pres">
      <dgm:prSet presAssocID="{A0DCB2B2-DA3A-4045-8FA8-37622656E543}" presName="bgRect" presStyleLbl="bgShp" presStyleIdx="2" presStyleCnt="3"/>
      <dgm:spPr/>
    </dgm:pt>
    <dgm:pt modelId="{36C7D4FE-E83D-40F6-BB21-57C58FB1A986}" type="pres">
      <dgm:prSet presAssocID="{A0DCB2B2-DA3A-4045-8FA8-37622656E54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DE4E9D27-D5A0-429F-AF66-C4B3429A14B0}" type="pres">
      <dgm:prSet presAssocID="{A0DCB2B2-DA3A-4045-8FA8-37622656E543}" presName="spaceRect" presStyleCnt="0"/>
      <dgm:spPr/>
    </dgm:pt>
    <dgm:pt modelId="{340394D5-55C7-4882-900E-12DDCD2C6AFD}" type="pres">
      <dgm:prSet presAssocID="{A0DCB2B2-DA3A-4045-8FA8-37622656E543}" presName="parTx" presStyleLbl="revTx" presStyleIdx="2" presStyleCnt="3">
        <dgm:presLayoutVars>
          <dgm:chMax val="0"/>
          <dgm:chPref val="0"/>
        </dgm:presLayoutVars>
      </dgm:prSet>
      <dgm:spPr/>
    </dgm:pt>
  </dgm:ptLst>
  <dgm:cxnLst>
    <dgm:cxn modelId="{93212B03-91C4-4385-8A90-2CC222B391C4}" type="presOf" srcId="{9D8AB1D8-E565-4A79-9ECA-D40C050D8F27}" destId="{36E60725-D503-4136-A902-2DEAE06A151F}" srcOrd="0" destOrd="0" presId="urn:microsoft.com/office/officeart/2018/2/layout/IconVerticalSolidList"/>
    <dgm:cxn modelId="{B80C2D3A-B384-4765-8A23-4DC5BFF0BF86}" type="presOf" srcId="{5D2691FB-FA6D-4C9D-9B96-875E002701A7}" destId="{3D40AA3D-E932-4ADC-A6A2-81F87B061A55}" srcOrd="0" destOrd="0" presId="urn:microsoft.com/office/officeart/2018/2/layout/IconVerticalSolidList"/>
    <dgm:cxn modelId="{89A1AC3B-D78E-4F4F-A942-C578EEFE2ACF}" type="presOf" srcId="{A0DCB2B2-DA3A-4045-8FA8-37622656E543}" destId="{340394D5-55C7-4882-900E-12DDCD2C6AFD}" srcOrd="0" destOrd="0" presId="urn:microsoft.com/office/officeart/2018/2/layout/IconVerticalSolidList"/>
    <dgm:cxn modelId="{D53A2862-F51C-4B90-BBE2-5E28CF347C8C}" srcId="{9D8AB1D8-E565-4A79-9ECA-D40C050D8F27}" destId="{07B2910F-FA97-4819-980E-9147F5BF689A}" srcOrd="0" destOrd="0" parTransId="{6664C640-8F66-4B69-ADEA-16D677BDC0DC}" sibTransId="{E933A024-43F4-4859-B6A4-1F95EDEA1688}"/>
    <dgm:cxn modelId="{C602CB57-1C7A-41A0-8436-E4F68D3475E0}" type="presOf" srcId="{07B2910F-FA97-4819-980E-9147F5BF689A}" destId="{90E8F32F-AFCB-44D8-9FD0-395F7029F4F5}" srcOrd="0" destOrd="0" presId="urn:microsoft.com/office/officeart/2018/2/layout/IconVerticalSolidList"/>
    <dgm:cxn modelId="{D10922A7-0281-4CC3-ACF1-E41CA272004B}" srcId="{9D8AB1D8-E565-4A79-9ECA-D40C050D8F27}" destId="{A0DCB2B2-DA3A-4045-8FA8-37622656E543}" srcOrd="2" destOrd="0" parTransId="{8D62B145-69C4-4996-A8AF-3E6DE2460785}" sibTransId="{D4EA102F-2C6F-4D27-B035-FAB34257E936}"/>
    <dgm:cxn modelId="{FDD5A9D9-5ACC-4D85-B655-F7518EF13017}" srcId="{9D8AB1D8-E565-4A79-9ECA-D40C050D8F27}" destId="{5D2691FB-FA6D-4C9D-9B96-875E002701A7}" srcOrd="1" destOrd="0" parTransId="{8E092CD3-9387-4E48-A202-F1FCAA1766BA}" sibTransId="{498171BE-FE24-49ED-BAFA-3972DC6C4EFF}"/>
    <dgm:cxn modelId="{74BC04BC-2C11-40D9-AECB-07B3496A1EC9}" type="presParOf" srcId="{36E60725-D503-4136-A902-2DEAE06A151F}" destId="{FC44DFED-DFBC-4411-A1DC-DE36ED802A19}" srcOrd="0" destOrd="0" presId="urn:microsoft.com/office/officeart/2018/2/layout/IconVerticalSolidList"/>
    <dgm:cxn modelId="{2FDC030B-7AAA-4BE8-AE23-953C6E3B8FD5}" type="presParOf" srcId="{FC44DFED-DFBC-4411-A1DC-DE36ED802A19}" destId="{8F7F8F1D-76F2-41E8-837E-E743948B7021}" srcOrd="0" destOrd="0" presId="urn:microsoft.com/office/officeart/2018/2/layout/IconVerticalSolidList"/>
    <dgm:cxn modelId="{43D42966-564B-47C1-9FE8-33BF25EB2009}" type="presParOf" srcId="{FC44DFED-DFBC-4411-A1DC-DE36ED802A19}" destId="{A8DADB31-A43C-4D70-A208-83BF657C4760}" srcOrd="1" destOrd="0" presId="urn:microsoft.com/office/officeart/2018/2/layout/IconVerticalSolidList"/>
    <dgm:cxn modelId="{1C896D7B-26A6-428C-933E-89F2800DFA3B}" type="presParOf" srcId="{FC44DFED-DFBC-4411-A1DC-DE36ED802A19}" destId="{A36D1ABC-BEFB-46D7-8112-E1675BBE558F}" srcOrd="2" destOrd="0" presId="urn:microsoft.com/office/officeart/2018/2/layout/IconVerticalSolidList"/>
    <dgm:cxn modelId="{7D59CC3F-A117-4D3A-A3CF-8FC4C48A37EE}" type="presParOf" srcId="{FC44DFED-DFBC-4411-A1DC-DE36ED802A19}" destId="{90E8F32F-AFCB-44D8-9FD0-395F7029F4F5}" srcOrd="3" destOrd="0" presId="urn:microsoft.com/office/officeart/2018/2/layout/IconVerticalSolidList"/>
    <dgm:cxn modelId="{E0ED7514-E29C-4936-97FD-6F3AEED80C96}" type="presParOf" srcId="{36E60725-D503-4136-A902-2DEAE06A151F}" destId="{BF21573E-9572-42FF-A7A4-25BDAF0EDA79}" srcOrd="1" destOrd="0" presId="urn:microsoft.com/office/officeart/2018/2/layout/IconVerticalSolidList"/>
    <dgm:cxn modelId="{D9211359-F2ED-4218-A09D-B0E3C152A773}" type="presParOf" srcId="{36E60725-D503-4136-A902-2DEAE06A151F}" destId="{62AEC194-CFC8-4996-9008-EFD6E5329E57}" srcOrd="2" destOrd="0" presId="urn:microsoft.com/office/officeart/2018/2/layout/IconVerticalSolidList"/>
    <dgm:cxn modelId="{C4C82A6F-7EF3-4962-A840-7A9F40E85B7F}" type="presParOf" srcId="{62AEC194-CFC8-4996-9008-EFD6E5329E57}" destId="{8C3BC5AC-97DF-436E-A82B-CA7B25CD239C}" srcOrd="0" destOrd="0" presId="urn:microsoft.com/office/officeart/2018/2/layout/IconVerticalSolidList"/>
    <dgm:cxn modelId="{7FA29027-C3BA-40E6-9D2B-ED0B76E80C53}" type="presParOf" srcId="{62AEC194-CFC8-4996-9008-EFD6E5329E57}" destId="{60181BCA-63B3-47D3-8CCB-0C5042DCC53F}" srcOrd="1" destOrd="0" presId="urn:microsoft.com/office/officeart/2018/2/layout/IconVerticalSolidList"/>
    <dgm:cxn modelId="{BF6DB99A-C3A1-4C48-A9CC-C47564B52752}" type="presParOf" srcId="{62AEC194-CFC8-4996-9008-EFD6E5329E57}" destId="{AE004077-CDA9-4C41-8B2C-AD61D71DA2A9}" srcOrd="2" destOrd="0" presId="urn:microsoft.com/office/officeart/2018/2/layout/IconVerticalSolidList"/>
    <dgm:cxn modelId="{E0A14349-A37A-4C6B-BEC0-50BA219405D3}" type="presParOf" srcId="{62AEC194-CFC8-4996-9008-EFD6E5329E57}" destId="{3D40AA3D-E932-4ADC-A6A2-81F87B061A55}" srcOrd="3" destOrd="0" presId="urn:microsoft.com/office/officeart/2018/2/layout/IconVerticalSolidList"/>
    <dgm:cxn modelId="{3CD014B9-9113-4AFF-8CF4-D025DC33450E}" type="presParOf" srcId="{36E60725-D503-4136-A902-2DEAE06A151F}" destId="{FE319435-07A3-4249-9CDA-B27ED26F73A6}" srcOrd="3" destOrd="0" presId="urn:microsoft.com/office/officeart/2018/2/layout/IconVerticalSolidList"/>
    <dgm:cxn modelId="{CC34E1CA-FA1B-4583-A46D-D4DCC1798BB2}" type="presParOf" srcId="{36E60725-D503-4136-A902-2DEAE06A151F}" destId="{4BEDD285-AD90-4C43-98EC-2461CCE6014E}" srcOrd="4" destOrd="0" presId="urn:microsoft.com/office/officeart/2018/2/layout/IconVerticalSolidList"/>
    <dgm:cxn modelId="{2714F642-A2D2-4441-A993-0C84FACD3898}" type="presParOf" srcId="{4BEDD285-AD90-4C43-98EC-2461CCE6014E}" destId="{0F799A60-85D4-46A3-AAA3-3A4AF4FD3305}" srcOrd="0" destOrd="0" presId="urn:microsoft.com/office/officeart/2018/2/layout/IconVerticalSolidList"/>
    <dgm:cxn modelId="{655AAED6-7ED9-4411-803D-5390B3FC05D8}" type="presParOf" srcId="{4BEDD285-AD90-4C43-98EC-2461CCE6014E}" destId="{36C7D4FE-E83D-40F6-BB21-57C58FB1A986}" srcOrd="1" destOrd="0" presId="urn:microsoft.com/office/officeart/2018/2/layout/IconVerticalSolidList"/>
    <dgm:cxn modelId="{1BEAA951-F65E-4B2D-A0D7-52044B8F63C9}" type="presParOf" srcId="{4BEDD285-AD90-4C43-98EC-2461CCE6014E}" destId="{DE4E9D27-D5A0-429F-AF66-C4B3429A14B0}" srcOrd="2" destOrd="0" presId="urn:microsoft.com/office/officeart/2018/2/layout/IconVerticalSolidList"/>
    <dgm:cxn modelId="{B302B09C-055B-4639-9902-29E01D27742A}" type="presParOf" srcId="{4BEDD285-AD90-4C43-98EC-2461CCE6014E}" destId="{340394D5-55C7-4882-900E-12DDCD2C6AF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8AC31A3-3BB3-431E-99BE-F40F0488210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CF7B91B-5995-4141-A2F5-A9D933ED2F2C}">
      <dgm:prSet/>
      <dgm:spPr/>
      <dgm:t>
        <a:bodyPr/>
        <a:lstStyle/>
        <a:p>
          <a:pPr>
            <a:lnSpc>
              <a:spcPct val="100000"/>
            </a:lnSpc>
          </a:pPr>
          <a:r>
            <a:rPr lang="en-US" b="1" dirty="0"/>
            <a:t>Why </a:t>
          </a:r>
          <a:r>
            <a:rPr lang="en-US" dirty="0"/>
            <a:t>: Allows for innovation and agility as different teams use different stacks.</a:t>
          </a:r>
        </a:p>
      </dgm:t>
    </dgm:pt>
    <dgm:pt modelId="{A76B463C-41C0-425B-BF70-47ADAAAF5AA8}" type="parTrans" cxnId="{6B344497-1DFB-44A0-AC67-FC3AF920C832}">
      <dgm:prSet/>
      <dgm:spPr/>
      <dgm:t>
        <a:bodyPr/>
        <a:lstStyle/>
        <a:p>
          <a:endParaRPr lang="en-US"/>
        </a:p>
      </dgm:t>
    </dgm:pt>
    <dgm:pt modelId="{54951031-BBB7-4157-9A8F-A2D6C0E40079}" type="sibTrans" cxnId="{6B344497-1DFB-44A0-AC67-FC3AF920C832}">
      <dgm:prSet/>
      <dgm:spPr/>
      <dgm:t>
        <a:bodyPr/>
        <a:lstStyle/>
        <a:p>
          <a:pPr>
            <a:lnSpc>
              <a:spcPct val="100000"/>
            </a:lnSpc>
          </a:pPr>
          <a:endParaRPr lang="en-US"/>
        </a:p>
      </dgm:t>
    </dgm:pt>
    <dgm:pt modelId="{3DA2D8A8-2201-4461-962E-5CEE8590EF7E}">
      <dgm:prSet/>
      <dgm:spPr/>
      <dgm:t>
        <a:bodyPr/>
        <a:lstStyle/>
        <a:p>
          <a:pPr>
            <a:lnSpc>
              <a:spcPct val="100000"/>
            </a:lnSpc>
          </a:pPr>
          <a:r>
            <a:rPr lang="en-US" b="1" dirty="0"/>
            <a:t>How</a:t>
          </a:r>
          <a:r>
            <a:rPr lang="en-US" dirty="0"/>
            <a:t>: Independent teams deploy different microservices governed by their requirements. </a:t>
          </a:r>
        </a:p>
      </dgm:t>
    </dgm:pt>
    <dgm:pt modelId="{02B1E119-6C46-43FA-A8AA-3831CB85D9FA}" type="parTrans" cxnId="{D6C32C51-87CF-41C2-B591-7B9B6EA2111A}">
      <dgm:prSet/>
      <dgm:spPr/>
      <dgm:t>
        <a:bodyPr/>
        <a:lstStyle/>
        <a:p>
          <a:endParaRPr lang="en-US"/>
        </a:p>
      </dgm:t>
    </dgm:pt>
    <dgm:pt modelId="{93F62CE0-31B0-4640-BB97-936051167A19}" type="sibTrans" cxnId="{D6C32C51-87CF-41C2-B591-7B9B6EA2111A}">
      <dgm:prSet/>
      <dgm:spPr/>
      <dgm:t>
        <a:bodyPr/>
        <a:lstStyle/>
        <a:p>
          <a:endParaRPr lang="en-US"/>
        </a:p>
      </dgm:t>
    </dgm:pt>
    <dgm:pt modelId="{36C5F931-0E42-419B-9E49-69E9C289F417}" type="pres">
      <dgm:prSet presAssocID="{B8AC31A3-3BB3-431E-99BE-F40F04882106}" presName="root" presStyleCnt="0">
        <dgm:presLayoutVars>
          <dgm:dir/>
          <dgm:resizeHandles val="exact"/>
        </dgm:presLayoutVars>
      </dgm:prSet>
      <dgm:spPr/>
    </dgm:pt>
    <dgm:pt modelId="{1179673F-C366-4AEF-A956-1F69F915D3A4}" type="pres">
      <dgm:prSet presAssocID="{B8AC31A3-3BB3-431E-99BE-F40F04882106}" presName="container" presStyleCnt="0">
        <dgm:presLayoutVars>
          <dgm:dir/>
          <dgm:resizeHandles val="exact"/>
        </dgm:presLayoutVars>
      </dgm:prSet>
      <dgm:spPr/>
    </dgm:pt>
    <dgm:pt modelId="{2A30489A-0FF8-4F93-9146-4433082CCEB4}" type="pres">
      <dgm:prSet presAssocID="{7CF7B91B-5995-4141-A2F5-A9D933ED2F2C}" presName="compNode" presStyleCnt="0"/>
      <dgm:spPr/>
    </dgm:pt>
    <dgm:pt modelId="{5B0F2602-2278-41BD-B9B5-113277278B02}" type="pres">
      <dgm:prSet presAssocID="{7CF7B91B-5995-4141-A2F5-A9D933ED2F2C}" presName="iconBgRect" presStyleLbl="bgShp" presStyleIdx="0" presStyleCnt="2"/>
      <dgm:spPr/>
    </dgm:pt>
    <dgm:pt modelId="{59F07BA1-7B72-4596-92FF-74F69A602707}" type="pres">
      <dgm:prSet presAssocID="{7CF7B91B-5995-4141-A2F5-A9D933ED2F2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7F3F91CF-54B8-4332-87D1-20521AA8FA41}" type="pres">
      <dgm:prSet presAssocID="{7CF7B91B-5995-4141-A2F5-A9D933ED2F2C}" presName="spaceRect" presStyleCnt="0"/>
      <dgm:spPr/>
    </dgm:pt>
    <dgm:pt modelId="{3B1B67A2-D252-40FF-B057-EDE31EFD9D52}" type="pres">
      <dgm:prSet presAssocID="{7CF7B91B-5995-4141-A2F5-A9D933ED2F2C}" presName="textRect" presStyleLbl="revTx" presStyleIdx="0" presStyleCnt="2">
        <dgm:presLayoutVars>
          <dgm:chMax val="1"/>
          <dgm:chPref val="1"/>
        </dgm:presLayoutVars>
      </dgm:prSet>
      <dgm:spPr/>
    </dgm:pt>
    <dgm:pt modelId="{82A70288-9FCA-4649-9629-A20B9B1C0B94}" type="pres">
      <dgm:prSet presAssocID="{54951031-BBB7-4157-9A8F-A2D6C0E40079}" presName="sibTrans" presStyleLbl="sibTrans2D1" presStyleIdx="0" presStyleCnt="0"/>
      <dgm:spPr/>
    </dgm:pt>
    <dgm:pt modelId="{6D455F4B-DC15-4AFD-8DB1-AA49ABFC7BD3}" type="pres">
      <dgm:prSet presAssocID="{3DA2D8A8-2201-4461-962E-5CEE8590EF7E}" presName="compNode" presStyleCnt="0"/>
      <dgm:spPr/>
    </dgm:pt>
    <dgm:pt modelId="{105A5319-3FAD-470C-945D-E9E124FD814B}" type="pres">
      <dgm:prSet presAssocID="{3DA2D8A8-2201-4461-962E-5CEE8590EF7E}" presName="iconBgRect" presStyleLbl="bgShp" presStyleIdx="1" presStyleCnt="2"/>
      <dgm:spPr/>
    </dgm:pt>
    <dgm:pt modelId="{4B837D6D-3B5F-49D4-B107-A8CBC0865A5E}" type="pres">
      <dgm:prSet presAssocID="{3DA2D8A8-2201-4461-962E-5CEE8590EF7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s"/>
        </a:ext>
      </dgm:extLst>
    </dgm:pt>
    <dgm:pt modelId="{3658C6CA-F353-41C3-B24D-46091BB66B03}" type="pres">
      <dgm:prSet presAssocID="{3DA2D8A8-2201-4461-962E-5CEE8590EF7E}" presName="spaceRect" presStyleCnt="0"/>
      <dgm:spPr/>
    </dgm:pt>
    <dgm:pt modelId="{E979D0A0-C1AE-4575-9627-6C3254A00A06}" type="pres">
      <dgm:prSet presAssocID="{3DA2D8A8-2201-4461-962E-5CEE8590EF7E}" presName="textRect" presStyleLbl="revTx" presStyleIdx="1" presStyleCnt="2">
        <dgm:presLayoutVars>
          <dgm:chMax val="1"/>
          <dgm:chPref val="1"/>
        </dgm:presLayoutVars>
      </dgm:prSet>
      <dgm:spPr/>
    </dgm:pt>
  </dgm:ptLst>
  <dgm:cxnLst>
    <dgm:cxn modelId="{81CD5264-55C3-46A9-8678-9AC4B4F51154}" type="presOf" srcId="{B8AC31A3-3BB3-431E-99BE-F40F04882106}" destId="{36C5F931-0E42-419B-9E49-69E9C289F417}" srcOrd="0" destOrd="0" presId="urn:microsoft.com/office/officeart/2018/2/layout/IconCircleList"/>
    <dgm:cxn modelId="{FE5CCF49-6F1F-40B3-BE7C-E99B364D0744}" type="presOf" srcId="{54951031-BBB7-4157-9A8F-A2D6C0E40079}" destId="{82A70288-9FCA-4649-9629-A20B9B1C0B94}" srcOrd="0" destOrd="0" presId="urn:microsoft.com/office/officeart/2018/2/layout/IconCircleList"/>
    <dgm:cxn modelId="{D6C32C51-87CF-41C2-B591-7B9B6EA2111A}" srcId="{B8AC31A3-3BB3-431E-99BE-F40F04882106}" destId="{3DA2D8A8-2201-4461-962E-5CEE8590EF7E}" srcOrd="1" destOrd="0" parTransId="{02B1E119-6C46-43FA-A8AA-3831CB85D9FA}" sibTransId="{93F62CE0-31B0-4640-BB97-936051167A19}"/>
    <dgm:cxn modelId="{6B344497-1DFB-44A0-AC67-FC3AF920C832}" srcId="{B8AC31A3-3BB3-431E-99BE-F40F04882106}" destId="{7CF7B91B-5995-4141-A2F5-A9D933ED2F2C}" srcOrd="0" destOrd="0" parTransId="{A76B463C-41C0-425B-BF70-47ADAAAF5AA8}" sibTransId="{54951031-BBB7-4157-9A8F-A2D6C0E40079}"/>
    <dgm:cxn modelId="{E7C083CE-23E3-4A23-9B20-0F83E0DDDAC5}" type="presOf" srcId="{3DA2D8A8-2201-4461-962E-5CEE8590EF7E}" destId="{E979D0A0-C1AE-4575-9627-6C3254A00A06}" srcOrd="0" destOrd="0" presId="urn:microsoft.com/office/officeart/2018/2/layout/IconCircleList"/>
    <dgm:cxn modelId="{DDF045F0-CECD-41B5-9816-53B064272469}" type="presOf" srcId="{7CF7B91B-5995-4141-A2F5-A9D933ED2F2C}" destId="{3B1B67A2-D252-40FF-B057-EDE31EFD9D52}" srcOrd="0" destOrd="0" presId="urn:microsoft.com/office/officeart/2018/2/layout/IconCircleList"/>
    <dgm:cxn modelId="{E5232F47-DC7C-4608-85DA-9D0AA1C67567}" type="presParOf" srcId="{36C5F931-0E42-419B-9E49-69E9C289F417}" destId="{1179673F-C366-4AEF-A956-1F69F915D3A4}" srcOrd="0" destOrd="0" presId="urn:microsoft.com/office/officeart/2018/2/layout/IconCircleList"/>
    <dgm:cxn modelId="{A0B44626-629A-4556-90A8-D5B2E82A9E9A}" type="presParOf" srcId="{1179673F-C366-4AEF-A956-1F69F915D3A4}" destId="{2A30489A-0FF8-4F93-9146-4433082CCEB4}" srcOrd="0" destOrd="0" presId="urn:microsoft.com/office/officeart/2018/2/layout/IconCircleList"/>
    <dgm:cxn modelId="{5FFD55F7-51C8-461B-98DA-86A73264F1D7}" type="presParOf" srcId="{2A30489A-0FF8-4F93-9146-4433082CCEB4}" destId="{5B0F2602-2278-41BD-B9B5-113277278B02}" srcOrd="0" destOrd="0" presId="urn:microsoft.com/office/officeart/2018/2/layout/IconCircleList"/>
    <dgm:cxn modelId="{60B11E58-8C1D-4AF5-8B3E-F28AFC50F4DB}" type="presParOf" srcId="{2A30489A-0FF8-4F93-9146-4433082CCEB4}" destId="{59F07BA1-7B72-4596-92FF-74F69A602707}" srcOrd="1" destOrd="0" presId="urn:microsoft.com/office/officeart/2018/2/layout/IconCircleList"/>
    <dgm:cxn modelId="{78E8DB3F-58D6-48AE-B50C-17E41C3C270B}" type="presParOf" srcId="{2A30489A-0FF8-4F93-9146-4433082CCEB4}" destId="{7F3F91CF-54B8-4332-87D1-20521AA8FA41}" srcOrd="2" destOrd="0" presId="urn:microsoft.com/office/officeart/2018/2/layout/IconCircleList"/>
    <dgm:cxn modelId="{64EC89A3-ECC1-40FA-B00A-C0910ABC6604}" type="presParOf" srcId="{2A30489A-0FF8-4F93-9146-4433082CCEB4}" destId="{3B1B67A2-D252-40FF-B057-EDE31EFD9D52}" srcOrd="3" destOrd="0" presId="urn:microsoft.com/office/officeart/2018/2/layout/IconCircleList"/>
    <dgm:cxn modelId="{6C39555A-4EEF-47B7-8843-6EFF77C16458}" type="presParOf" srcId="{1179673F-C366-4AEF-A956-1F69F915D3A4}" destId="{82A70288-9FCA-4649-9629-A20B9B1C0B94}" srcOrd="1" destOrd="0" presId="urn:microsoft.com/office/officeart/2018/2/layout/IconCircleList"/>
    <dgm:cxn modelId="{FCB6FF4D-AAEE-4C42-93CC-62784EDDA42C}" type="presParOf" srcId="{1179673F-C366-4AEF-A956-1F69F915D3A4}" destId="{6D455F4B-DC15-4AFD-8DB1-AA49ABFC7BD3}" srcOrd="2" destOrd="0" presId="urn:microsoft.com/office/officeart/2018/2/layout/IconCircleList"/>
    <dgm:cxn modelId="{BC09872D-8DE2-46B5-918A-9A25CD8BBE97}" type="presParOf" srcId="{6D455F4B-DC15-4AFD-8DB1-AA49ABFC7BD3}" destId="{105A5319-3FAD-470C-945D-E9E124FD814B}" srcOrd="0" destOrd="0" presId="urn:microsoft.com/office/officeart/2018/2/layout/IconCircleList"/>
    <dgm:cxn modelId="{735FBF63-5518-469B-A463-B7DF7DD896B9}" type="presParOf" srcId="{6D455F4B-DC15-4AFD-8DB1-AA49ABFC7BD3}" destId="{4B837D6D-3B5F-49D4-B107-A8CBC0865A5E}" srcOrd="1" destOrd="0" presId="urn:microsoft.com/office/officeart/2018/2/layout/IconCircleList"/>
    <dgm:cxn modelId="{77459DC2-266C-4813-9441-720F8F425FEE}" type="presParOf" srcId="{6D455F4B-DC15-4AFD-8DB1-AA49ABFC7BD3}" destId="{3658C6CA-F353-41C3-B24D-46091BB66B03}" srcOrd="2" destOrd="0" presId="urn:microsoft.com/office/officeart/2018/2/layout/IconCircleList"/>
    <dgm:cxn modelId="{BE62B3B2-0C0C-46EB-882A-1FF8E3723DAA}" type="presParOf" srcId="{6D455F4B-DC15-4AFD-8DB1-AA49ABFC7BD3}" destId="{E979D0A0-C1AE-4575-9627-6C3254A00A0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8AC31A3-3BB3-431E-99BE-F40F0488210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CF7B91B-5995-4141-A2F5-A9D933ED2F2C}">
      <dgm:prSet custT="1"/>
      <dgm:spPr/>
      <dgm:t>
        <a:bodyPr/>
        <a:lstStyle/>
        <a:p>
          <a:pPr>
            <a:lnSpc>
              <a:spcPct val="100000"/>
            </a:lnSpc>
          </a:pPr>
          <a:r>
            <a:rPr lang="en-US" sz="1900" b="1" kern="1200" dirty="0"/>
            <a:t>Why </a:t>
          </a:r>
          <a:r>
            <a:rPr lang="en-US" sz="1900" kern="1200" dirty="0"/>
            <a:t>: </a:t>
          </a:r>
          <a:r>
            <a:rPr lang="en-US" altLang="en-US" sz="1800" kern="1200" dirty="0">
              <a:solidFill>
                <a:prstClr val="black">
                  <a:hueOff val="0"/>
                  <a:satOff val="0"/>
                  <a:lumOff val="0"/>
                  <a:alphaOff val="0"/>
                </a:prstClr>
              </a:solidFill>
              <a:latin typeface="Aptos" panose="02110004020202020204"/>
              <a:ea typeface="+mn-ea"/>
              <a:cs typeface="+mn-cs"/>
            </a:rPr>
            <a:t>Scale individual services based on traffic or usage</a:t>
          </a:r>
          <a:r>
            <a:rPr lang="en-US" sz="1800" kern="1200" dirty="0">
              <a:solidFill>
                <a:prstClr val="black">
                  <a:hueOff val="0"/>
                  <a:satOff val="0"/>
                  <a:lumOff val="0"/>
                  <a:alphaOff val="0"/>
                </a:prstClr>
              </a:solidFill>
              <a:latin typeface="Aptos" panose="02110004020202020204"/>
              <a:ea typeface="+mn-ea"/>
              <a:cs typeface="+mn-cs"/>
            </a:rPr>
            <a:t>.</a:t>
          </a:r>
        </a:p>
      </dgm:t>
    </dgm:pt>
    <dgm:pt modelId="{A76B463C-41C0-425B-BF70-47ADAAAF5AA8}" type="parTrans" cxnId="{6B344497-1DFB-44A0-AC67-FC3AF920C832}">
      <dgm:prSet/>
      <dgm:spPr/>
      <dgm:t>
        <a:bodyPr/>
        <a:lstStyle/>
        <a:p>
          <a:endParaRPr lang="en-US"/>
        </a:p>
      </dgm:t>
    </dgm:pt>
    <dgm:pt modelId="{54951031-BBB7-4157-9A8F-A2D6C0E40079}" type="sibTrans" cxnId="{6B344497-1DFB-44A0-AC67-FC3AF920C832}">
      <dgm:prSet/>
      <dgm:spPr/>
      <dgm:t>
        <a:bodyPr/>
        <a:lstStyle/>
        <a:p>
          <a:pPr>
            <a:lnSpc>
              <a:spcPct val="100000"/>
            </a:lnSpc>
          </a:pPr>
          <a:endParaRPr lang="en-US"/>
        </a:p>
      </dgm:t>
    </dgm:pt>
    <dgm:pt modelId="{3DA2D8A8-2201-4461-962E-5CEE8590EF7E}">
      <dgm:prSet custT="1"/>
      <dgm:spPr/>
      <dgm:t>
        <a:bodyPr/>
        <a:lstStyle/>
        <a:p>
          <a:pPr>
            <a:lnSpc>
              <a:spcPct val="100000"/>
            </a:lnSpc>
          </a:pPr>
          <a:r>
            <a:rPr lang="en-US" sz="1900" b="1" kern="1200" dirty="0"/>
            <a:t>How</a:t>
          </a:r>
          <a:r>
            <a:rPr lang="en-US" sz="1900" kern="1200" dirty="0"/>
            <a:t>: </a:t>
          </a:r>
          <a:r>
            <a:rPr lang="en-US" altLang="en-US" sz="1800" kern="1200" dirty="0">
              <a:solidFill>
                <a:prstClr val="black">
                  <a:hueOff val="0"/>
                  <a:satOff val="0"/>
                  <a:lumOff val="0"/>
                  <a:alphaOff val="0"/>
                </a:prstClr>
              </a:solidFill>
              <a:latin typeface="Aptos" panose="02110004020202020204"/>
              <a:ea typeface="+mn-ea"/>
              <a:cs typeface="+mn-cs"/>
            </a:rPr>
            <a:t>Horizontal scaling of stateless services or vertical scaling of stateful ones.</a:t>
          </a:r>
          <a:endParaRPr lang="en-US" sz="1800" kern="1200" dirty="0">
            <a:solidFill>
              <a:prstClr val="black">
                <a:hueOff val="0"/>
                <a:satOff val="0"/>
                <a:lumOff val="0"/>
                <a:alphaOff val="0"/>
              </a:prstClr>
            </a:solidFill>
            <a:latin typeface="Aptos" panose="02110004020202020204"/>
            <a:ea typeface="+mn-ea"/>
            <a:cs typeface="+mn-cs"/>
          </a:endParaRPr>
        </a:p>
      </dgm:t>
    </dgm:pt>
    <dgm:pt modelId="{02B1E119-6C46-43FA-A8AA-3831CB85D9FA}" type="parTrans" cxnId="{D6C32C51-87CF-41C2-B591-7B9B6EA2111A}">
      <dgm:prSet/>
      <dgm:spPr/>
      <dgm:t>
        <a:bodyPr/>
        <a:lstStyle/>
        <a:p>
          <a:endParaRPr lang="en-US"/>
        </a:p>
      </dgm:t>
    </dgm:pt>
    <dgm:pt modelId="{93F62CE0-31B0-4640-BB97-936051167A19}" type="sibTrans" cxnId="{D6C32C51-87CF-41C2-B591-7B9B6EA2111A}">
      <dgm:prSet/>
      <dgm:spPr/>
      <dgm:t>
        <a:bodyPr/>
        <a:lstStyle/>
        <a:p>
          <a:endParaRPr lang="en-US"/>
        </a:p>
      </dgm:t>
    </dgm:pt>
    <dgm:pt modelId="{36C5F931-0E42-419B-9E49-69E9C289F417}" type="pres">
      <dgm:prSet presAssocID="{B8AC31A3-3BB3-431E-99BE-F40F04882106}" presName="root" presStyleCnt="0">
        <dgm:presLayoutVars>
          <dgm:dir/>
          <dgm:resizeHandles val="exact"/>
        </dgm:presLayoutVars>
      </dgm:prSet>
      <dgm:spPr/>
    </dgm:pt>
    <dgm:pt modelId="{1179673F-C366-4AEF-A956-1F69F915D3A4}" type="pres">
      <dgm:prSet presAssocID="{B8AC31A3-3BB3-431E-99BE-F40F04882106}" presName="container" presStyleCnt="0">
        <dgm:presLayoutVars>
          <dgm:dir/>
          <dgm:resizeHandles val="exact"/>
        </dgm:presLayoutVars>
      </dgm:prSet>
      <dgm:spPr/>
    </dgm:pt>
    <dgm:pt modelId="{2A30489A-0FF8-4F93-9146-4433082CCEB4}" type="pres">
      <dgm:prSet presAssocID="{7CF7B91B-5995-4141-A2F5-A9D933ED2F2C}" presName="compNode" presStyleCnt="0"/>
      <dgm:spPr/>
    </dgm:pt>
    <dgm:pt modelId="{5B0F2602-2278-41BD-B9B5-113277278B02}" type="pres">
      <dgm:prSet presAssocID="{7CF7B91B-5995-4141-A2F5-A9D933ED2F2C}" presName="iconBgRect" presStyleLbl="bgShp" presStyleIdx="0" presStyleCnt="2"/>
      <dgm:spPr/>
    </dgm:pt>
    <dgm:pt modelId="{59F07BA1-7B72-4596-92FF-74F69A602707}" type="pres">
      <dgm:prSet presAssocID="{7CF7B91B-5995-4141-A2F5-A9D933ED2F2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7F3F91CF-54B8-4332-87D1-20521AA8FA41}" type="pres">
      <dgm:prSet presAssocID="{7CF7B91B-5995-4141-A2F5-A9D933ED2F2C}" presName="spaceRect" presStyleCnt="0"/>
      <dgm:spPr/>
    </dgm:pt>
    <dgm:pt modelId="{3B1B67A2-D252-40FF-B057-EDE31EFD9D52}" type="pres">
      <dgm:prSet presAssocID="{7CF7B91B-5995-4141-A2F5-A9D933ED2F2C}" presName="textRect" presStyleLbl="revTx" presStyleIdx="0" presStyleCnt="2">
        <dgm:presLayoutVars>
          <dgm:chMax val="1"/>
          <dgm:chPref val="1"/>
        </dgm:presLayoutVars>
      </dgm:prSet>
      <dgm:spPr/>
    </dgm:pt>
    <dgm:pt modelId="{82A70288-9FCA-4649-9629-A20B9B1C0B94}" type="pres">
      <dgm:prSet presAssocID="{54951031-BBB7-4157-9A8F-A2D6C0E40079}" presName="sibTrans" presStyleLbl="sibTrans2D1" presStyleIdx="0" presStyleCnt="0"/>
      <dgm:spPr/>
    </dgm:pt>
    <dgm:pt modelId="{6D455F4B-DC15-4AFD-8DB1-AA49ABFC7BD3}" type="pres">
      <dgm:prSet presAssocID="{3DA2D8A8-2201-4461-962E-5CEE8590EF7E}" presName="compNode" presStyleCnt="0"/>
      <dgm:spPr/>
    </dgm:pt>
    <dgm:pt modelId="{105A5319-3FAD-470C-945D-E9E124FD814B}" type="pres">
      <dgm:prSet presAssocID="{3DA2D8A8-2201-4461-962E-5CEE8590EF7E}" presName="iconBgRect" presStyleLbl="bgShp" presStyleIdx="1" presStyleCnt="2"/>
      <dgm:spPr/>
    </dgm:pt>
    <dgm:pt modelId="{4B837D6D-3B5F-49D4-B107-A8CBC0865A5E}" type="pres">
      <dgm:prSet presAssocID="{3DA2D8A8-2201-4461-962E-5CEE8590EF7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s"/>
        </a:ext>
      </dgm:extLst>
    </dgm:pt>
    <dgm:pt modelId="{3658C6CA-F353-41C3-B24D-46091BB66B03}" type="pres">
      <dgm:prSet presAssocID="{3DA2D8A8-2201-4461-962E-5CEE8590EF7E}" presName="spaceRect" presStyleCnt="0"/>
      <dgm:spPr/>
    </dgm:pt>
    <dgm:pt modelId="{E979D0A0-C1AE-4575-9627-6C3254A00A06}" type="pres">
      <dgm:prSet presAssocID="{3DA2D8A8-2201-4461-962E-5CEE8590EF7E}" presName="textRect" presStyleLbl="revTx" presStyleIdx="1" presStyleCnt="2">
        <dgm:presLayoutVars>
          <dgm:chMax val="1"/>
          <dgm:chPref val="1"/>
        </dgm:presLayoutVars>
      </dgm:prSet>
      <dgm:spPr/>
    </dgm:pt>
  </dgm:ptLst>
  <dgm:cxnLst>
    <dgm:cxn modelId="{81CD5264-55C3-46A9-8678-9AC4B4F51154}" type="presOf" srcId="{B8AC31A3-3BB3-431E-99BE-F40F04882106}" destId="{36C5F931-0E42-419B-9E49-69E9C289F417}" srcOrd="0" destOrd="0" presId="urn:microsoft.com/office/officeart/2018/2/layout/IconCircleList"/>
    <dgm:cxn modelId="{FE5CCF49-6F1F-40B3-BE7C-E99B364D0744}" type="presOf" srcId="{54951031-BBB7-4157-9A8F-A2D6C0E40079}" destId="{82A70288-9FCA-4649-9629-A20B9B1C0B94}" srcOrd="0" destOrd="0" presId="urn:microsoft.com/office/officeart/2018/2/layout/IconCircleList"/>
    <dgm:cxn modelId="{D6C32C51-87CF-41C2-B591-7B9B6EA2111A}" srcId="{B8AC31A3-3BB3-431E-99BE-F40F04882106}" destId="{3DA2D8A8-2201-4461-962E-5CEE8590EF7E}" srcOrd="1" destOrd="0" parTransId="{02B1E119-6C46-43FA-A8AA-3831CB85D9FA}" sibTransId="{93F62CE0-31B0-4640-BB97-936051167A19}"/>
    <dgm:cxn modelId="{6B344497-1DFB-44A0-AC67-FC3AF920C832}" srcId="{B8AC31A3-3BB3-431E-99BE-F40F04882106}" destId="{7CF7B91B-5995-4141-A2F5-A9D933ED2F2C}" srcOrd="0" destOrd="0" parTransId="{A76B463C-41C0-425B-BF70-47ADAAAF5AA8}" sibTransId="{54951031-BBB7-4157-9A8F-A2D6C0E40079}"/>
    <dgm:cxn modelId="{E7C083CE-23E3-4A23-9B20-0F83E0DDDAC5}" type="presOf" srcId="{3DA2D8A8-2201-4461-962E-5CEE8590EF7E}" destId="{E979D0A0-C1AE-4575-9627-6C3254A00A06}" srcOrd="0" destOrd="0" presId="urn:microsoft.com/office/officeart/2018/2/layout/IconCircleList"/>
    <dgm:cxn modelId="{DDF045F0-CECD-41B5-9816-53B064272469}" type="presOf" srcId="{7CF7B91B-5995-4141-A2F5-A9D933ED2F2C}" destId="{3B1B67A2-D252-40FF-B057-EDE31EFD9D52}" srcOrd="0" destOrd="0" presId="urn:microsoft.com/office/officeart/2018/2/layout/IconCircleList"/>
    <dgm:cxn modelId="{E5232F47-DC7C-4608-85DA-9D0AA1C67567}" type="presParOf" srcId="{36C5F931-0E42-419B-9E49-69E9C289F417}" destId="{1179673F-C366-4AEF-A956-1F69F915D3A4}" srcOrd="0" destOrd="0" presId="urn:microsoft.com/office/officeart/2018/2/layout/IconCircleList"/>
    <dgm:cxn modelId="{A0B44626-629A-4556-90A8-D5B2E82A9E9A}" type="presParOf" srcId="{1179673F-C366-4AEF-A956-1F69F915D3A4}" destId="{2A30489A-0FF8-4F93-9146-4433082CCEB4}" srcOrd="0" destOrd="0" presId="urn:microsoft.com/office/officeart/2018/2/layout/IconCircleList"/>
    <dgm:cxn modelId="{5FFD55F7-51C8-461B-98DA-86A73264F1D7}" type="presParOf" srcId="{2A30489A-0FF8-4F93-9146-4433082CCEB4}" destId="{5B0F2602-2278-41BD-B9B5-113277278B02}" srcOrd="0" destOrd="0" presId="urn:microsoft.com/office/officeart/2018/2/layout/IconCircleList"/>
    <dgm:cxn modelId="{60B11E58-8C1D-4AF5-8B3E-F28AFC50F4DB}" type="presParOf" srcId="{2A30489A-0FF8-4F93-9146-4433082CCEB4}" destId="{59F07BA1-7B72-4596-92FF-74F69A602707}" srcOrd="1" destOrd="0" presId="urn:microsoft.com/office/officeart/2018/2/layout/IconCircleList"/>
    <dgm:cxn modelId="{78E8DB3F-58D6-48AE-B50C-17E41C3C270B}" type="presParOf" srcId="{2A30489A-0FF8-4F93-9146-4433082CCEB4}" destId="{7F3F91CF-54B8-4332-87D1-20521AA8FA41}" srcOrd="2" destOrd="0" presId="urn:microsoft.com/office/officeart/2018/2/layout/IconCircleList"/>
    <dgm:cxn modelId="{64EC89A3-ECC1-40FA-B00A-C0910ABC6604}" type="presParOf" srcId="{2A30489A-0FF8-4F93-9146-4433082CCEB4}" destId="{3B1B67A2-D252-40FF-B057-EDE31EFD9D52}" srcOrd="3" destOrd="0" presId="urn:microsoft.com/office/officeart/2018/2/layout/IconCircleList"/>
    <dgm:cxn modelId="{6C39555A-4EEF-47B7-8843-6EFF77C16458}" type="presParOf" srcId="{1179673F-C366-4AEF-A956-1F69F915D3A4}" destId="{82A70288-9FCA-4649-9629-A20B9B1C0B94}" srcOrd="1" destOrd="0" presId="urn:microsoft.com/office/officeart/2018/2/layout/IconCircleList"/>
    <dgm:cxn modelId="{FCB6FF4D-AAEE-4C42-93CC-62784EDDA42C}" type="presParOf" srcId="{1179673F-C366-4AEF-A956-1F69F915D3A4}" destId="{6D455F4B-DC15-4AFD-8DB1-AA49ABFC7BD3}" srcOrd="2" destOrd="0" presId="urn:microsoft.com/office/officeart/2018/2/layout/IconCircleList"/>
    <dgm:cxn modelId="{BC09872D-8DE2-46B5-918A-9A25CD8BBE97}" type="presParOf" srcId="{6D455F4B-DC15-4AFD-8DB1-AA49ABFC7BD3}" destId="{105A5319-3FAD-470C-945D-E9E124FD814B}" srcOrd="0" destOrd="0" presId="urn:microsoft.com/office/officeart/2018/2/layout/IconCircleList"/>
    <dgm:cxn modelId="{735FBF63-5518-469B-A463-B7DF7DD896B9}" type="presParOf" srcId="{6D455F4B-DC15-4AFD-8DB1-AA49ABFC7BD3}" destId="{4B837D6D-3B5F-49D4-B107-A8CBC0865A5E}" srcOrd="1" destOrd="0" presId="urn:microsoft.com/office/officeart/2018/2/layout/IconCircleList"/>
    <dgm:cxn modelId="{77459DC2-266C-4813-9441-720F8F425FEE}" type="presParOf" srcId="{6D455F4B-DC15-4AFD-8DB1-AA49ABFC7BD3}" destId="{3658C6CA-F353-41C3-B24D-46091BB66B03}" srcOrd="2" destOrd="0" presId="urn:microsoft.com/office/officeart/2018/2/layout/IconCircleList"/>
    <dgm:cxn modelId="{BE62B3B2-0C0C-46EB-882A-1FF8E3723DAA}" type="presParOf" srcId="{6D455F4B-DC15-4AFD-8DB1-AA49ABFC7BD3}" destId="{E979D0A0-C1AE-4575-9627-6C3254A00A0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B0A80F8-0AE6-4324-A8E6-205D8D4EF009}" type="doc">
      <dgm:prSet loTypeId="urn:microsoft.com/office/officeart/2018/2/layout/IconCircleList" loCatId="icon" qsTypeId="urn:microsoft.com/office/officeart/2005/8/quickstyle/simple1" qsCatId="simple" csTypeId="urn:microsoft.com/office/officeart/2005/8/colors/colorful2" csCatId="colorful" phldr="1"/>
      <dgm:spPr/>
      <dgm:t>
        <a:bodyPr/>
        <a:lstStyle/>
        <a:p>
          <a:endParaRPr lang="en-US"/>
        </a:p>
      </dgm:t>
    </dgm:pt>
    <dgm:pt modelId="{012C2428-74B1-4C32-97C3-CD8AB9CB5537}">
      <dgm:prSet/>
      <dgm:spPr/>
      <dgm:t>
        <a:bodyPr/>
        <a:lstStyle/>
        <a:p>
          <a:pPr>
            <a:lnSpc>
              <a:spcPct val="100000"/>
            </a:lnSpc>
          </a:pPr>
          <a:r>
            <a:rPr lang="en-US" b="1" i="0" baseline="0"/>
            <a:t>Vertical Scaling</a:t>
          </a:r>
          <a:r>
            <a:rPr lang="en-US" b="0" i="0" baseline="0"/>
            <a:t>: Increasing the capacity of a single instance (e.g., more CPU, RAM). However, there’s a limit to how much a single machine can handle, and this isn't always a cost-effective option.</a:t>
          </a:r>
          <a:endParaRPr lang="en-US"/>
        </a:p>
      </dgm:t>
    </dgm:pt>
    <dgm:pt modelId="{7265C418-0BAD-4F1C-BE76-49A587C9CC42}" type="parTrans" cxnId="{6E60FFA4-3929-4BB7-92D4-CB71D6F9FFB2}">
      <dgm:prSet/>
      <dgm:spPr/>
      <dgm:t>
        <a:bodyPr/>
        <a:lstStyle/>
        <a:p>
          <a:endParaRPr lang="en-US"/>
        </a:p>
      </dgm:t>
    </dgm:pt>
    <dgm:pt modelId="{A1C1B751-E771-4BC9-8EEE-CA64B60F8695}" type="sibTrans" cxnId="{6E60FFA4-3929-4BB7-92D4-CB71D6F9FFB2}">
      <dgm:prSet phldrT="1" phldr="0"/>
      <dgm:spPr/>
      <dgm:t>
        <a:bodyPr/>
        <a:lstStyle/>
        <a:p>
          <a:pPr>
            <a:lnSpc>
              <a:spcPct val="100000"/>
            </a:lnSpc>
          </a:pPr>
          <a:endParaRPr lang="en-US"/>
        </a:p>
      </dgm:t>
    </dgm:pt>
    <dgm:pt modelId="{5F1F12EB-8BE8-4A2F-B964-9470132CDB8C}">
      <dgm:prSet/>
      <dgm:spPr/>
      <dgm:t>
        <a:bodyPr/>
        <a:lstStyle/>
        <a:p>
          <a:pPr>
            <a:lnSpc>
              <a:spcPct val="100000"/>
            </a:lnSpc>
          </a:pPr>
          <a:r>
            <a:rPr lang="en-US" b="1" i="0" baseline="0" dirty="0"/>
            <a:t>Horizontal Scaling</a:t>
          </a:r>
          <a:r>
            <a:rPr lang="en-US" b="0" i="0" baseline="0" dirty="0"/>
            <a:t>: Adding more instances of a service to distribute the load. Microservices are ideally suited for horizontal scaling, where each service can be scaled independently based on its own demands.</a:t>
          </a:r>
          <a:endParaRPr lang="en-US" dirty="0"/>
        </a:p>
      </dgm:t>
    </dgm:pt>
    <dgm:pt modelId="{D35014E6-8E90-4E1C-9997-42385A159708}" type="sibTrans" cxnId="{5CD337F2-55B5-422E-97DD-29DAC0F1B33A}">
      <dgm:prSet phldrT="2" phldr="0"/>
      <dgm:spPr/>
      <dgm:t>
        <a:bodyPr/>
        <a:lstStyle/>
        <a:p>
          <a:endParaRPr lang="en-US" dirty="0"/>
        </a:p>
      </dgm:t>
    </dgm:pt>
    <dgm:pt modelId="{E5799A2F-A6C6-4C4F-B569-B4A6D3DB3E3F}" type="parTrans" cxnId="{5CD337F2-55B5-422E-97DD-29DAC0F1B33A}">
      <dgm:prSet/>
      <dgm:spPr/>
      <dgm:t>
        <a:bodyPr/>
        <a:lstStyle/>
        <a:p>
          <a:endParaRPr lang="en-US"/>
        </a:p>
      </dgm:t>
    </dgm:pt>
    <dgm:pt modelId="{6C421EC9-226C-4A8F-B6A2-0DC4CB347004}" type="pres">
      <dgm:prSet presAssocID="{2B0A80F8-0AE6-4324-A8E6-205D8D4EF009}" presName="root" presStyleCnt="0">
        <dgm:presLayoutVars>
          <dgm:dir/>
          <dgm:resizeHandles val="exact"/>
        </dgm:presLayoutVars>
      </dgm:prSet>
      <dgm:spPr/>
    </dgm:pt>
    <dgm:pt modelId="{C966EE6C-8A76-4E16-B517-EA40ACBAFF0D}" type="pres">
      <dgm:prSet presAssocID="{2B0A80F8-0AE6-4324-A8E6-205D8D4EF009}" presName="container" presStyleCnt="0">
        <dgm:presLayoutVars>
          <dgm:dir/>
          <dgm:resizeHandles val="exact"/>
        </dgm:presLayoutVars>
      </dgm:prSet>
      <dgm:spPr/>
    </dgm:pt>
    <dgm:pt modelId="{D9C1F5F0-91B2-4757-B3E4-3EB0821D3C01}" type="pres">
      <dgm:prSet presAssocID="{012C2428-74B1-4C32-97C3-CD8AB9CB5537}" presName="compNode" presStyleCnt="0"/>
      <dgm:spPr/>
    </dgm:pt>
    <dgm:pt modelId="{5F2F3164-2EF6-405B-858E-8A2DCEB4FC24}" type="pres">
      <dgm:prSet presAssocID="{012C2428-74B1-4C32-97C3-CD8AB9CB5537}" presName="iconBgRect" presStyleLbl="bgShp" presStyleIdx="0" presStyleCnt="2"/>
      <dgm:spPr>
        <a:ln>
          <a:noFill/>
        </a:ln>
      </dgm:spPr>
    </dgm:pt>
    <dgm:pt modelId="{3CED7702-C062-4D95-94FC-8BDA02622417}" type="pres">
      <dgm:prSet presAssocID="{012C2428-74B1-4C32-97C3-CD8AB9CB5537}"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Line arrow: Vertical U-turn with solid fill"/>
        </a:ext>
      </dgm:extLst>
    </dgm:pt>
    <dgm:pt modelId="{2B623259-2351-4F2A-993C-F9A1607723BB}" type="pres">
      <dgm:prSet presAssocID="{012C2428-74B1-4C32-97C3-CD8AB9CB5537}" presName="spaceRect" presStyleCnt="0"/>
      <dgm:spPr/>
    </dgm:pt>
    <dgm:pt modelId="{D8E3EDE0-284B-43B2-A1CC-E5E2B71FF5C2}" type="pres">
      <dgm:prSet presAssocID="{012C2428-74B1-4C32-97C3-CD8AB9CB5537}" presName="textRect" presStyleLbl="revTx" presStyleIdx="0" presStyleCnt="2">
        <dgm:presLayoutVars>
          <dgm:chMax val="1"/>
          <dgm:chPref val="1"/>
        </dgm:presLayoutVars>
      </dgm:prSet>
      <dgm:spPr/>
    </dgm:pt>
    <dgm:pt modelId="{6649219B-0FCB-4CA4-B1D9-87EADDB443C9}" type="pres">
      <dgm:prSet presAssocID="{A1C1B751-E771-4BC9-8EEE-CA64B60F8695}" presName="sibTrans" presStyleLbl="sibTrans2D1" presStyleIdx="0" presStyleCnt="0"/>
      <dgm:spPr/>
    </dgm:pt>
    <dgm:pt modelId="{E9875E9E-3864-48EF-991C-E393D2DB2BDC}" type="pres">
      <dgm:prSet presAssocID="{5F1F12EB-8BE8-4A2F-B964-9470132CDB8C}" presName="compNode" presStyleCnt="0"/>
      <dgm:spPr/>
    </dgm:pt>
    <dgm:pt modelId="{CCFA2AE6-B20D-4EA7-8E30-F91B98AF2F29}" type="pres">
      <dgm:prSet presAssocID="{5F1F12EB-8BE8-4A2F-B964-9470132CDB8C}" presName="iconBgRect" presStyleLbl="bgShp" presStyleIdx="1" presStyleCnt="2"/>
      <dgm:spPr>
        <a:ln>
          <a:noFill/>
        </a:ln>
      </dgm:spPr>
    </dgm:pt>
    <dgm:pt modelId="{16E5FFE3-732E-4308-B126-2C11C1A9C263}" type="pres">
      <dgm:prSet presAssocID="{5F1F12EB-8BE8-4A2F-B964-9470132CDB8C}"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ine arrow: Horizontal U-turn with solid fill"/>
        </a:ext>
      </dgm:extLst>
    </dgm:pt>
    <dgm:pt modelId="{CC808A87-CE95-43FE-A341-D0565728BC40}" type="pres">
      <dgm:prSet presAssocID="{5F1F12EB-8BE8-4A2F-B964-9470132CDB8C}" presName="spaceRect" presStyleCnt="0"/>
      <dgm:spPr/>
    </dgm:pt>
    <dgm:pt modelId="{2BC80050-EC02-4120-8BC4-328ABBD3161A}" type="pres">
      <dgm:prSet presAssocID="{5F1F12EB-8BE8-4A2F-B964-9470132CDB8C}" presName="textRect" presStyleLbl="revTx" presStyleIdx="1" presStyleCnt="2">
        <dgm:presLayoutVars>
          <dgm:chMax val="1"/>
          <dgm:chPref val="1"/>
        </dgm:presLayoutVars>
      </dgm:prSet>
      <dgm:spPr/>
    </dgm:pt>
  </dgm:ptLst>
  <dgm:cxnLst>
    <dgm:cxn modelId="{F8ACB314-2D1E-4871-ABFB-C6D92DFC6BDF}" type="presOf" srcId="{A1C1B751-E771-4BC9-8EEE-CA64B60F8695}" destId="{6649219B-0FCB-4CA4-B1D9-87EADDB443C9}" srcOrd="0" destOrd="0" presId="urn:microsoft.com/office/officeart/2018/2/layout/IconCircleList"/>
    <dgm:cxn modelId="{31DE872D-BFBB-419B-BF35-C9C8138FE5D7}" type="presOf" srcId="{2B0A80F8-0AE6-4324-A8E6-205D8D4EF009}" destId="{6C421EC9-226C-4A8F-B6A2-0DC4CB347004}" srcOrd="0" destOrd="0" presId="urn:microsoft.com/office/officeart/2018/2/layout/IconCircleList"/>
    <dgm:cxn modelId="{8201FB5B-4402-4333-9BD5-928B89793F8D}" type="presOf" srcId="{5F1F12EB-8BE8-4A2F-B964-9470132CDB8C}" destId="{2BC80050-EC02-4120-8BC4-328ABBD3161A}" srcOrd="0" destOrd="0" presId="urn:microsoft.com/office/officeart/2018/2/layout/IconCircleList"/>
    <dgm:cxn modelId="{6E60FFA4-3929-4BB7-92D4-CB71D6F9FFB2}" srcId="{2B0A80F8-0AE6-4324-A8E6-205D8D4EF009}" destId="{012C2428-74B1-4C32-97C3-CD8AB9CB5537}" srcOrd="0" destOrd="0" parTransId="{7265C418-0BAD-4F1C-BE76-49A587C9CC42}" sibTransId="{A1C1B751-E771-4BC9-8EEE-CA64B60F8695}"/>
    <dgm:cxn modelId="{0CFB76CC-4288-49F6-9C98-0E6565E7DA88}" type="presOf" srcId="{012C2428-74B1-4C32-97C3-CD8AB9CB5537}" destId="{D8E3EDE0-284B-43B2-A1CC-E5E2B71FF5C2}" srcOrd="0" destOrd="0" presId="urn:microsoft.com/office/officeart/2018/2/layout/IconCircleList"/>
    <dgm:cxn modelId="{5CD337F2-55B5-422E-97DD-29DAC0F1B33A}" srcId="{2B0A80F8-0AE6-4324-A8E6-205D8D4EF009}" destId="{5F1F12EB-8BE8-4A2F-B964-9470132CDB8C}" srcOrd="1" destOrd="0" parTransId="{E5799A2F-A6C6-4C4F-B569-B4A6D3DB3E3F}" sibTransId="{D35014E6-8E90-4E1C-9997-42385A159708}"/>
    <dgm:cxn modelId="{FDD7E822-FEE1-4330-BEFB-157A25455B8F}" type="presParOf" srcId="{6C421EC9-226C-4A8F-B6A2-0DC4CB347004}" destId="{C966EE6C-8A76-4E16-B517-EA40ACBAFF0D}" srcOrd="0" destOrd="0" presId="urn:microsoft.com/office/officeart/2018/2/layout/IconCircleList"/>
    <dgm:cxn modelId="{895912CA-E875-4E38-9772-EE7758007FA1}" type="presParOf" srcId="{C966EE6C-8A76-4E16-B517-EA40ACBAFF0D}" destId="{D9C1F5F0-91B2-4757-B3E4-3EB0821D3C01}" srcOrd="0" destOrd="0" presId="urn:microsoft.com/office/officeart/2018/2/layout/IconCircleList"/>
    <dgm:cxn modelId="{7C6F9133-99DF-41F1-9706-A1506551D74D}" type="presParOf" srcId="{D9C1F5F0-91B2-4757-B3E4-3EB0821D3C01}" destId="{5F2F3164-2EF6-405B-858E-8A2DCEB4FC24}" srcOrd="0" destOrd="0" presId="urn:microsoft.com/office/officeart/2018/2/layout/IconCircleList"/>
    <dgm:cxn modelId="{1CA0079F-E6C9-4382-96CA-9E62C1B5E85E}" type="presParOf" srcId="{D9C1F5F0-91B2-4757-B3E4-3EB0821D3C01}" destId="{3CED7702-C062-4D95-94FC-8BDA02622417}" srcOrd="1" destOrd="0" presId="urn:microsoft.com/office/officeart/2018/2/layout/IconCircleList"/>
    <dgm:cxn modelId="{86A3D7B6-5029-4799-82C0-86C5C5A1A3B1}" type="presParOf" srcId="{D9C1F5F0-91B2-4757-B3E4-3EB0821D3C01}" destId="{2B623259-2351-4F2A-993C-F9A1607723BB}" srcOrd="2" destOrd="0" presId="urn:microsoft.com/office/officeart/2018/2/layout/IconCircleList"/>
    <dgm:cxn modelId="{CBAD602B-4860-4EB5-AE95-1ED140602E04}" type="presParOf" srcId="{D9C1F5F0-91B2-4757-B3E4-3EB0821D3C01}" destId="{D8E3EDE0-284B-43B2-A1CC-E5E2B71FF5C2}" srcOrd="3" destOrd="0" presId="urn:microsoft.com/office/officeart/2018/2/layout/IconCircleList"/>
    <dgm:cxn modelId="{BE9E6DD8-E21F-4D29-8267-4F366FD2B621}" type="presParOf" srcId="{C966EE6C-8A76-4E16-B517-EA40ACBAFF0D}" destId="{6649219B-0FCB-4CA4-B1D9-87EADDB443C9}" srcOrd="1" destOrd="0" presId="urn:microsoft.com/office/officeart/2018/2/layout/IconCircleList"/>
    <dgm:cxn modelId="{48BC79EF-B5D7-4978-A841-0389129159C9}" type="presParOf" srcId="{C966EE6C-8A76-4E16-B517-EA40ACBAFF0D}" destId="{E9875E9E-3864-48EF-991C-E393D2DB2BDC}" srcOrd="2" destOrd="0" presId="urn:microsoft.com/office/officeart/2018/2/layout/IconCircleList"/>
    <dgm:cxn modelId="{BA85CB78-28B7-4472-B10E-3ED60DA6771C}" type="presParOf" srcId="{E9875E9E-3864-48EF-991C-E393D2DB2BDC}" destId="{CCFA2AE6-B20D-4EA7-8E30-F91B98AF2F29}" srcOrd="0" destOrd="0" presId="urn:microsoft.com/office/officeart/2018/2/layout/IconCircleList"/>
    <dgm:cxn modelId="{94A33421-5ED7-4C6C-8CD5-5A693FF5D1D3}" type="presParOf" srcId="{E9875E9E-3864-48EF-991C-E393D2DB2BDC}" destId="{16E5FFE3-732E-4308-B126-2C11C1A9C263}" srcOrd="1" destOrd="0" presId="urn:microsoft.com/office/officeart/2018/2/layout/IconCircleList"/>
    <dgm:cxn modelId="{24767074-533D-47B1-AC6C-BA9D7DDD173A}" type="presParOf" srcId="{E9875E9E-3864-48EF-991C-E393D2DB2BDC}" destId="{CC808A87-CE95-43FE-A341-D0565728BC40}" srcOrd="2" destOrd="0" presId="urn:microsoft.com/office/officeart/2018/2/layout/IconCircleList"/>
    <dgm:cxn modelId="{7E675E58-D13A-4D9A-9513-494BE3EDD950}" type="presParOf" srcId="{E9875E9E-3864-48EF-991C-E393D2DB2BDC}" destId="{2BC80050-EC02-4120-8BC4-328ABBD3161A}" srcOrd="3" destOrd="0" presId="urn:microsoft.com/office/officeart/2018/2/layout/IconCircleList"/>
  </dgm:cxnLst>
  <dgm:bg/>
  <dgm:whole>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524247E-E56A-48A1-868D-349CCC709348}"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7701306-0F43-4754-AA85-4A68485CAEA9}">
      <dgm:prSet/>
      <dgm:spPr/>
      <dgm:t>
        <a:bodyPr/>
        <a:lstStyle/>
        <a:p>
          <a:pPr>
            <a:lnSpc>
              <a:spcPct val="100000"/>
            </a:lnSpc>
          </a:pPr>
          <a:r>
            <a:rPr lang="en-US" b="1" i="0" baseline="0" dirty="0"/>
            <a:t>Auto-scaling with Cloud Platforms</a:t>
          </a:r>
          <a:endParaRPr lang="en-US" dirty="0"/>
        </a:p>
      </dgm:t>
    </dgm:pt>
    <dgm:pt modelId="{590849E5-A57A-4533-97CA-025545DF2498}" type="parTrans" cxnId="{D6913E4B-E34E-40D2-A841-1D828FDE03E0}">
      <dgm:prSet/>
      <dgm:spPr/>
      <dgm:t>
        <a:bodyPr/>
        <a:lstStyle/>
        <a:p>
          <a:endParaRPr lang="en-US"/>
        </a:p>
      </dgm:t>
    </dgm:pt>
    <dgm:pt modelId="{855D1B6B-AF61-4B74-8BFA-3B4B9F8F63D8}" type="sibTrans" cxnId="{D6913E4B-E34E-40D2-A841-1D828FDE03E0}">
      <dgm:prSet/>
      <dgm:spPr/>
      <dgm:t>
        <a:bodyPr/>
        <a:lstStyle/>
        <a:p>
          <a:pPr>
            <a:lnSpc>
              <a:spcPct val="100000"/>
            </a:lnSpc>
          </a:pPr>
          <a:endParaRPr lang="en-US"/>
        </a:p>
      </dgm:t>
    </dgm:pt>
    <dgm:pt modelId="{ACC18762-E081-4E41-BBF8-83EF2EDDB38C}">
      <dgm:prSet/>
      <dgm:spPr/>
      <dgm:t>
        <a:bodyPr/>
        <a:lstStyle/>
        <a:p>
          <a:pPr>
            <a:lnSpc>
              <a:spcPct val="100000"/>
            </a:lnSpc>
          </a:pPr>
          <a:r>
            <a:rPr lang="en-US" b="0" i="0" baseline="0"/>
            <a:t>Most cloud providers (AWS, Azure, GCP) support auto-scaling of services based on real-time demand.</a:t>
          </a:r>
          <a:endParaRPr lang="en-US"/>
        </a:p>
      </dgm:t>
    </dgm:pt>
    <dgm:pt modelId="{9D7CCBA1-CBBF-47A7-9EAE-7900D33A3286}" type="parTrans" cxnId="{67BBFB59-0377-405F-96EA-9A02A0CAF540}">
      <dgm:prSet/>
      <dgm:spPr/>
      <dgm:t>
        <a:bodyPr/>
        <a:lstStyle/>
        <a:p>
          <a:endParaRPr lang="en-US"/>
        </a:p>
      </dgm:t>
    </dgm:pt>
    <dgm:pt modelId="{B89FCA53-5828-425E-88EE-17682A84DB62}" type="sibTrans" cxnId="{67BBFB59-0377-405F-96EA-9A02A0CAF540}">
      <dgm:prSet/>
      <dgm:spPr/>
      <dgm:t>
        <a:bodyPr/>
        <a:lstStyle/>
        <a:p>
          <a:pPr>
            <a:lnSpc>
              <a:spcPct val="100000"/>
            </a:lnSpc>
          </a:pPr>
          <a:endParaRPr lang="en-US"/>
        </a:p>
      </dgm:t>
    </dgm:pt>
    <dgm:pt modelId="{A7BE5C18-1D8D-48B3-8130-52EE83A14DB6}">
      <dgm:prSet/>
      <dgm:spPr/>
      <dgm:t>
        <a:bodyPr/>
        <a:lstStyle/>
        <a:p>
          <a:pPr>
            <a:lnSpc>
              <a:spcPct val="100000"/>
            </a:lnSpc>
          </a:pPr>
          <a:r>
            <a:rPr lang="en-US" b="0" i="0" baseline="0"/>
            <a:t>Define thresholds (e.g., CPU usage, memory, request rates) that automatically trigger the creation of new instances.</a:t>
          </a:r>
          <a:endParaRPr lang="en-US"/>
        </a:p>
      </dgm:t>
    </dgm:pt>
    <dgm:pt modelId="{6394B3E4-8969-4AFC-829E-8C10463671BE}" type="parTrans" cxnId="{4F48E49B-18A2-4D4E-A09C-FF3C50B90B96}">
      <dgm:prSet/>
      <dgm:spPr/>
      <dgm:t>
        <a:bodyPr/>
        <a:lstStyle/>
        <a:p>
          <a:endParaRPr lang="en-US"/>
        </a:p>
      </dgm:t>
    </dgm:pt>
    <dgm:pt modelId="{34635378-B4BA-4E0F-BDFE-69CE06909F30}" type="sibTrans" cxnId="{4F48E49B-18A2-4D4E-A09C-FF3C50B90B96}">
      <dgm:prSet/>
      <dgm:spPr/>
      <dgm:t>
        <a:bodyPr/>
        <a:lstStyle/>
        <a:p>
          <a:pPr>
            <a:lnSpc>
              <a:spcPct val="100000"/>
            </a:lnSpc>
          </a:pPr>
          <a:endParaRPr lang="en-US"/>
        </a:p>
      </dgm:t>
    </dgm:pt>
    <dgm:pt modelId="{1C6741CA-E340-4E90-884B-31911C8678D0}">
      <dgm:prSet/>
      <dgm:spPr/>
      <dgm:t>
        <a:bodyPr/>
        <a:lstStyle/>
        <a:p>
          <a:pPr>
            <a:lnSpc>
              <a:spcPct val="100000"/>
            </a:lnSpc>
          </a:pPr>
          <a:r>
            <a:rPr lang="en-US" b="1" i="0" baseline="0" dirty="0"/>
            <a:t>Container Orchestration (e.g., Kubernetes)</a:t>
          </a:r>
          <a:endParaRPr lang="en-US" dirty="0"/>
        </a:p>
      </dgm:t>
    </dgm:pt>
    <dgm:pt modelId="{932863F5-8B6A-45E9-9006-3471389C8899}" type="parTrans" cxnId="{2116C43E-E709-47B0-8A19-BAD1D0E5ACFF}">
      <dgm:prSet/>
      <dgm:spPr/>
      <dgm:t>
        <a:bodyPr/>
        <a:lstStyle/>
        <a:p>
          <a:endParaRPr lang="en-US"/>
        </a:p>
      </dgm:t>
    </dgm:pt>
    <dgm:pt modelId="{B31CA88B-61CD-4A4D-8DB6-DC71DACAEBF5}" type="sibTrans" cxnId="{2116C43E-E709-47B0-8A19-BAD1D0E5ACFF}">
      <dgm:prSet/>
      <dgm:spPr/>
      <dgm:t>
        <a:bodyPr/>
        <a:lstStyle/>
        <a:p>
          <a:pPr>
            <a:lnSpc>
              <a:spcPct val="100000"/>
            </a:lnSpc>
          </a:pPr>
          <a:endParaRPr lang="en-US"/>
        </a:p>
      </dgm:t>
    </dgm:pt>
    <dgm:pt modelId="{EC60FA9F-806E-4BDF-AA57-AEFFFA27659E}">
      <dgm:prSet/>
      <dgm:spPr/>
      <dgm:t>
        <a:bodyPr/>
        <a:lstStyle/>
        <a:p>
          <a:pPr>
            <a:lnSpc>
              <a:spcPct val="100000"/>
            </a:lnSpc>
          </a:pPr>
          <a:r>
            <a:rPr lang="en-US" b="0" i="0" baseline="0"/>
            <a:t>Kubernetes’ Horizontal Pod Autoscaler (HPA) scales the number of pods based on observed metrics like CPU or custom metrics.</a:t>
          </a:r>
          <a:endParaRPr lang="en-US"/>
        </a:p>
      </dgm:t>
    </dgm:pt>
    <dgm:pt modelId="{CAF0816B-2347-4D77-BB47-8B61BE2877B4}" type="parTrans" cxnId="{6BC950BB-24D0-4550-9B43-1F0657FFF23B}">
      <dgm:prSet/>
      <dgm:spPr/>
      <dgm:t>
        <a:bodyPr/>
        <a:lstStyle/>
        <a:p>
          <a:endParaRPr lang="en-US"/>
        </a:p>
      </dgm:t>
    </dgm:pt>
    <dgm:pt modelId="{8FD4E0BB-22EB-4A28-BC7C-746A12D4063B}" type="sibTrans" cxnId="{6BC950BB-24D0-4550-9B43-1F0657FFF23B}">
      <dgm:prSet/>
      <dgm:spPr/>
      <dgm:t>
        <a:bodyPr/>
        <a:lstStyle/>
        <a:p>
          <a:pPr>
            <a:lnSpc>
              <a:spcPct val="100000"/>
            </a:lnSpc>
          </a:pPr>
          <a:endParaRPr lang="en-US"/>
        </a:p>
      </dgm:t>
    </dgm:pt>
    <dgm:pt modelId="{58BF7867-C64E-40C7-B393-D06EAD20EC2D}">
      <dgm:prSet/>
      <dgm:spPr/>
      <dgm:t>
        <a:bodyPr/>
        <a:lstStyle/>
        <a:p>
          <a:pPr>
            <a:lnSpc>
              <a:spcPct val="100000"/>
            </a:lnSpc>
          </a:pPr>
          <a:r>
            <a:rPr lang="en-US" b="0" i="0" baseline="0"/>
            <a:t>Works seamlessly with cloud platforms for elastic scaling.</a:t>
          </a:r>
          <a:endParaRPr lang="en-US"/>
        </a:p>
      </dgm:t>
    </dgm:pt>
    <dgm:pt modelId="{336BE3FD-A06D-4417-B92C-C2B32E0436D2}" type="parTrans" cxnId="{D113535B-FE9C-411F-9AF2-A16FE3B392F6}">
      <dgm:prSet/>
      <dgm:spPr/>
      <dgm:t>
        <a:bodyPr/>
        <a:lstStyle/>
        <a:p>
          <a:endParaRPr lang="en-US"/>
        </a:p>
      </dgm:t>
    </dgm:pt>
    <dgm:pt modelId="{16616064-11F8-4402-8610-EAB85CDA8A91}" type="sibTrans" cxnId="{D113535B-FE9C-411F-9AF2-A16FE3B392F6}">
      <dgm:prSet/>
      <dgm:spPr/>
      <dgm:t>
        <a:bodyPr/>
        <a:lstStyle/>
        <a:p>
          <a:endParaRPr lang="en-US"/>
        </a:p>
      </dgm:t>
    </dgm:pt>
    <dgm:pt modelId="{44AED6EC-53EA-4D10-91E0-22CF746FCBA2}" type="pres">
      <dgm:prSet presAssocID="{4524247E-E56A-48A1-868D-349CCC709348}" presName="root" presStyleCnt="0">
        <dgm:presLayoutVars>
          <dgm:dir/>
          <dgm:resizeHandles val="exact"/>
        </dgm:presLayoutVars>
      </dgm:prSet>
      <dgm:spPr/>
    </dgm:pt>
    <dgm:pt modelId="{44D007C2-A036-4DD9-BDFC-820D30D1C73E}" type="pres">
      <dgm:prSet presAssocID="{4524247E-E56A-48A1-868D-349CCC709348}" presName="container" presStyleCnt="0">
        <dgm:presLayoutVars>
          <dgm:dir/>
          <dgm:resizeHandles val="exact"/>
        </dgm:presLayoutVars>
      </dgm:prSet>
      <dgm:spPr/>
    </dgm:pt>
    <dgm:pt modelId="{8FCF89DD-7C2F-4C53-8073-6430C109A8F6}" type="pres">
      <dgm:prSet presAssocID="{17701306-0F43-4754-AA85-4A68485CAEA9}" presName="compNode" presStyleCnt="0"/>
      <dgm:spPr/>
    </dgm:pt>
    <dgm:pt modelId="{F40B0D87-FB81-4B16-860D-3CD73E06F5FE}" type="pres">
      <dgm:prSet presAssocID="{17701306-0F43-4754-AA85-4A68485CAEA9}" presName="iconBgRect" presStyleLbl="bgShp" presStyleIdx="0" presStyleCnt="6"/>
      <dgm:spPr/>
    </dgm:pt>
    <dgm:pt modelId="{E39BAE62-CBF8-40B1-9438-BC085680DF44}" type="pres">
      <dgm:prSet presAssocID="{17701306-0F43-4754-AA85-4A68485CAEA9}"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C2C10F17-AE1F-4133-83AE-9B9B11C63DA9}" type="pres">
      <dgm:prSet presAssocID="{17701306-0F43-4754-AA85-4A68485CAEA9}" presName="spaceRect" presStyleCnt="0"/>
      <dgm:spPr/>
    </dgm:pt>
    <dgm:pt modelId="{64570792-CA79-4F7D-BF2C-C5B512C4C3F7}" type="pres">
      <dgm:prSet presAssocID="{17701306-0F43-4754-AA85-4A68485CAEA9}" presName="textRect" presStyleLbl="revTx" presStyleIdx="0" presStyleCnt="6">
        <dgm:presLayoutVars>
          <dgm:chMax val="1"/>
          <dgm:chPref val="1"/>
        </dgm:presLayoutVars>
      </dgm:prSet>
      <dgm:spPr/>
    </dgm:pt>
    <dgm:pt modelId="{E3A7799E-365F-441A-B00E-7823AD8C9D56}" type="pres">
      <dgm:prSet presAssocID="{855D1B6B-AF61-4B74-8BFA-3B4B9F8F63D8}" presName="sibTrans" presStyleLbl="sibTrans2D1" presStyleIdx="0" presStyleCnt="0"/>
      <dgm:spPr/>
    </dgm:pt>
    <dgm:pt modelId="{8FDB7C9B-3D49-47B7-BD2D-7B1E15329056}" type="pres">
      <dgm:prSet presAssocID="{ACC18762-E081-4E41-BBF8-83EF2EDDB38C}" presName="compNode" presStyleCnt="0"/>
      <dgm:spPr/>
    </dgm:pt>
    <dgm:pt modelId="{8AC0CC6B-9E27-4E9B-AD12-16198CB600C4}" type="pres">
      <dgm:prSet presAssocID="{ACC18762-E081-4E41-BBF8-83EF2EDDB38C}" presName="iconBgRect" presStyleLbl="bgShp" presStyleIdx="1" presStyleCnt="6"/>
      <dgm:spPr/>
    </dgm:pt>
    <dgm:pt modelId="{99A0DB42-EBD9-4487-8A1B-D2FE15EDA420}" type="pres">
      <dgm:prSet presAssocID="{ACC18762-E081-4E41-BBF8-83EF2EDDB38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525DA717-264C-47E9-9779-D6C852001B21}" type="pres">
      <dgm:prSet presAssocID="{ACC18762-E081-4E41-BBF8-83EF2EDDB38C}" presName="spaceRect" presStyleCnt="0"/>
      <dgm:spPr/>
    </dgm:pt>
    <dgm:pt modelId="{E6F241FF-2A84-4145-8746-5DF109967CF9}" type="pres">
      <dgm:prSet presAssocID="{ACC18762-E081-4E41-BBF8-83EF2EDDB38C}" presName="textRect" presStyleLbl="revTx" presStyleIdx="1" presStyleCnt="6">
        <dgm:presLayoutVars>
          <dgm:chMax val="1"/>
          <dgm:chPref val="1"/>
        </dgm:presLayoutVars>
      </dgm:prSet>
      <dgm:spPr/>
    </dgm:pt>
    <dgm:pt modelId="{0A217BC4-082C-4F42-AD95-57D9B32F152C}" type="pres">
      <dgm:prSet presAssocID="{B89FCA53-5828-425E-88EE-17682A84DB62}" presName="sibTrans" presStyleLbl="sibTrans2D1" presStyleIdx="0" presStyleCnt="0"/>
      <dgm:spPr/>
    </dgm:pt>
    <dgm:pt modelId="{5611E19F-C729-40BD-A584-3DF7EB78D922}" type="pres">
      <dgm:prSet presAssocID="{A7BE5C18-1D8D-48B3-8130-52EE83A14DB6}" presName="compNode" presStyleCnt="0"/>
      <dgm:spPr/>
    </dgm:pt>
    <dgm:pt modelId="{5FFA5991-8352-4DEA-A6CD-894B7214E585}" type="pres">
      <dgm:prSet presAssocID="{A7BE5C18-1D8D-48B3-8130-52EE83A14DB6}" presName="iconBgRect" presStyleLbl="bgShp" presStyleIdx="2" presStyleCnt="6"/>
      <dgm:spPr/>
    </dgm:pt>
    <dgm:pt modelId="{20A1B71D-7DBB-4CEF-9BC1-0B7AB31076CD}" type="pres">
      <dgm:prSet presAssocID="{A7BE5C18-1D8D-48B3-8130-52EE83A14DB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6D805DDC-8B42-4904-86BB-134A42A29571}" type="pres">
      <dgm:prSet presAssocID="{A7BE5C18-1D8D-48B3-8130-52EE83A14DB6}" presName="spaceRect" presStyleCnt="0"/>
      <dgm:spPr/>
    </dgm:pt>
    <dgm:pt modelId="{32F54C7B-F98C-4DA1-8AB8-C6CF05D9AA5B}" type="pres">
      <dgm:prSet presAssocID="{A7BE5C18-1D8D-48B3-8130-52EE83A14DB6}" presName="textRect" presStyleLbl="revTx" presStyleIdx="2" presStyleCnt="6">
        <dgm:presLayoutVars>
          <dgm:chMax val="1"/>
          <dgm:chPref val="1"/>
        </dgm:presLayoutVars>
      </dgm:prSet>
      <dgm:spPr/>
    </dgm:pt>
    <dgm:pt modelId="{185EF50E-0484-4D55-87C9-2BB720AE7057}" type="pres">
      <dgm:prSet presAssocID="{34635378-B4BA-4E0F-BDFE-69CE06909F30}" presName="sibTrans" presStyleLbl="sibTrans2D1" presStyleIdx="0" presStyleCnt="0"/>
      <dgm:spPr/>
    </dgm:pt>
    <dgm:pt modelId="{33B20AF8-833B-4AC2-9F99-0BD4A0270028}" type="pres">
      <dgm:prSet presAssocID="{1C6741CA-E340-4E90-884B-31911C8678D0}" presName="compNode" presStyleCnt="0"/>
      <dgm:spPr/>
    </dgm:pt>
    <dgm:pt modelId="{4B51676E-A65A-42D9-83ED-946552367DE4}" type="pres">
      <dgm:prSet presAssocID="{1C6741CA-E340-4E90-884B-31911C8678D0}" presName="iconBgRect" presStyleLbl="bgShp" presStyleIdx="3" presStyleCnt="6"/>
      <dgm:spPr/>
    </dgm:pt>
    <dgm:pt modelId="{CEEA4D74-8B56-414E-B63D-4C313F6E1AB9}" type="pres">
      <dgm:prSet presAssocID="{1C6741CA-E340-4E90-884B-31911C8678D0}"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erver"/>
        </a:ext>
      </dgm:extLst>
    </dgm:pt>
    <dgm:pt modelId="{DEF7A384-DFCB-4410-ADBC-9159142F8765}" type="pres">
      <dgm:prSet presAssocID="{1C6741CA-E340-4E90-884B-31911C8678D0}" presName="spaceRect" presStyleCnt="0"/>
      <dgm:spPr/>
    </dgm:pt>
    <dgm:pt modelId="{FB7FF7A1-030A-4B9A-B12F-C99BFB60A5F4}" type="pres">
      <dgm:prSet presAssocID="{1C6741CA-E340-4E90-884B-31911C8678D0}" presName="textRect" presStyleLbl="revTx" presStyleIdx="3" presStyleCnt="6">
        <dgm:presLayoutVars>
          <dgm:chMax val="1"/>
          <dgm:chPref val="1"/>
        </dgm:presLayoutVars>
      </dgm:prSet>
      <dgm:spPr/>
    </dgm:pt>
    <dgm:pt modelId="{BFF2FD61-D2B3-4463-957F-739E9A480F2F}" type="pres">
      <dgm:prSet presAssocID="{B31CA88B-61CD-4A4D-8DB6-DC71DACAEBF5}" presName="sibTrans" presStyleLbl="sibTrans2D1" presStyleIdx="0" presStyleCnt="0"/>
      <dgm:spPr/>
    </dgm:pt>
    <dgm:pt modelId="{3997C684-9FA1-4E11-80DC-9444F17E7B13}" type="pres">
      <dgm:prSet presAssocID="{EC60FA9F-806E-4BDF-AA57-AEFFFA27659E}" presName="compNode" presStyleCnt="0"/>
      <dgm:spPr/>
    </dgm:pt>
    <dgm:pt modelId="{13AE7F7D-953B-43C8-A741-614009568039}" type="pres">
      <dgm:prSet presAssocID="{EC60FA9F-806E-4BDF-AA57-AEFFFA27659E}" presName="iconBgRect" presStyleLbl="bgShp" presStyleIdx="4" presStyleCnt="6"/>
      <dgm:spPr/>
    </dgm:pt>
    <dgm:pt modelId="{E11710DC-FC9A-45DF-9E10-9FF1A6412E75}" type="pres">
      <dgm:prSet presAssocID="{EC60FA9F-806E-4BDF-AA57-AEFFFA27659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28F3BAB4-029C-4F57-9979-896DE15F5A64}" type="pres">
      <dgm:prSet presAssocID="{EC60FA9F-806E-4BDF-AA57-AEFFFA27659E}" presName="spaceRect" presStyleCnt="0"/>
      <dgm:spPr/>
    </dgm:pt>
    <dgm:pt modelId="{1AF5F602-B72C-4F97-AAB4-D366E74298EE}" type="pres">
      <dgm:prSet presAssocID="{EC60FA9F-806E-4BDF-AA57-AEFFFA27659E}" presName="textRect" presStyleLbl="revTx" presStyleIdx="4" presStyleCnt="6">
        <dgm:presLayoutVars>
          <dgm:chMax val="1"/>
          <dgm:chPref val="1"/>
        </dgm:presLayoutVars>
      </dgm:prSet>
      <dgm:spPr/>
    </dgm:pt>
    <dgm:pt modelId="{0DAFDD55-9246-48D6-8D7A-528B2F03B939}" type="pres">
      <dgm:prSet presAssocID="{8FD4E0BB-22EB-4A28-BC7C-746A12D4063B}" presName="sibTrans" presStyleLbl="sibTrans2D1" presStyleIdx="0" presStyleCnt="0"/>
      <dgm:spPr/>
    </dgm:pt>
    <dgm:pt modelId="{2A0257DE-1235-4DE7-A99D-BD2CA025F8FC}" type="pres">
      <dgm:prSet presAssocID="{58BF7867-C64E-40C7-B393-D06EAD20EC2D}" presName="compNode" presStyleCnt="0"/>
      <dgm:spPr/>
    </dgm:pt>
    <dgm:pt modelId="{9DAA88B8-3DC2-458A-8898-5F1D5E35A7AF}" type="pres">
      <dgm:prSet presAssocID="{58BF7867-C64E-40C7-B393-D06EAD20EC2D}" presName="iconBgRect" presStyleLbl="bgShp" presStyleIdx="5" presStyleCnt="6"/>
      <dgm:spPr/>
    </dgm:pt>
    <dgm:pt modelId="{84C080D3-0FA6-46E8-BD56-CE1A43D2EF46}" type="pres">
      <dgm:prSet presAssocID="{58BF7867-C64E-40C7-B393-D06EAD20EC2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loud"/>
        </a:ext>
      </dgm:extLst>
    </dgm:pt>
    <dgm:pt modelId="{7873D3CE-30DF-4710-89E4-60B41D54ACC2}" type="pres">
      <dgm:prSet presAssocID="{58BF7867-C64E-40C7-B393-D06EAD20EC2D}" presName="spaceRect" presStyleCnt="0"/>
      <dgm:spPr/>
    </dgm:pt>
    <dgm:pt modelId="{F88624D0-1C2B-4A6C-B51E-1F51FBD4F190}" type="pres">
      <dgm:prSet presAssocID="{58BF7867-C64E-40C7-B393-D06EAD20EC2D}" presName="textRect" presStyleLbl="revTx" presStyleIdx="5" presStyleCnt="6">
        <dgm:presLayoutVars>
          <dgm:chMax val="1"/>
          <dgm:chPref val="1"/>
        </dgm:presLayoutVars>
      </dgm:prSet>
      <dgm:spPr/>
    </dgm:pt>
  </dgm:ptLst>
  <dgm:cxnLst>
    <dgm:cxn modelId="{CB81B20A-D744-4D4A-8D95-09C1DCC8B26E}" type="presOf" srcId="{855D1B6B-AF61-4B74-8BFA-3B4B9F8F63D8}" destId="{E3A7799E-365F-441A-B00E-7823AD8C9D56}" srcOrd="0" destOrd="0" presId="urn:microsoft.com/office/officeart/2018/2/layout/IconCircleList"/>
    <dgm:cxn modelId="{2116C43E-E709-47B0-8A19-BAD1D0E5ACFF}" srcId="{4524247E-E56A-48A1-868D-349CCC709348}" destId="{1C6741CA-E340-4E90-884B-31911C8678D0}" srcOrd="3" destOrd="0" parTransId="{932863F5-8B6A-45E9-9006-3471389C8899}" sibTransId="{B31CA88B-61CD-4A4D-8DB6-DC71DACAEBF5}"/>
    <dgm:cxn modelId="{D113535B-FE9C-411F-9AF2-A16FE3B392F6}" srcId="{4524247E-E56A-48A1-868D-349CCC709348}" destId="{58BF7867-C64E-40C7-B393-D06EAD20EC2D}" srcOrd="5" destOrd="0" parTransId="{336BE3FD-A06D-4417-B92C-C2B32E0436D2}" sibTransId="{16616064-11F8-4402-8610-EAB85CDA8A91}"/>
    <dgm:cxn modelId="{EB3FCE5E-24A6-4BEB-B10F-F7122AB46886}" type="presOf" srcId="{B31CA88B-61CD-4A4D-8DB6-DC71DACAEBF5}" destId="{BFF2FD61-D2B3-4463-957F-739E9A480F2F}" srcOrd="0" destOrd="0" presId="urn:microsoft.com/office/officeart/2018/2/layout/IconCircleList"/>
    <dgm:cxn modelId="{848A836A-5C9F-4ED4-815F-1A35C46C0291}" type="presOf" srcId="{EC60FA9F-806E-4BDF-AA57-AEFFFA27659E}" destId="{1AF5F602-B72C-4F97-AAB4-D366E74298EE}" srcOrd="0" destOrd="0" presId="urn:microsoft.com/office/officeart/2018/2/layout/IconCircleList"/>
    <dgm:cxn modelId="{D6913E4B-E34E-40D2-A841-1D828FDE03E0}" srcId="{4524247E-E56A-48A1-868D-349CCC709348}" destId="{17701306-0F43-4754-AA85-4A68485CAEA9}" srcOrd="0" destOrd="0" parTransId="{590849E5-A57A-4533-97CA-025545DF2498}" sibTransId="{855D1B6B-AF61-4B74-8BFA-3B4B9F8F63D8}"/>
    <dgm:cxn modelId="{395EAA4D-C2AA-4DE5-B0B7-B1511BDC0083}" type="presOf" srcId="{17701306-0F43-4754-AA85-4A68485CAEA9}" destId="{64570792-CA79-4F7D-BF2C-C5B512C4C3F7}" srcOrd="0" destOrd="0" presId="urn:microsoft.com/office/officeart/2018/2/layout/IconCircleList"/>
    <dgm:cxn modelId="{15918455-170F-4548-8F7F-83B719AD9394}" type="presOf" srcId="{34635378-B4BA-4E0F-BDFE-69CE06909F30}" destId="{185EF50E-0484-4D55-87C9-2BB720AE7057}" srcOrd="0" destOrd="0" presId="urn:microsoft.com/office/officeart/2018/2/layout/IconCircleList"/>
    <dgm:cxn modelId="{67BBFB59-0377-405F-96EA-9A02A0CAF540}" srcId="{4524247E-E56A-48A1-868D-349CCC709348}" destId="{ACC18762-E081-4E41-BBF8-83EF2EDDB38C}" srcOrd="1" destOrd="0" parTransId="{9D7CCBA1-CBBF-47A7-9EAE-7900D33A3286}" sibTransId="{B89FCA53-5828-425E-88EE-17682A84DB62}"/>
    <dgm:cxn modelId="{D984FC7A-CBF5-43EF-8618-261E9BDD631E}" type="presOf" srcId="{8FD4E0BB-22EB-4A28-BC7C-746A12D4063B}" destId="{0DAFDD55-9246-48D6-8D7A-528B2F03B939}" srcOrd="0" destOrd="0" presId="urn:microsoft.com/office/officeart/2018/2/layout/IconCircleList"/>
    <dgm:cxn modelId="{4F48E49B-18A2-4D4E-A09C-FF3C50B90B96}" srcId="{4524247E-E56A-48A1-868D-349CCC709348}" destId="{A7BE5C18-1D8D-48B3-8130-52EE83A14DB6}" srcOrd="2" destOrd="0" parTransId="{6394B3E4-8969-4AFC-829E-8C10463671BE}" sibTransId="{34635378-B4BA-4E0F-BDFE-69CE06909F30}"/>
    <dgm:cxn modelId="{D959FCA3-773B-4D9B-88E8-D59B26038F3C}" type="presOf" srcId="{ACC18762-E081-4E41-BBF8-83EF2EDDB38C}" destId="{E6F241FF-2A84-4145-8746-5DF109967CF9}" srcOrd="0" destOrd="0" presId="urn:microsoft.com/office/officeart/2018/2/layout/IconCircleList"/>
    <dgm:cxn modelId="{FF7367A5-21E3-4015-AEAD-2E229DEA31AF}" type="presOf" srcId="{A7BE5C18-1D8D-48B3-8130-52EE83A14DB6}" destId="{32F54C7B-F98C-4DA1-8AB8-C6CF05D9AA5B}" srcOrd="0" destOrd="0" presId="urn:microsoft.com/office/officeart/2018/2/layout/IconCircleList"/>
    <dgm:cxn modelId="{20B976AA-AF9B-4973-9693-EDC58AB2DB34}" type="presOf" srcId="{1C6741CA-E340-4E90-884B-31911C8678D0}" destId="{FB7FF7A1-030A-4B9A-B12F-C99BFB60A5F4}" srcOrd="0" destOrd="0" presId="urn:microsoft.com/office/officeart/2018/2/layout/IconCircleList"/>
    <dgm:cxn modelId="{F89C2FB8-5E1C-43B3-9D95-C72111E2929D}" type="presOf" srcId="{4524247E-E56A-48A1-868D-349CCC709348}" destId="{44AED6EC-53EA-4D10-91E0-22CF746FCBA2}" srcOrd="0" destOrd="0" presId="urn:microsoft.com/office/officeart/2018/2/layout/IconCircleList"/>
    <dgm:cxn modelId="{6BC950BB-24D0-4550-9B43-1F0657FFF23B}" srcId="{4524247E-E56A-48A1-868D-349CCC709348}" destId="{EC60FA9F-806E-4BDF-AA57-AEFFFA27659E}" srcOrd="4" destOrd="0" parTransId="{CAF0816B-2347-4D77-BB47-8B61BE2877B4}" sibTransId="{8FD4E0BB-22EB-4A28-BC7C-746A12D4063B}"/>
    <dgm:cxn modelId="{317202CE-32A9-47E6-B84C-14611E399B6A}" type="presOf" srcId="{B89FCA53-5828-425E-88EE-17682A84DB62}" destId="{0A217BC4-082C-4F42-AD95-57D9B32F152C}" srcOrd="0" destOrd="0" presId="urn:microsoft.com/office/officeart/2018/2/layout/IconCircleList"/>
    <dgm:cxn modelId="{E70F51E0-37EA-49DC-9313-E87D401BAC71}" type="presOf" srcId="{58BF7867-C64E-40C7-B393-D06EAD20EC2D}" destId="{F88624D0-1C2B-4A6C-B51E-1F51FBD4F190}" srcOrd="0" destOrd="0" presId="urn:microsoft.com/office/officeart/2018/2/layout/IconCircleList"/>
    <dgm:cxn modelId="{FABBC3FB-1A42-4282-8D97-A38BB3CEC19D}" type="presParOf" srcId="{44AED6EC-53EA-4D10-91E0-22CF746FCBA2}" destId="{44D007C2-A036-4DD9-BDFC-820D30D1C73E}" srcOrd="0" destOrd="0" presId="urn:microsoft.com/office/officeart/2018/2/layout/IconCircleList"/>
    <dgm:cxn modelId="{8A3C5689-D222-4A67-9676-EB8EC1CD4B20}" type="presParOf" srcId="{44D007C2-A036-4DD9-BDFC-820D30D1C73E}" destId="{8FCF89DD-7C2F-4C53-8073-6430C109A8F6}" srcOrd="0" destOrd="0" presId="urn:microsoft.com/office/officeart/2018/2/layout/IconCircleList"/>
    <dgm:cxn modelId="{12585BA6-FDF7-4F36-A524-1C6D96E9128F}" type="presParOf" srcId="{8FCF89DD-7C2F-4C53-8073-6430C109A8F6}" destId="{F40B0D87-FB81-4B16-860D-3CD73E06F5FE}" srcOrd="0" destOrd="0" presId="urn:microsoft.com/office/officeart/2018/2/layout/IconCircleList"/>
    <dgm:cxn modelId="{3FDA4146-5193-4868-8763-0C4CC6E37783}" type="presParOf" srcId="{8FCF89DD-7C2F-4C53-8073-6430C109A8F6}" destId="{E39BAE62-CBF8-40B1-9438-BC085680DF44}" srcOrd="1" destOrd="0" presId="urn:microsoft.com/office/officeart/2018/2/layout/IconCircleList"/>
    <dgm:cxn modelId="{13DC94CE-658D-4E1A-AC22-4688A28C3719}" type="presParOf" srcId="{8FCF89DD-7C2F-4C53-8073-6430C109A8F6}" destId="{C2C10F17-AE1F-4133-83AE-9B9B11C63DA9}" srcOrd="2" destOrd="0" presId="urn:microsoft.com/office/officeart/2018/2/layout/IconCircleList"/>
    <dgm:cxn modelId="{85D02463-B838-40DA-8686-662F1725800E}" type="presParOf" srcId="{8FCF89DD-7C2F-4C53-8073-6430C109A8F6}" destId="{64570792-CA79-4F7D-BF2C-C5B512C4C3F7}" srcOrd="3" destOrd="0" presId="urn:microsoft.com/office/officeart/2018/2/layout/IconCircleList"/>
    <dgm:cxn modelId="{3B6EA6EA-50CF-4060-B5E4-63D029649AF1}" type="presParOf" srcId="{44D007C2-A036-4DD9-BDFC-820D30D1C73E}" destId="{E3A7799E-365F-441A-B00E-7823AD8C9D56}" srcOrd="1" destOrd="0" presId="urn:microsoft.com/office/officeart/2018/2/layout/IconCircleList"/>
    <dgm:cxn modelId="{BB8A1996-442F-43B9-A863-EFE17CD59A5B}" type="presParOf" srcId="{44D007C2-A036-4DD9-BDFC-820D30D1C73E}" destId="{8FDB7C9B-3D49-47B7-BD2D-7B1E15329056}" srcOrd="2" destOrd="0" presId="urn:microsoft.com/office/officeart/2018/2/layout/IconCircleList"/>
    <dgm:cxn modelId="{E57D917F-EB65-4AC9-9B04-5E6D89BAAE79}" type="presParOf" srcId="{8FDB7C9B-3D49-47B7-BD2D-7B1E15329056}" destId="{8AC0CC6B-9E27-4E9B-AD12-16198CB600C4}" srcOrd="0" destOrd="0" presId="urn:microsoft.com/office/officeart/2018/2/layout/IconCircleList"/>
    <dgm:cxn modelId="{7CBB93E5-CAE9-4705-960E-C68D43C4860A}" type="presParOf" srcId="{8FDB7C9B-3D49-47B7-BD2D-7B1E15329056}" destId="{99A0DB42-EBD9-4487-8A1B-D2FE15EDA420}" srcOrd="1" destOrd="0" presId="urn:microsoft.com/office/officeart/2018/2/layout/IconCircleList"/>
    <dgm:cxn modelId="{59E6BD70-0324-4BC0-8D0D-B12EF6CA54D7}" type="presParOf" srcId="{8FDB7C9B-3D49-47B7-BD2D-7B1E15329056}" destId="{525DA717-264C-47E9-9779-D6C852001B21}" srcOrd="2" destOrd="0" presId="urn:microsoft.com/office/officeart/2018/2/layout/IconCircleList"/>
    <dgm:cxn modelId="{458A1F65-2BAE-4B4F-BBD1-09B36E4771C1}" type="presParOf" srcId="{8FDB7C9B-3D49-47B7-BD2D-7B1E15329056}" destId="{E6F241FF-2A84-4145-8746-5DF109967CF9}" srcOrd="3" destOrd="0" presId="urn:microsoft.com/office/officeart/2018/2/layout/IconCircleList"/>
    <dgm:cxn modelId="{FFFC7CD3-04FF-49A3-9DE6-0959BAF55D48}" type="presParOf" srcId="{44D007C2-A036-4DD9-BDFC-820D30D1C73E}" destId="{0A217BC4-082C-4F42-AD95-57D9B32F152C}" srcOrd="3" destOrd="0" presId="urn:microsoft.com/office/officeart/2018/2/layout/IconCircleList"/>
    <dgm:cxn modelId="{B8A20A3A-41AC-47B5-BDE7-E6FA028D02F7}" type="presParOf" srcId="{44D007C2-A036-4DD9-BDFC-820D30D1C73E}" destId="{5611E19F-C729-40BD-A584-3DF7EB78D922}" srcOrd="4" destOrd="0" presId="urn:microsoft.com/office/officeart/2018/2/layout/IconCircleList"/>
    <dgm:cxn modelId="{9033CBE1-9941-4CFE-A43D-9A8CB835F901}" type="presParOf" srcId="{5611E19F-C729-40BD-A584-3DF7EB78D922}" destId="{5FFA5991-8352-4DEA-A6CD-894B7214E585}" srcOrd="0" destOrd="0" presId="urn:microsoft.com/office/officeart/2018/2/layout/IconCircleList"/>
    <dgm:cxn modelId="{C5780210-0113-4DEE-991F-89DB3CC431C0}" type="presParOf" srcId="{5611E19F-C729-40BD-A584-3DF7EB78D922}" destId="{20A1B71D-7DBB-4CEF-9BC1-0B7AB31076CD}" srcOrd="1" destOrd="0" presId="urn:microsoft.com/office/officeart/2018/2/layout/IconCircleList"/>
    <dgm:cxn modelId="{5B43AA22-152D-40F2-BD77-02A8586A51AD}" type="presParOf" srcId="{5611E19F-C729-40BD-A584-3DF7EB78D922}" destId="{6D805DDC-8B42-4904-86BB-134A42A29571}" srcOrd="2" destOrd="0" presId="urn:microsoft.com/office/officeart/2018/2/layout/IconCircleList"/>
    <dgm:cxn modelId="{27E6DF33-266A-4F54-975B-6F0B0D24F986}" type="presParOf" srcId="{5611E19F-C729-40BD-A584-3DF7EB78D922}" destId="{32F54C7B-F98C-4DA1-8AB8-C6CF05D9AA5B}" srcOrd="3" destOrd="0" presId="urn:microsoft.com/office/officeart/2018/2/layout/IconCircleList"/>
    <dgm:cxn modelId="{6B31FF21-DBA7-4949-BF1D-02E414B2BB90}" type="presParOf" srcId="{44D007C2-A036-4DD9-BDFC-820D30D1C73E}" destId="{185EF50E-0484-4D55-87C9-2BB720AE7057}" srcOrd="5" destOrd="0" presId="urn:microsoft.com/office/officeart/2018/2/layout/IconCircleList"/>
    <dgm:cxn modelId="{01C475E9-EEBB-452C-B0C0-391473690CC7}" type="presParOf" srcId="{44D007C2-A036-4DD9-BDFC-820D30D1C73E}" destId="{33B20AF8-833B-4AC2-9F99-0BD4A0270028}" srcOrd="6" destOrd="0" presId="urn:microsoft.com/office/officeart/2018/2/layout/IconCircleList"/>
    <dgm:cxn modelId="{B7C69250-C0B8-4C51-9334-33214A9917AD}" type="presParOf" srcId="{33B20AF8-833B-4AC2-9F99-0BD4A0270028}" destId="{4B51676E-A65A-42D9-83ED-946552367DE4}" srcOrd="0" destOrd="0" presId="urn:microsoft.com/office/officeart/2018/2/layout/IconCircleList"/>
    <dgm:cxn modelId="{6768BE3F-CA61-4C4D-8AD0-7352A256FEEA}" type="presParOf" srcId="{33B20AF8-833B-4AC2-9F99-0BD4A0270028}" destId="{CEEA4D74-8B56-414E-B63D-4C313F6E1AB9}" srcOrd="1" destOrd="0" presId="urn:microsoft.com/office/officeart/2018/2/layout/IconCircleList"/>
    <dgm:cxn modelId="{0BFCCDD9-61D4-4DF2-B36E-3F83233C5CA1}" type="presParOf" srcId="{33B20AF8-833B-4AC2-9F99-0BD4A0270028}" destId="{DEF7A384-DFCB-4410-ADBC-9159142F8765}" srcOrd="2" destOrd="0" presId="urn:microsoft.com/office/officeart/2018/2/layout/IconCircleList"/>
    <dgm:cxn modelId="{F04EEA2C-3108-48FA-BA0A-CE9767BBE982}" type="presParOf" srcId="{33B20AF8-833B-4AC2-9F99-0BD4A0270028}" destId="{FB7FF7A1-030A-4B9A-B12F-C99BFB60A5F4}" srcOrd="3" destOrd="0" presId="urn:microsoft.com/office/officeart/2018/2/layout/IconCircleList"/>
    <dgm:cxn modelId="{55A55EA1-1B49-47CE-AD34-A45849091ED1}" type="presParOf" srcId="{44D007C2-A036-4DD9-BDFC-820D30D1C73E}" destId="{BFF2FD61-D2B3-4463-957F-739E9A480F2F}" srcOrd="7" destOrd="0" presId="urn:microsoft.com/office/officeart/2018/2/layout/IconCircleList"/>
    <dgm:cxn modelId="{6DB7D996-0A47-40BA-9671-41BBBAD60BE2}" type="presParOf" srcId="{44D007C2-A036-4DD9-BDFC-820D30D1C73E}" destId="{3997C684-9FA1-4E11-80DC-9444F17E7B13}" srcOrd="8" destOrd="0" presId="urn:microsoft.com/office/officeart/2018/2/layout/IconCircleList"/>
    <dgm:cxn modelId="{483E3260-312C-4F18-AA3D-04060E5BFFF1}" type="presParOf" srcId="{3997C684-9FA1-4E11-80DC-9444F17E7B13}" destId="{13AE7F7D-953B-43C8-A741-614009568039}" srcOrd="0" destOrd="0" presId="urn:microsoft.com/office/officeart/2018/2/layout/IconCircleList"/>
    <dgm:cxn modelId="{DC63AE46-6100-4E8F-ADCB-C5883DF4A951}" type="presParOf" srcId="{3997C684-9FA1-4E11-80DC-9444F17E7B13}" destId="{E11710DC-FC9A-45DF-9E10-9FF1A6412E75}" srcOrd="1" destOrd="0" presId="urn:microsoft.com/office/officeart/2018/2/layout/IconCircleList"/>
    <dgm:cxn modelId="{0AA2AC25-6D45-4536-B543-88497F3FCC98}" type="presParOf" srcId="{3997C684-9FA1-4E11-80DC-9444F17E7B13}" destId="{28F3BAB4-029C-4F57-9979-896DE15F5A64}" srcOrd="2" destOrd="0" presId="urn:microsoft.com/office/officeart/2018/2/layout/IconCircleList"/>
    <dgm:cxn modelId="{8E45907F-4814-4A5A-88E3-E0B8CB4D73EC}" type="presParOf" srcId="{3997C684-9FA1-4E11-80DC-9444F17E7B13}" destId="{1AF5F602-B72C-4F97-AAB4-D366E74298EE}" srcOrd="3" destOrd="0" presId="urn:microsoft.com/office/officeart/2018/2/layout/IconCircleList"/>
    <dgm:cxn modelId="{3AB54DD3-FCD0-48AA-8D67-8D3D2632B85D}" type="presParOf" srcId="{44D007C2-A036-4DD9-BDFC-820D30D1C73E}" destId="{0DAFDD55-9246-48D6-8D7A-528B2F03B939}" srcOrd="9" destOrd="0" presId="urn:microsoft.com/office/officeart/2018/2/layout/IconCircleList"/>
    <dgm:cxn modelId="{96B8F900-9386-458B-A602-B1E0D985FC30}" type="presParOf" srcId="{44D007C2-A036-4DD9-BDFC-820D30D1C73E}" destId="{2A0257DE-1235-4DE7-A99D-BD2CA025F8FC}" srcOrd="10" destOrd="0" presId="urn:microsoft.com/office/officeart/2018/2/layout/IconCircleList"/>
    <dgm:cxn modelId="{35F7835B-ABA5-4DD0-8CDA-F9AB795B899E}" type="presParOf" srcId="{2A0257DE-1235-4DE7-A99D-BD2CA025F8FC}" destId="{9DAA88B8-3DC2-458A-8898-5F1D5E35A7AF}" srcOrd="0" destOrd="0" presId="urn:microsoft.com/office/officeart/2018/2/layout/IconCircleList"/>
    <dgm:cxn modelId="{AB96A585-6107-4E17-A9C0-2CFF557AD34E}" type="presParOf" srcId="{2A0257DE-1235-4DE7-A99D-BD2CA025F8FC}" destId="{84C080D3-0FA6-46E8-BD56-CE1A43D2EF46}" srcOrd="1" destOrd="0" presId="urn:microsoft.com/office/officeart/2018/2/layout/IconCircleList"/>
    <dgm:cxn modelId="{BB9B230C-6112-4FFE-8F9D-0BECCA3E6B1B}" type="presParOf" srcId="{2A0257DE-1235-4DE7-A99D-BD2CA025F8FC}" destId="{7873D3CE-30DF-4710-89E4-60B41D54ACC2}" srcOrd="2" destOrd="0" presId="urn:microsoft.com/office/officeart/2018/2/layout/IconCircleList"/>
    <dgm:cxn modelId="{36AA6EBF-2B80-41FA-B4F1-35102757B9D7}" type="presParOf" srcId="{2A0257DE-1235-4DE7-A99D-BD2CA025F8FC}" destId="{F88624D0-1C2B-4A6C-B51E-1F51FBD4F19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EAF8553-2028-4BBB-B006-31275A0EA422}"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D9AD439-88F3-47C7-951B-2DD7F9996A15}">
      <dgm:prSet/>
      <dgm:spPr/>
      <dgm:t>
        <a:bodyPr/>
        <a:lstStyle/>
        <a:p>
          <a:pPr>
            <a:lnSpc>
              <a:spcPct val="100000"/>
            </a:lnSpc>
          </a:pPr>
          <a:r>
            <a:rPr lang="en-US" b="1" i="0" baseline="0"/>
            <a:t>IaaS (Infrastructure as a Service)</a:t>
          </a:r>
          <a:r>
            <a:rPr lang="en-US" b="0" i="0" baseline="0"/>
            <a:t>: Virtual machines, storage.</a:t>
          </a:r>
          <a:endParaRPr lang="en-US"/>
        </a:p>
      </dgm:t>
    </dgm:pt>
    <dgm:pt modelId="{9E2D879D-19A6-436F-91F7-EDFEA3575E22}" type="parTrans" cxnId="{9B381CCC-F9A4-488C-8D1C-4CCD654F7D02}">
      <dgm:prSet/>
      <dgm:spPr/>
      <dgm:t>
        <a:bodyPr/>
        <a:lstStyle/>
        <a:p>
          <a:endParaRPr lang="en-US"/>
        </a:p>
      </dgm:t>
    </dgm:pt>
    <dgm:pt modelId="{F79DD96A-EB06-459B-95F9-01ECC46F8904}" type="sibTrans" cxnId="{9B381CCC-F9A4-488C-8D1C-4CCD654F7D02}">
      <dgm:prSet/>
      <dgm:spPr/>
      <dgm:t>
        <a:bodyPr/>
        <a:lstStyle/>
        <a:p>
          <a:endParaRPr lang="en-US"/>
        </a:p>
      </dgm:t>
    </dgm:pt>
    <dgm:pt modelId="{C0FDE3BC-6090-400A-A199-97D104E24A5E}">
      <dgm:prSet/>
      <dgm:spPr/>
      <dgm:t>
        <a:bodyPr/>
        <a:lstStyle/>
        <a:p>
          <a:pPr>
            <a:lnSpc>
              <a:spcPct val="100000"/>
            </a:lnSpc>
          </a:pPr>
          <a:r>
            <a:rPr lang="en-US" b="1" i="0" baseline="0"/>
            <a:t>PaaS (Platform as a Service)</a:t>
          </a:r>
          <a:r>
            <a:rPr lang="en-US" b="0" i="0" baseline="0"/>
            <a:t>: Cloud-based platforms for building, testing, and deploying apps.</a:t>
          </a:r>
          <a:endParaRPr lang="en-US"/>
        </a:p>
      </dgm:t>
    </dgm:pt>
    <dgm:pt modelId="{1F13131E-235E-494E-BFAC-74886FBDF2B4}" type="parTrans" cxnId="{0A7B49D6-D2AF-4C51-B250-6E8BBACB4BB0}">
      <dgm:prSet/>
      <dgm:spPr/>
      <dgm:t>
        <a:bodyPr/>
        <a:lstStyle/>
        <a:p>
          <a:endParaRPr lang="en-US"/>
        </a:p>
      </dgm:t>
    </dgm:pt>
    <dgm:pt modelId="{F4BB4B3C-4AEA-4230-9DE4-16E9FED30DE9}" type="sibTrans" cxnId="{0A7B49D6-D2AF-4C51-B250-6E8BBACB4BB0}">
      <dgm:prSet/>
      <dgm:spPr/>
      <dgm:t>
        <a:bodyPr/>
        <a:lstStyle/>
        <a:p>
          <a:endParaRPr lang="en-US"/>
        </a:p>
      </dgm:t>
    </dgm:pt>
    <dgm:pt modelId="{E7957D9D-3AA4-4754-938A-FC2F872F3943}">
      <dgm:prSet/>
      <dgm:spPr/>
      <dgm:t>
        <a:bodyPr/>
        <a:lstStyle/>
        <a:p>
          <a:pPr>
            <a:lnSpc>
              <a:spcPct val="100000"/>
            </a:lnSpc>
          </a:pPr>
          <a:r>
            <a:rPr lang="en-US" b="1" i="0" baseline="0"/>
            <a:t>SaaS (Software as a Service)</a:t>
          </a:r>
          <a:r>
            <a:rPr lang="en-US" b="0" i="0" baseline="0"/>
            <a:t>: Fully managed applications provided over the internet. </a:t>
          </a:r>
          <a:endParaRPr lang="en-US"/>
        </a:p>
      </dgm:t>
    </dgm:pt>
    <dgm:pt modelId="{FD600AF3-E60D-4FDE-9326-A55CAD647C61}" type="parTrans" cxnId="{60509DBD-BF16-4A69-A34C-C7C3F6BC3F17}">
      <dgm:prSet/>
      <dgm:spPr/>
      <dgm:t>
        <a:bodyPr/>
        <a:lstStyle/>
        <a:p>
          <a:endParaRPr lang="en-US"/>
        </a:p>
      </dgm:t>
    </dgm:pt>
    <dgm:pt modelId="{54638C2D-D679-41DE-AAE0-E1168C790306}" type="sibTrans" cxnId="{60509DBD-BF16-4A69-A34C-C7C3F6BC3F17}">
      <dgm:prSet/>
      <dgm:spPr/>
      <dgm:t>
        <a:bodyPr/>
        <a:lstStyle/>
        <a:p>
          <a:endParaRPr lang="en-US"/>
        </a:p>
      </dgm:t>
    </dgm:pt>
    <dgm:pt modelId="{4BBC300C-FA6E-4126-A1A7-53C10E58FA83}" type="pres">
      <dgm:prSet presAssocID="{6EAF8553-2028-4BBB-B006-31275A0EA422}" presName="root" presStyleCnt="0">
        <dgm:presLayoutVars>
          <dgm:dir/>
          <dgm:resizeHandles val="exact"/>
        </dgm:presLayoutVars>
      </dgm:prSet>
      <dgm:spPr/>
    </dgm:pt>
    <dgm:pt modelId="{05124E1F-A3F5-42C8-BF52-D3D97D9F000B}" type="pres">
      <dgm:prSet presAssocID="{8D9AD439-88F3-47C7-951B-2DD7F9996A15}" presName="compNode" presStyleCnt="0"/>
      <dgm:spPr/>
    </dgm:pt>
    <dgm:pt modelId="{41F49EDD-EF36-4DC8-AA4D-59645024A892}" type="pres">
      <dgm:prSet presAssocID="{8D9AD439-88F3-47C7-951B-2DD7F9996A1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103C13A5-7B98-4343-8A4D-4766FBF16F49}" type="pres">
      <dgm:prSet presAssocID="{8D9AD439-88F3-47C7-951B-2DD7F9996A15}" presName="spaceRect" presStyleCnt="0"/>
      <dgm:spPr/>
    </dgm:pt>
    <dgm:pt modelId="{0CD59769-D5A3-4CA4-A149-F16F38021C42}" type="pres">
      <dgm:prSet presAssocID="{8D9AD439-88F3-47C7-951B-2DD7F9996A15}" presName="textRect" presStyleLbl="revTx" presStyleIdx="0" presStyleCnt="3">
        <dgm:presLayoutVars>
          <dgm:chMax val="1"/>
          <dgm:chPref val="1"/>
        </dgm:presLayoutVars>
      </dgm:prSet>
      <dgm:spPr/>
    </dgm:pt>
    <dgm:pt modelId="{54D5006E-0C0E-42C7-BBAE-8EF72DF31E1F}" type="pres">
      <dgm:prSet presAssocID="{F79DD96A-EB06-459B-95F9-01ECC46F8904}" presName="sibTrans" presStyleCnt="0"/>
      <dgm:spPr/>
    </dgm:pt>
    <dgm:pt modelId="{07BD70F4-3B80-4ECC-8F8C-29B614949FE8}" type="pres">
      <dgm:prSet presAssocID="{C0FDE3BC-6090-400A-A199-97D104E24A5E}" presName="compNode" presStyleCnt="0"/>
      <dgm:spPr/>
    </dgm:pt>
    <dgm:pt modelId="{52C22642-4EFA-4A2A-92F4-F04F5C0021A5}" type="pres">
      <dgm:prSet presAssocID="{C0FDE3BC-6090-400A-A199-97D104E24A5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yncing Cloud"/>
        </a:ext>
      </dgm:extLst>
    </dgm:pt>
    <dgm:pt modelId="{A073DC60-5A0F-4FAC-A2CD-9FEB8078A88D}" type="pres">
      <dgm:prSet presAssocID="{C0FDE3BC-6090-400A-A199-97D104E24A5E}" presName="spaceRect" presStyleCnt="0"/>
      <dgm:spPr/>
    </dgm:pt>
    <dgm:pt modelId="{D23E2DFD-9851-405C-9628-83DD58AC7568}" type="pres">
      <dgm:prSet presAssocID="{C0FDE3BC-6090-400A-A199-97D104E24A5E}" presName="textRect" presStyleLbl="revTx" presStyleIdx="1" presStyleCnt="3">
        <dgm:presLayoutVars>
          <dgm:chMax val="1"/>
          <dgm:chPref val="1"/>
        </dgm:presLayoutVars>
      </dgm:prSet>
      <dgm:spPr/>
    </dgm:pt>
    <dgm:pt modelId="{E02BEFC2-1B66-4FC7-8AB2-9A7D5373CECC}" type="pres">
      <dgm:prSet presAssocID="{F4BB4B3C-4AEA-4230-9DE4-16E9FED30DE9}" presName="sibTrans" presStyleCnt="0"/>
      <dgm:spPr/>
    </dgm:pt>
    <dgm:pt modelId="{5A879347-E83B-4C64-B787-9D82BF86EDF1}" type="pres">
      <dgm:prSet presAssocID="{E7957D9D-3AA4-4754-938A-FC2F872F3943}" presName="compNode" presStyleCnt="0"/>
      <dgm:spPr/>
    </dgm:pt>
    <dgm:pt modelId="{F4D77442-174B-4BED-887A-877E0F580893}" type="pres">
      <dgm:prSet presAssocID="{E7957D9D-3AA4-4754-938A-FC2F872F394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Computing"/>
        </a:ext>
      </dgm:extLst>
    </dgm:pt>
    <dgm:pt modelId="{E74209ED-6830-4380-8A0D-DC0F286FD51F}" type="pres">
      <dgm:prSet presAssocID="{E7957D9D-3AA4-4754-938A-FC2F872F3943}" presName="spaceRect" presStyleCnt="0"/>
      <dgm:spPr/>
    </dgm:pt>
    <dgm:pt modelId="{656B0AB6-B422-4200-BEDD-96AA159E0552}" type="pres">
      <dgm:prSet presAssocID="{E7957D9D-3AA4-4754-938A-FC2F872F3943}" presName="textRect" presStyleLbl="revTx" presStyleIdx="2" presStyleCnt="3">
        <dgm:presLayoutVars>
          <dgm:chMax val="1"/>
          <dgm:chPref val="1"/>
        </dgm:presLayoutVars>
      </dgm:prSet>
      <dgm:spPr/>
    </dgm:pt>
  </dgm:ptLst>
  <dgm:cxnLst>
    <dgm:cxn modelId="{30558235-1AE3-4F1C-A364-F154BF6FE021}" type="presOf" srcId="{8D9AD439-88F3-47C7-951B-2DD7F9996A15}" destId="{0CD59769-D5A3-4CA4-A149-F16F38021C42}" srcOrd="0" destOrd="0" presId="urn:microsoft.com/office/officeart/2018/2/layout/IconLabelList"/>
    <dgm:cxn modelId="{73849462-7521-4357-B1A2-3680829A41EF}" type="presOf" srcId="{C0FDE3BC-6090-400A-A199-97D104E24A5E}" destId="{D23E2DFD-9851-405C-9628-83DD58AC7568}" srcOrd="0" destOrd="0" presId="urn:microsoft.com/office/officeart/2018/2/layout/IconLabelList"/>
    <dgm:cxn modelId="{1CB1D7B3-5425-43F5-9208-A4FEFCA5E17E}" type="presOf" srcId="{6EAF8553-2028-4BBB-B006-31275A0EA422}" destId="{4BBC300C-FA6E-4126-A1A7-53C10E58FA83}" srcOrd="0" destOrd="0" presId="urn:microsoft.com/office/officeart/2018/2/layout/IconLabelList"/>
    <dgm:cxn modelId="{60509DBD-BF16-4A69-A34C-C7C3F6BC3F17}" srcId="{6EAF8553-2028-4BBB-B006-31275A0EA422}" destId="{E7957D9D-3AA4-4754-938A-FC2F872F3943}" srcOrd="2" destOrd="0" parTransId="{FD600AF3-E60D-4FDE-9326-A55CAD647C61}" sibTransId="{54638C2D-D679-41DE-AAE0-E1168C790306}"/>
    <dgm:cxn modelId="{C0C025CB-F4A1-4FE5-A2C2-1AF85E56A6A7}" type="presOf" srcId="{E7957D9D-3AA4-4754-938A-FC2F872F3943}" destId="{656B0AB6-B422-4200-BEDD-96AA159E0552}" srcOrd="0" destOrd="0" presId="urn:microsoft.com/office/officeart/2018/2/layout/IconLabelList"/>
    <dgm:cxn modelId="{9B381CCC-F9A4-488C-8D1C-4CCD654F7D02}" srcId="{6EAF8553-2028-4BBB-B006-31275A0EA422}" destId="{8D9AD439-88F3-47C7-951B-2DD7F9996A15}" srcOrd="0" destOrd="0" parTransId="{9E2D879D-19A6-436F-91F7-EDFEA3575E22}" sibTransId="{F79DD96A-EB06-459B-95F9-01ECC46F8904}"/>
    <dgm:cxn modelId="{0A7B49D6-D2AF-4C51-B250-6E8BBACB4BB0}" srcId="{6EAF8553-2028-4BBB-B006-31275A0EA422}" destId="{C0FDE3BC-6090-400A-A199-97D104E24A5E}" srcOrd="1" destOrd="0" parTransId="{1F13131E-235E-494E-BFAC-74886FBDF2B4}" sibTransId="{F4BB4B3C-4AEA-4230-9DE4-16E9FED30DE9}"/>
    <dgm:cxn modelId="{88266F0A-1193-402E-BEB7-26127E3D69F0}" type="presParOf" srcId="{4BBC300C-FA6E-4126-A1A7-53C10E58FA83}" destId="{05124E1F-A3F5-42C8-BF52-D3D97D9F000B}" srcOrd="0" destOrd="0" presId="urn:microsoft.com/office/officeart/2018/2/layout/IconLabelList"/>
    <dgm:cxn modelId="{93408B25-893E-4901-B80D-627FCD0F69E9}" type="presParOf" srcId="{05124E1F-A3F5-42C8-BF52-D3D97D9F000B}" destId="{41F49EDD-EF36-4DC8-AA4D-59645024A892}" srcOrd="0" destOrd="0" presId="urn:microsoft.com/office/officeart/2018/2/layout/IconLabelList"/>
    <dgm:cxn modelId="{631367AD-5F78-42EF-91B8-AC904AF91DF4}" type="presParOf" srcId="{05124E1F-A3F5-42C8-BF52-D3D97D9F000B}" destId="{103C13A5-7B98-4343-8A4D-4766FBF16F49}" srcOrd="1" destOrd="0" presId="urn:microsoft.com/office/officeart/2018/2/layout/IconLabelList"/>
    <dgm:cxn modelId="{EE0111B8-9C0F-4CFE-A1B6-950D6070512A}" type="presParOf" srcId="{05124E1F-A3F5-42C8-BF52-D3D97D9F000B}" destId="{0CD59769-D5A3-4CA4-A149-F16F38021C42}" srcOrd="2" destOrd="0" presId="urn:microsoft.com/office/officeart/2018/2/layout/IconLabelList"/>
    <dgm:cxn modelId="{47366E87-6F4A-49FA-A591-F9BAE3D8EA2E}" type="presParOf" srcId="{4BBC300C-FA6E-4126-A1A7-53C10E58FA83}" destId="{54D5006E-0C0E-42C7-BBAE-8EF72DF31E1F}" srcOrd="1" destOrd="0" presId="urn:microsoft.com/office/officeart/2018/2/layout/IconLabelList"/>
    <dgm:cxn modelId="{221BE58F-64F1-4B61-9F24-50A2B0016E26}" type="presParOf" srcId="{4BBC300C-FA6E-4126-A1A7-53C10E58FA83}" destId="{07BD70F4-3B80-4ECC-8F8C-29B614949FE8}" srcOrd="2" destOrd="0" presId="urn:microsoft.com/office/officeart/2018/2/layout/IconLabelList"/>
    <dgm:cxn modelId="{31371B8C-CBDA-4C35-AAD2-6013477CCE27}" type="presParOf" srcId="{07BD70F4-3B80-4ECC-8F8C-29B614949FE8}" destId="{52C22642-4EFA-4A2A-92F4-F04F5C0021A5}" srcOrd="0" destOrd="0" presId="urn:microsoft.com/office/officeart/2018/2/layout/IconLabelList"/>
    <dgm:cxn modelId="{13D41FF6-1E10-4C4A-986A-8157CB485AFE}" type="presParOf" srcId="{07BD70F4-3B80-4ECC-8F8C-29B614949FE8}" destId="{A073DC60-5A0F-4FAC-A2CD-9FEB8078A88D}" srcOrd="1" destOrd="0" presId="urn:microsoft.com/office/officeart/2018/2/layout/IconLabelList"/>
    <dgm:cxn modelId="{BB88EA38-843D-48C0-9023-5663142DB8A1}" type="presParOf" srcId="{07BD70F4-3B80-4ECC-8F8C-29B614949FE8}" destId="{D23E2DFD-9851-405C-9628-83DD58AC7568}" srcOrd="2" destOrd="0" presId="urn:microsoft.com/office/officeart/2018/2/layout/IconLabelList"/>
    <dgm:cxn modelId="{2BBADDF2-2C85-41CE-9B96-3F4A496EC066}" type="presParOf" srcId="{4BBC300C-FA6E-4126-A1A7-53C10E58FA83}" destId="{E02BEFC2-1B66-4FC7-8AB2-9A7D5373CECC}" srcOrd="3" destOrd="0" presId="urn:microsoft.com/office/officeart/2018/2/layout/IconLabelList"/>
    <dgm:cxn modelId="{41505978-D2F2-4B8A-B60B-8F47FEE18243}" type="presParOf" srcId="{4BBC300C-FA6E-4126-A1A7-53C10E58FA83}" destId="{5A879347-E83B-4C64-B787-9D82BF86EDF1}" srcOrd="4" destOrd="0" presId="urn:microsoft.com/office/officeart/2018/2/layout/IconLabelList"/>
    <dgm:cxn modelId="{56D1688C-5546-44FF-A5B5-F47998ACB099}" type="presParOf" srcId="{5A879347-E83B-4C64-B787-9D82BF86EDF1}" destId="{F4D77442-174B-4BED-887A-877E0F580893}" srcOrd="0" destOrd="0" presId="urn:microsoft.com/office/officeart/2018/2/layout/IconLabelList"/>
    <dgm:cxn modelId="{DF64A508-4896-47FA-91BD-4298BC797425}" type="presParOf" srcId="{5A879347-E83B-4C64-B787-9D82BF86EDF1}" destId="{E74209ED-6830-4380-8A0D-DC0F286FD51F}" srcOrd="1" destOrd="0" presId="urn:microsoft.com/office/officeart/2018/2/layout/IconLabelList"/>
    <dgm:cxn modelId="{EB98B7F3-2C4A-4F0C-BEB3-B61E255569EF}" type="presParOf" srcId="{5A879347-E83B-4C64-B787-9D82BF86EDF1}" destId="{656B0AB6-B422-4200-BEDD-96AA159E055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3943AE-B721-47BF-8680-B3B3FC1C62BD}">
      <dsp:nvSpPr>
        <dsp:cNvPr id="0" name=""/>
        <dsp:cNvSpPr/>
      </dsp:nvSpPr>
      <dsp:spPr>
        <a:xfrm>
          <a:off x="981836" y="594389"/>
          <a:ext cx="1057218" cy="10572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5D4B47-258B-48B8-BADB-574B09E74912}">
      <dsp:nvSpPr>
        <dsp:cNvPr id="0" name=""/>
        <dsp:cNvSpPr/>
      </dsp:nvSpPr>
      <dsp:spPr>
        <a:xfrm>
          <a:off x="133" y="1753835"/>
          <a:ext cx="3020625" cy="453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IN" sz="2500" kern="1200"/>
            <a:t>Independence</a:t>
          </a:r>
          <a:endParaRPr lang="en-US" sz="2500" kern="1200"/>
        </a:p>
      </dsp:txBody>
      <dsp:txXfrm>
        <a:off x="133" y="1753835"/>
        <a:ext cx="3020625" cy="453093"/>
      </dsp:txXfrm>
    </dsp:sp>
    <dsp:sp modelId="{019266DC-FE48-41B0-B81D-F48E49674A25}">
      <dsp:nvSpPr>
        <dsp:cNvPr id="0" name=""/>
        <dsp:cNvSpPr/>
      </dsp:nvSpPr>
      <dsp:spPr>
        <a:xfrm>
          <a:off x="133" y="2254476"/>
          <a:ext cx="3020625" cy="7172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IN" sz="1700" kern="1200"/>
            <a:t>Each microservice can be deployed, updated, and scaled independently.</a:t>
          </a:r>
          <a:endParaRPr lang="en-US" sz="1700" kern="1200"/>
        </a:p>
      </dsp:txBody>
      <dsp:txXfrm>
        <a:off x="133" y="2254476"/>
        <a:ext cx="3020625" cy="717294"/>
      </dsp:txXfrm>
    </dsp:sp>
    <dsp:sp modelId="{B8C249AF-761A-46EE-A5BE-C26687844E30}">
      <dsp:nvSpPr>
        <dsp:cNvPr id="0" name=""/>
        <dsp:cNvSpPr/>
      </dsp:nvSpPr>
      <dsp:spPr>
        <a:xfrm>
          <a:off x="4531070" y="594389"/>
          <a:ext cx="1057218" cy="10572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E11A3A-0CC2-41BF-B2F3-56D4B59730A7}">
      <dsp:nvSpPr>
        <dsp:cNvPr id="0" name=""/>
        <dsp:cNvSpPr/>
      </dsp:nvSpPr>
      <dsp:spPr>
        <a:xfrm>
          <a:off x="3549367" y="1753835"/>
          <a:ext cx="3020625" cy="453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IN" sz="2500" kern="1200"/>
            <a:t>Bounded Context</a:t>
          </a:r>
          <a:endParaRPr lang="en-US" sz="2500" kern="1200"/>
        </a:p>
      </dsp:txBody>
      <dsp:txXfrm>
        <a:off x="3549367" y="1753835"/>
        <a:ext cx="3020625" cy="453093"/>
      </dsp:txXfrm>
    </dsp:sp>
    <dsp:sp modelId="{ED34A138-D36B-4677-B15C-8BF7B1FDF5BF}">
      <dsp:nvSpPr>
        <dsp:cNvPr id="0" name=""/>
        <dsp:cNvSpPr/>
      </dsp:nvSpPr>
      <dsp:spPr>
        <a:xfrm>
          <a:off x="3549367" y="2254476"/>
          <a:ext cx="3020625" cy="7172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IN" sz="1700" kern="1200"/>
            <a:t>Each service encapsulates a distinct business function or process.</a:t>
          </a:r>
          <a:endParaRPr lang="en-US" sz="1700" kern="1200"/>
        </a:p>
      </dsp:txBody>
      <dsp:txXfrm>
        <a:off x="3549367" y="2254476"/>
        <a:ext cx="3020625" cy="717294"/>
      </dsp:txXfrm>
    </dsp:sp>
    <dsp:sp modelId="{BEE2692B-B21A-4FD1-B93C-D7EAF318D6CD}">
      <dsp:nvSpPr>
        <dsp:cNvPr id="0" name=""/>
        <dsp:cNvSpPr/>
      </dsp:nvSpPr>
      <dsp:spPr>
        <a:xfrm>
          <a:off x="8080305" y="594389"/>
          <a:ext cx="1057218" cy="10572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545369-8424-40C3-80AB-D71257ADB97C}">
      <dsp:nvSpPr>
        <dsp:cNvPr id="0" name=""/>
        <dsp:cNvSpPr/>
      </dsp:nvSpPr>
      <dsp:spPr>
        <a:xfrm>
          <a:off x="7098601" y="1753835"/>
          <a:ext cx="3020625" cy="453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b="1"/>
          </a:pPr>
          <a:r>
            <a:rPr lang="en-IN" sz="2500" kern="1200"/>
            <a:t>Technology Agnostic</a:t>
          </a:r>
          <a:endParaRPr lang="en-US" sz="2500" kern="1200"/>
        </a:p>
      </dsp:txBody>
      <dsp:txXfrm>
        <a:off x="7098601" y="1753835"/>
        <a:ext cx="3020625" cy="453093"/>
      </dsp:txXfrm>
    </dsp:sp>
    <dsp:sp modelId="{3CE6899F-23B9-4937-B323-8FFDA33AE796}">
      <dsp:nvSpPr>
        <dsp:cNvPr id="0" name=""/>
        <dsp:cNvSpPr/>
      </dsp:nvSpPr>
      <dsp:spPr>
        <a:xfrm>
          <a:off x="7098601" y="2254476"/>
          <a:ext cx="3020625" cy="7172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IN" sz="1700" kern="1200"/>
            <a:t>Services can be built with different programming languages or technologies.</a:t>
          </a:r>
          <a:endParaRPr lang="en-US" sz="1700" kern="1200"/>
        </a:p>
      </dsp:txBody>
      <dsp:txXfrm>
        <a:off x="7098601" y="2254476"/>
        <a:ext cx="3020625" cy="7172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19157F-BB9C-4852-BB6A-2A85B133CEEA}">
      <dsp:nvSpPr>
        <dsp:cNvPr id="0" name=""/>
        <dsp:cNvSpPr/>
      </dsp:nvSpPr>
      <dsp:spPr>
        <a:xfrm>
          <a:off x="0" y="0"/>
          <a:ext cx="8601456" cy="160477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dirty="0"/>
            <a:t>Microservices allow organizations to build and scale complex applications faster, improve resilience, and enhance flexibility.</a:t>
          </a:r>
          <a:endParaRPr lang="en-US" sz="2200" kern="1200" dirty="0"/>
        </a:p>
      </dsp:txBody>
      <dsp:txXfrm>
        <a:off x="47002" y="47002"/>
        <a:ext cx="6942799" cy="1510768"/>
      </dsp:txXfrm>
    </dsp:sp>
    <dsp:sp modelId="{CB6620B2-97B0-4A41-8235-0D13564ECE70}">
      <dsp:nvSpPr>
        <dsp:cNvPr id="0" name=""/>
        <dsp:cNvSpPr/>
      </dsp:nvSpPr>
      <dsp:spPr>
        <a:xfrm>
          <a:off x="1517903" y="1961388"/>
          <a:ext cx="8601456" cy="1604772"/>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dirty="0"/>
            <a:t>By breaking a monolithic application into smaller, more manageable parts, microservices enable continuous delivery, independent development, and deployment of services. </a:t>
          </a:r>
          <a:endParaRPr lang="en-US" sz="2200" kern="1200" dirty="0"/>
        </a:p>
      </dsp:txBody>
      <dsp:txXfrm>
        <a:off x="1564905" y="2008390"/>
        <a:ext cx="5946446" cy="1510768"/>
      </dsp:txXfrm>
    </dsp:sp>
    <dsp:sp modelId="{0F94016F-D0E0-4EB7-B8BB-214FA3391086}">
      <dsp:nvSpPr>
        <dsp:cNvPr id="0" name=""/>
        <dsp:cNvSpPr/>
      </dsp:nvSpPr>
      <dsp:spPr>
        <a:xfrm>
          <a:off x="7558354" y="1261529"/>
          <a:ext cx="1043101" cy="1043101"/>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793052" y="1261529"/>
        <a:ext cx="573705" cy="7849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F8F1D-76F2-41E8-837E-E743948B7021}">
      <dsp:nvSpPr>
        <dsp:cNvPr id="0" name=""/>
        <dsp:cNvSpPr/>
      </dsp:nvSpPr>
      <dsp:spPr>
        <a:xfrm>
          <a:off x="0" y="435"/>
          <a:ext cx="10119359" cy="10186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DADB31-A43C-4D70-A208-83BF657C4760}">
      <dsp:nvSpPr>
        <dsp:cNvPr id="0" name=""/>
        <dsp:cNvSpPr/>
      </dsp:nvSpPr>
      <dsp:spPr>
        <a:xfrm>
          <a:off x="308142" y="229632"/>
          <a:ext cx="560259" cy="5602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E8F32F-AFCB-44D8-9FD0-395F7029F4F5}">
      <dsp:nvSpPr>
        <dsp:cNvPr id="0" name=""/>
        <dsp:cNvSpPr/>
      </dsp:nvSpPr>
      <dsp:spPr>
        <a:xfrm>
          <a:off x="1176545" y="435"/>
          <a:ext cx="8942814" cy="101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808" tIns="107808" rIns="107808" bIns="107808" numCol="1" spcCol="1270" anchor="ctr" anchorCtr="0">
          <a:noAutofit/>
        </a:bodyPr>
        <a:lstStyle/>
        <a:p>
          <a:pPr marL="0" lvl="0" indent="0" algn="l" defTabSz="889000">
            <a:lnSpc>
              <a:spcPct val="100000"/>
            </a:lnSpc>
            <a:spcBef>
              <a:spcPct val="0"/>
            </a:spcBef>
            <a:spcAft>
              <a:spcPct val="35000"/>
            </a:spcAft>
            <a:buNone/>
          </a:pPr>
          <a:r>
            <a:rPr lang="en-US" sz="2000" b="1" i="0" kern="1200" baseline="0" dirty="0"/>
            <a:t>Decentralized Governance</a:t>
          </a:r>
          <a:r>
            <a:rPr lang="en-US" sz="2000" b="0" i="0" kern="1200" baseline="0" dirty="0"/>
            <a:t>: Each microservice is developed and governed independently, enabling technology and process freedom.</a:t>
          </a:r>
          <a:endParaRPr lang="en-US" sz="2000" kern="1200" dirty="0"/>
        </a:p>
      </dsp:txBody>
      <dsp:txXfrm>
        <a:off x="1176545" y="435"/>
        <a:ext cx="8942814" cy="1018654"/>
      </dsp:txXfrm>
    </dsp:sp>
    <dsp:sp modelId="{8C3BC5AC-97DF-436E-A82B-CA7B25CD239C}">
      <dsp:nvSpPr>
        <dsp:cNvPr id="0" name=""/>
        <dsp:cNvSpPr/>
      </dsp:nvSpPr>
      <dsp:spPr>
        <a:xfrm>
          <a:off x="0" y="1273752"/>
          <a:ext cx="10119359" cy="10186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181BCA-63B3-47D3-8CCB-0C5042DCC53F}">
      <dsp:nvSpPr>
        <dsp:cNvPr id="0" name=""/>
        <dsp:cNvSpPr/>
      </dsp:nvSpPr>
      <dsp:spPr>
        <a:xfrm>
          <a:off x="308142" y="1502950"/>
          <a:ext cx="560259" cy="5602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40AA3D-E932-4ADC-A6A2-81F87B061A55}">
      <dsp:nvSpPr>
        <dsp:cNvPr id="0" name=""/>
        <dsp:cNvSpPr/>
      </dsp:nvSpPr>
      <dsp:spPr>
        <a:xfrm>
          <a:off x="1176545" y="1273752"/>
          <a:ext cx="8942814" cy="101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808" tIns="107808" rIns="107808" bIns="107808" numCol="1" spcCol="1270" anchor="ctr" anchorCtr="0">
          <a:noAutofit/>
        </a:bodyPr>
        <a:lstStyle/>
        <a:p>
          <a:pPr marL="0" lvl="0" indent="0" algn="l" defTabSz="889000">
            <a:lnSpc>
              <a:spcPct val="100000"/>
            </a:lnSpc>
            <a:spcBef>
              <a:spcPct val="0"/>
            </a:spcBef>
            <a:spcAft>
              <a:spcPct val="35000"/>
            </a:spcAft>
            <a:buNone/>
          </a:pPr>
          <a:r>
            <a:rPr lang="en-US" sz="2000" b="1" i="0" kern="1200" baseline="0"/>
            <a:t>Scalability</a:t>
          </a:r>
          <a:r>
            <a:rPr lang="en-US" sz="2000" b="0" i="0" kern="1200" baseline="0"/>
            <a:t>: Microservices are scalable both vertically and horizontally, focusing on the demand of individual services.</a:t>
          </a:r>
          <a:endParaRPr lang="en-US" sz="2000" kern="1200"/>
        </a:p>
      </dsp:txBody>
      <dsp:txXfrm>
        <a:off x="1176545" y="1273752"/>
        <a:ext cx="8942814" cy="1018654"/>
      </dsp:txXfrm>
    </dsp:sp>
    <dsp:sp modelId="{0F799A60-85D4-46A3-AAA3-3A4AF4FD3305}">
      <dsp:nvSpPr>
        <dsp:cNvPr id="0" name=""/>
        <dsp:cNvSpPr/>
      </dsp:nvSpPr>
      <dsp:spPr>
        <a:xfrm>
          <a:off x="0" y="2547070"/>
          <a:ext cx="10119359" cy="10186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C7D4FE-E83D-40F6-BB21-57C58FB1A986}">
      <dsp:nvSpPr>
        <dsp:cNvPr id="0" name=""/>
        <dsp:cNvSpPr/>
      </dsp:nvSpPr>
      <dsp:spPr>
        <a:xfrm>
          <a:off x="308142" y="2776267"/>
          <a:ext cx="560259" cy="5602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0394D5-55C7-4882-900E-12DDCD2C6AFD}">
      <dsp:nvSpPr>
        <dsp:cNvPr id="0" name=""/>
        <dsp:cNvSpPr/>
      </dsp:nvSpPr>
      <dsp:spPr>
        <a:xfrm>
          <a:off x="1176545" y="2547070"/>
          <a:ext cx="8942814" cy="101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808" tIns="107808" rIns="107808" bIns="107808" numCol="1" spcCol="1270" anchor="ctr" anchorCtr="0">
          <a:noAutofit/>
        </a:bodyPr>
        <a:lstStyle/>
        <a:p>
          <a:pPr marL="0" lvl="0" indent="0" algn="l" defTabSz="889000">
            <a:lnSpc>
              <a:spcPct val="100000"/>
            </a:lnSpc>
            <a:spcBef>
              <a:spcPct val="0"/>
            </a:spcBef>
            <a:spcAft>
              <a:spcPct val="35000"/>
            </a:spcAft>
            <a:buNone/>
          </a:pPr>
          <a:r>
            <a:rPr lang="en-US" sz="2000" b="1" i="0" kern="1200" baseline="0"/>
            <a:t>Fault Tolerance</a:t>
          </a:r>
          <a:r>
            <a:rPr lang="en-US" sz="2000" b="0" i="0" kern="1200" baseline="0"/>
            <a:t>: With microservices, failures in one service do not affect the entire system. Built-in resilience allows other services to continue functioning. </a:t>
          </a:r>
          <a:endParaRPr lang="en-US" sz="2000" kern="1200"/>
        </a:p>
      </dsp:txBody>
      <dsp:txXfrm>
        <a:off x="1176545" y="2547070"/>
        <a:ext cx="8942814" cy="10186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F2602-2278-41BD-B9B5-113277278B02}">
      <dsp:nvSpPr>
        <dsp:cNvPr id="0" name=""/>
        <dsp:cNvSpPr/>
      </dsp:nvSpPr>
      <dsp:spPr>
        <a:xfrm>
          <a:off x="212597" y="1326961"/>
          <a:ext cx="1155564" cy="11555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F07BA1-7B72-4596-92FF-74F69A602707}">
      <dsp:nvSpPr>
        <dsp:cNvPr id="0" name=""/>
        <dsp:cNvSpPr/>
      </dsp:nvSpPr>
      <dsp:spPr>
        <a:xfrm>
          <a:off x="455266" y="1569630"/>
          <a:ext cx="670227" cy="6702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1B67A2-D252-40FF-B057-EDE31EFD9D52}">
      <dsp:nvSpPr>
        <dsp:cNvPr id="0" name=""/>
        <dsp:cNvSpPr/>
      </dsp:nvSpPr>
      <dsp:spPr>
        <a:xfrm>
          <a:off x="1615782" y="1326961"/>
          <a:ext cx="2723830" cy="115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Why </a:t>
          </a:r>
          <a:r>
            <a:rPr lang="en-US" sz="1800" kern="1200" dirty="0"/>
            <a:t>: Allows for innovation and agility as different teams use different stacks.</a:t>
          </a:r>
        </a:p>
      </dsp:txBody>
      <dsp:txXfrm>
        <a:off x="1615782" y="1326961"/>
        <a:ext cx="2723830" cy="1155564"/>
      </dsp:txXfrm>
    </dsp:sp>
    <dsp:sp modelId="{105A5319-3FAD-470C-945D-E9E124FD814B}">
      <dsp:nvSpPr>
        <dsp:cNvPr id="0" name=""/>
        <dsp:cNvSpPr/>
      </dsp:nvSpPr>
      <dsp:spPr>
        <a:xfrm>
          <a:off x="4814219" y="1326961"/>
          <a:ext cx="1155564" cy="11555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837D6D-3B5F-49D4-B107-A8CBC0865A5E}">
      <dsp:nvSpPr>
        <dsp:cNvPr id="0" name=""/>
        <dsp:cNvSpPr/>
      </dsp:nvSpPr>
      <dsp:spPr>
        <a:xfrm>
          <a:off x="5056888" y="1569630"/>
          <a:ext cx="670227" cy="6702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79D0A0-C1AE-4575-9627-6C3254A00A06}">
      <dsp:nvSpPr>
        <dsp:cNvPr id="0" name=""/>
        <dsp:cNvSpPr/>
      </dsp:nvSpPr>
      <dsp:spPr>
        <a:xfrm>
          <a:off x="6217405" y="1326961"/>
          <a:ext cx="2723830" cy="115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How</a:t>
          </a:r>
          <a:r>
            <a:rPr lang="en-US" sz="1800" kern="1200" dirty="0"/>
            <a:t>: Independent teams deploy different microservices governed by their requirements. </a:t>
          </a:r>
        </a:p>
      </dsp:txBody>
      <dsp:txXfrm>
        <a:off x="6217405" y="1326961"/>
        <a:ext cx="2723830" cy="11555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F2602-2278-41BD-B9B5-113277278B02}">
      <dsp:nvSpPr>
        <dsp:cNvPr id="0" name=""/>
        <dsp:cNvSpPr/>
      </dsp:nvSpPr>
      <dsp:spPr>
        <a:xfrm>
          <a:off x="212597" y="1326961"/>
          <a:ext cx="1155564" cy="11555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F07BA1-7B72-4596-92FF-74F69A602707}">
      <dsp:nvSpPr>
        <dsp:cNvPr id="0" name=""/>
        <dsp:cNvSpPr/>
      </dsp:nvSpPr>
      <dsp:spPr>
        <a:xfrm>
          <a:off x="455266" y="1569630"/>
          <a:ext cx="670227" cy="6702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1B67A2-D252-40FF-B057-EDE31EFD9D52}">
      <dsp:nvSpPr>
        <dsp:cNvPr id="0" name=""/>
        <dsp:cNvSpPr/>
      </dsp:nvSpPr>
      <dsp:spPr>
        <a:xfrm>
          <a:off x="1615782" y="1326961"/>
          <a:ext cx="2723830" cy="115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dirty="0"/>
            <a:t>Why </a:t>
          </a:r>
          <a:r>
            <a:rPr lang="en-US" sz="1900" kern="1200" dirty="0"/>
            <a:t>: </a:t>
          </a:r>
          <a:r>
            <a:rPr lang="en-US" altLang="en-US" sz="1800" kern="1200" dirty="0">
              <a:solidFill>
                <a:prstClr val="black">
                  <a:hueOff val="0"/>
                  <a:satOff val="0"/>
                  <a:lumOff val="0"/>
                  <a:alphaOff val="0"/>
                </a:prstClr>
              </a:solidFill>
              <a:latin typeface="Aptos" panose="02110004020202020204"/>
              <a:ea typeface="+mn-ea"/>
              <a:cs typeface="+mn-cs"/>
            </a:rPr>
            <a:t>Scale individual services based on traffic or usage</a:t>
          </a:r>
          <a:r>
            <a:rPr lang="en-US" sz="1800" kern="1200" dirty="0">
              <a:solidFill>
                <a:prstClr val="black">
                  <a:hueOff val="0"/>
                  <a:satOff val="0"/>
                  <a:lumOff val="0"/>
                  <a:alphaOff val="0"/>
                </a:prstClr>
              </a:solidFill>
              <a:latin typeface="Aptos" panose="02110004020202020204"/>
              <a:ea typeface="+mn-ea"/>
              <a:cs typeface="+mn-cs"/>
            </a:rPr>
            <a:t>.</a:t>
          </a:r>
        </a:p>
      </dsp:txBody>
      <dsp:txXfrm>
        <a:off x="1615782" y="1326961"/>
        <a:ext cx="2723830" cy="1155564"/>
      </dsp:txXfrm>
    </dsp:sp>
    <dsp:sp modelId="{105A5319-3FAD-470C-945D-E9E124FD814B}">
      <dsp:nvSpPr>
        <dsp:cNvPr id="0" name=""/>
        <dsp:cNvSpPr/>
      </dsp:nvSpPr>
      <dsp:spPr>
        <a:xfrm>
          <a:off x="4814219" y="1326961"/>
          <a:ext cx="1155564" cy="11555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837D6D-3B5F-49D4-B107-A8CBC0865A5E}">
      <dsp:nvSpPr>
        <dsp:cNvPr id="0" name=""/>
        <dsp:cNvSpPr/>
      </dsp:nvSpPr>
      <dsp:spPr>
        <a:xfrm>
          <a:off x="5056888" y="1569630"/>
          <a:ext cx="670227" cy="6702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79D0A0-C1AE-4575-9627-6C3254A00A06}">
      <dsp:nvSpPr>
        <dsp:cNvPr id="0" name=""/>
        <dsp:cNvSpPr/>
      </dsp:nvSpPr>
      <dsp:spPr>
        <a:xfrm>
          <a:off x="6217405" y="1326961"/>
          <a:ext cx="2723830" cy="115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kern="1200" dirty="0"/>
            <a:t>How</a:t>
          </a:r>
          <a:r>
            <a:rPr lang="en-US" sz="1900" kern="1200" dirty="0"/>
            <a:t>: </a:t>
          </a:r>
          <a:r>
            <a:rPr lang="en-US" altLang="en-US" sz="1800" kern="1200" dirty="0">
              <a:solidFill>
                <a:prstClr val="black">
                  <a:hueOff val="0"/>
                  <a:satOff val="0"/>
                  <a:lumOff val="0"/>
                  <a:alphaOff val="0"/>
                </a:prstClr>
              </a:solidFill>
              <a:latin typeface="Aptos" panose="02110004020202020204"/>
              <a:ea typeface="+mn-ea"/>
              <a:cs typeface="+mn-cs"/>
            </a:rPr>
            <a:t>Horizontal scaling of stateless services or vertical scaling of stateful ones.</a:t>
          </a:r>
          <a:endParaRPr lang="en-US" sz="1800" kern="1200" dirty="0">
            <a:solidFill>
              <a:prstClr val="black">
                <a:hueOff val="0"/>
                <a:satOff val="0"/>
                <a:lumOff val="0"/>
                <a:alphaOff val="0"/>
              </a:prstClr>
            </a:solidFill>
            <a:latin typeface="Aptos" panose="02110004020202020204"/>
            <a:ea typeface="+mn-ea"/>
            <a:cs typeface="+mn-cs"/>
          </a:endParaRPr>
        </a:p>
      </dsp:txBody>
      <dsp:txXfrm>
        <a:off x="6217405" y="1326961"/>
        <a:ext cx="2723830" cy="115556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2F3164-2EF6-405B-858E-8A2DCEB4FC24}">
      <dsp:nvSpPr>
        <dsp:cNvPr id="0" name=""/>
        <dsp:cNvSpPr/>
      </dsp:nvSpPr>
      <dsp:spPr>
        <a:xfrm>
          <a:off x="145160" y="1132458"/>
          <a:ext cx="1301244" cy="130124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ED7702-C062-4D95-94FC-8BDA02622417}">
      <dsp:nvSpPr>
        <dsp:cNvPr id="0" name=""/>
        <dsp:cNvSpPr/>
      </dsp:nvSpPr>
      <dsp:spPr>
        <a:xfrm>
          <a:off x="418421" y="1405719"/>
          <a:ext cx="754721" cy="75472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E3EDE0-284B-43B2-A1CC-E5E2B71FF5C2}">
      <dsp:nvSpPr>
        <dsp:cNvPr id="0" name=""/>
        <dsp:cNvSpPr/>
      </dsp:nvSpPr>
      <dsp:spPr>
        <a:xfrm>
          <a:off x="1725242" y="1132458"/>
          <a:ext cx="3067218" cy="1301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i="0" kern="1200" baseline="0"/>
            <a:t>Vertical Scaling</a:t>
          </a:r>
          <a:r>
            <a:rPr lang="en-US" sz="1300" b="0" i="0" kern="1200" baseline="0"/>
            <a:t>: Increasing the capacity of a single instance (e.g., more CPU, RAM). However, there’s a limit to how much a single machine can handle, and this isn't always a cost-effective option.</a:t>
          </a:r>
          <a:endParaRPr lang="en-US" sz="1300" kern="1200"/>
        </a:p>
      </dsp:txBody>
      <dsp:txXfrm>
        <a:off x="1725242" y="1132458"/>
        <a:ext cx="3067218" cy="1301244"/>
      </dsp:txXfrm>
    </dsp:sp>
    <dsp:sp modelId="{CCFA2AE6-B20D-4EA7-8E30-F91B98AF2F29}">
      <dsp:nvSpPr>
        <dsp:cNvPr id="0" name=""/>
        <dsp:cNvSpPr/>
      </dsp:nvSpPr>
      <dsp:spPr>
        <a:xfrm>
          <a:off x="5326899" y="1132458"/>
          <a:ext cx="1301244" cy="130124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E5FFE3-732E-4308-B126-2C11C1A9C263}">
      <dsp:nvSpPr>
        <dsp:cNvPr id="0" name=""/>
        <dsp:cNvSpPr/>
      </dsp:nvSpPr>
      <dsp:spPr>
        <a:xfrm>
          <a:off x="5600160" y="1405719"/>
          <a:ext cx="754721" cy="75472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C80050-EC02-4120-8BC4-328ABBD3161A}">
      <dsp:nvSpPr>
        <dsp:cNvPr id="0" name=""/>
        <dsp:cNvSpPr/>
      </dsp:nvSpPr>
      <dsp:spPr>
        <a:xfrm>
          <a:off x="6906981" y="1132458"/>
          <a:ext cx="3067218" cy="1301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i="0" kern="1200" baseline="0" dirty="0"/>
            <a:t>Horizontal Scaling</a:t>
          </a:r>
          <a:r>
            <a:rPr lang="en-US" sz="1300" b="0" i="0" kern="1200" baseline="0" dirty="0"/>
            <a:t>: Adding more instances of a service to distribute the load. Microservices are ideally suited for horizontal scaling, where each service can be scaled independently based on its own demands.</a:t>
          </a:r>
          <a:endParaRPr lang="en-US" sz="1300" kern="1200" dirty="0"/>
        </a:p>
      </dsp:txBody>
      <dsp:txXfrm>
        <a:off x="6906981" y="1132458"/>
        <a:ext cx="3067218" cy="13012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0B0D87-FB81-4B16-860D-3CD73E06F5FE}">
      <dsp:nvSpPr>
        <dsp:cNvPr id="0" name=""/>
        <dsp:cNvSpPr/>
      </dsp:nvSpPr>
      <dsp:spPr>
        <a:xfrm>
          <a:off x="366183" y="666223"/>
          <a:ext cx="813733" cy="81373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9BAE62-CBF8-40B1-9438-BC085680DF44}">
      <dsp:nvSpPr>
        <dsp:cNvPr id="0" name=""/>
        <dsp:cNvSpPr/>
      </dsp:nvSpPr>
      <dsp:spPr>
        <a:xfrm>
          <a:off x="537067" y="837107"/>
          <a:ext cx="471965" cy="4719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570792-CA79-4F7D-BF2C-C5B512C4C3F7}">
      <dsp:nvSpPr>
        <dsp:cNvPr id="0" name=""/>
        <dsp:cNvSpPr/>
      </dsp:nvSpPr>
      <dsp:spPr>
        <a:xfrm>
          <a:off x="1354287" y="666223"/>
          <a:ext cx="1918085" cy="813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i="0" kern="1200" baseline="0" dirty="0"/>
            <a:t>Auto-scaling with Cloud Platforms</a:t>
          </a:r>
          <a:endParaRPr lang="en-US" sz="1100" kern="1200" dirty="0"/>
        </a:p>
      </dsp:txBody>
      <dsp:txXfrm>
        <a:off x="1354287" y="666223"/>
        <a:ext cx="1918085" cy="813733"/>
      </dsp:txXfrm>
    </dsp:sp>
    <dsp:sp modelId="{8AC0CC6B-9E27-4E9B-AD12-16198CB600C4}">
      <dsp:nvSpPr>
        <dsp:cNvPr id="0" name=""/>
        <dsp:cNvSpPr/>
      </dsp:nvSpPr>
      <dsp:spPr>
        <a:xfrm>
          <a:off x="3606585" y="666223"/>
          <a:ext cx="813733" cy="81373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A0DB42-EBD9-4487-8A1B-D2FE15EDA420}">
      <dsp:nvSpPr>
        <dsp:cNvPr id="0" name=""/>
        <dsp:cNvSpPr/>
      </dsp:nvSpPr>
      <dsp:spPr>
        <a:xfrm>
          <a:off x="3777468" y="837107"/>
          <a:ext cx="471965" cy="4719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F241FF-2A84-4145-8746-5DF109967CF9}">
      <dsp:nvSpPr>
        <dsp:cNvPr id="0" name=""/>
        <dsp:cNvSpPr/>
      </dsp:nvSpPr>
      <dsp:spPr>
        <a:xfrm>
          <a:off x="4594689" y="666223"/>
          <a:ext cx="1918085" cy="813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i="0" kern="1200" baseline="0"/>
            <a:t>Most cloud providers (AWS, Azure, GCP) support auto-scaling of services based on real-time demand.</a:t>
          </a:r>
          <a:endParaRPr lang="en-US" sz="1100" kern="1200"/>
        </a:p>
      </dsp:txBody>
      <dsp:txXfrm>
        <a:off x="4594689" y="666223"/>
        <a:ext cx="1918085" cy="813733"/>
      </dsp:txXfrm>
    </dsp:sp>
    <dsp:sp modelId="{5FFA5991-8352-4DEA-A6CD-894B7214E585}">
      <dsp:nvSpPr>
        <dsp:cNvPr id="0" name=""/>
        <dsp:cNvSpPr/>
      </dsp:nvSpPr>
      <dsp:spPr>
        <a:xfrm>
          <a:off x="6846986" y="666223"/>
          <a:ext cx="813733" cy="81373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1B71D-7DBB-4CEF-9BC1-0B7AB31076CD}">
      <dsp:nvSpPr>
        <dsp:cNvPr id="0" name=""/>
        <dsp:cNvSpPr/>
      </dsp:nvSpPr>
      <dsp:spPr>
        <a:xfrm>
          <a:off x="7017870" y="837107"/>
          <a:ext cx="471965" cy="4719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F54C7B-F98C-4DA1-8AB8-C6CF05D9AA5B}">
      <dsp:nvSpPr>
        <dsp:cNvPr id="0" name=""/>
        <dsp:cNvSpPr/>
      </dsp:nvSpPr>
      <dsp:spPr>
        <a:xfrm>
          <a:off x="7835091" y="666223"/>
          <a:ext cx="1918085" cy="813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i="0" kern="1200" baseline="0"/>
            <a:t>Define thresholds (e.g., CPU usage, memory, request rates) that automatically trigger the creation of new instances.</a:t>
          </a:r>
          <a:endParaRPr lang="en-US" sz="1100" kern="1200"/>
        </a:p>
      </dsp:txBody>
      <dsp:txXfrm>
        <a:off x="7835091" y="666223"/>
        <a:ext cx="1918085" cy="813733"/>
      </dsp:txXfrm>
    </dsp:sp>
    <dsp:sp modelId="{4B51676E-A65A-42D9-83ED-946552367DE4}">
      <dsp:nvSpPr>
        <dsp:cNvPr id="0" name=""/>
        <dsp:cNvSpPr/>
      </dsp:nvSpPr>
      <dsp:spPr>
        <a:xfrm>
          <a:off x="366183" y="2086203"/>
          <a:ext cx="813733" cy="81373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EA4D74-8B56-414E-B63D-4C313F6E1AB9}">
      <dsp:nvSpPr>
        <dsp:cNvPr id="0" name=""/>
        <dsp:cNvSpPr/>
      </dsp:nvSpPr>
      <dsp:spPr>
        <a:xfrm>
          <a:off x="537067" y="2257087"/>
          <a:ext cx="471965" cy="47196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7FF7A1-030A-4B9A-B12F-C99BFB60A5F4}">
      <dsp:nvSpPr>
        <dsp:cNvPr id="0" name=""/>
        <dsp:cNvSpPr/>
      </dsp:nvSpPr>
      <dsp:spPr>
        <a:xfrm>
          <a:off x="1354287" y="2086203"/>
          <a:ext cx="1918085" cy="813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i="0" kern="1200" baseline="0" dirty="0"/>
            <a:t>Container Orchestration (e.g., Kubernetes)</a:t>
          </a:r>
          <a:endParaRPr lang="en-US" sz="1100" kern="1200" dirty="0"/>
        </a:p>
      </dsp:txBody>
      <dsp:txXfrm>
        <a:off x="1354287" y="2086203"/>
        <a:ext cx="1918085" cy="813733"/>
      </dsp:txXfrm>
    </dsp:sp>
    <dsp:sp modelId="{13AE7F7D-953B-43C8-A741-614009568039}">
      <dsp:nvSpPr>
        <dsp:cNvPr id="0" name=""/>
        <dsp:cNvSpPr/>
      </dsp:nvSpPr>
      <dsp:spPr>
        <a:xfrm>
          <a:off x="3606585" y="2086203"/>
          <a:ext cx="813733" cy="81373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1710DC-FC9A-45DF-9E10-9FF1A6412E75}">
      <dsp:nvSpPr>
        <dsp:cNvPr id="0" name=""/>
        <dsp:cNvSpPr/>
      </dsp:nvSpPr>
      <dsp:spPr>
        <a:xfrm>
          <a:off x="3777468" y="2257087"/>
          <a:ext cx="471965" cy="47196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F5F602-B72C-4F97-AAB4-D366E74298EE}">
      <dsp:nvSpPr>
        <dsp:cNvPr id="0" name=""/>
        <dsp:cNvSpPr/>
      </dsp:nvSpPr>
      <dsp:spPr>
        <a:xfrm>
          <a:off x="4594689" y="2086203"/>
          <a:ext cx="1918085" cy="813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i="0" kern="1200" baseline="0"/>
            <a:t>Kubernetes’ Horizontal Pod Autoscaler (HPA) scales the number of pods based on observed metrics like CPU or custom metrics.</a:t>
          </a:r>
          <a:endParaRPr lang="en-US" sz="1100" kern="1200"/>
        </a:p>
      </dsp:txBody>
      <dsp:txXfrm>
        <a:off x="4594689" y="2086203"/>
        <a:ext cx="1918085" cy="813733"/>
      </dsp:txXfrm>
    </dsp:sp>
    <dsp:sp modelId="{9DAA88B8-3DC2-458A-8898-5F1D5E35A7AF}">
      <dsp:nvSpPr>
        <dsp:cNvPr id="0" name=""/>
        <dsp:cNvSpPr/>
      </dsp:nvSpPr>
      <dsp:spPr>
        <a:xfrm>
          <a:off x="6846986" y="2086203"/>
          <a:ext cx="813733" cy="81373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C080D3-0FA6-46E8-BD56-CE1A43D2EF46}">
      <dsp:nvSpPr>
        <dsp:cNvPr id="0" name=""/>
        <dsp:cNvSpPr/>
      </dsp:nvSpPr>
      <dsp:spPr>
        <a:xfrm>
          <a:off x="7017870" y="2257087"/>
          <a:ext cx="471965" cy="47196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8624D0-1C2B-4A6C-B51E-1F51FBD4F190}">
      <dsp:nvSpPr>
        <dsp:cNvPr id="0" name=""/>
        <dsp:cNvSpPr/>
      </dsp:nvSpPr>
      <dsp:spPr>
        <a:xfrm>
          <a:off x="7835091" y="2086203"/>
          <a:ext cx="1918085" cy="813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i="0" kern="1200" baseline="0"/>
            <a:t>Works seamlessly with cloud platforms for elastic scaling.</a:t>
          </a:r>
          <a:endParaRPr lang="en-US" sz="1100" kern="1200"/>
        </a:p>
      </dsp:txBody>
      <dsp:txXfrm>
        <a:off x="7835091" y="2086203"/>
        <a:ext cx="1918085" cy="81373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49EDD-EF36-4DC8-AA4D-59645024A892}">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D59769-D5A3-4CA4-A149-F16F38021C42}">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i="0" kern="1200" baseline="0"/>
            <a:t>IaaS (Infrastructure as a Service)</a:t>
          </a:r>
          <a:r>
            <a:rPr lang="en-US" sz="1400" b="0" i="0" kern="1200" baseline="0"/>
            <a:t>: Virtual machines, storage.</a:t>
          </a:r>
          <a:endParaRPr lang="en-US" sz="1400" kern="1200"/>
        </a:p>
      </dsp:txBody>
      <dsp:txXfrm>
        <a:off x="417971" y="2644140"/>
        <a:ext cx="2889450" cy="720000"/>
      </dsp:txXfrm>
    </dsp:sp>
    <dsp:sp modelId="{52C22642-4EFA-4A2A-92F4-F04F5C0021A5}">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3E2DFD-9851-405C-9628-83DD58AC7568}">
      <dsp:nvSpPr>
        <dsp:cNvPr id="0" name=""/>
        <dsp:cNvSpPr/>
      </dsp:nvSpPr>
      <dsp:spPr>
        <a:xfrm>
          <a:off x="3813075"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i="0" kern="1200" baseline="0"/>
            <a:t>PaaS (Platform as a Service)</a:t>
          </a:r>
          <a:r>
            <a:rPr lang="en-US" sz="1400" b="0" i="0" kern="1200" baseline="0"/>
            <a:t>: Cloud-based platforms for building, testing, and deploying apps.</a:t>
          </a:r>
          <a:endParaRPr lang="en-US" sz="1400" kern="1200"/>
        </a:p>
      </dsp:txBody>
      <dsp:txXfrm>
        <a:off x="3813075" y="2644140"/>
        <a:ext cx="2889450" cy="720000"/>
      </dsp:txXfrm>
    </dsp:sp>
    <dsp:sp modelId="{F4D77442-174B-4BED-887A-877E0F580893}">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6B0AB6-B422-4200-BEDD-96AA159E0552}">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i="0" kern="1200" baseline="0"/>
            <a:t>SaaS (Software as a Service)</a:t>
          </a:r>
          <a:r>
            <a:rPr lang="en-US" sz="1400" b="0" i="0" kern="1200" baseline="0"/>
            <a:t>: Fully managed applications provided over the internet. </a:t>
          </a:r>
          <a:endParaRPr lang="en-US" sz="1400" kern="1200"/>
        </a:p>
      </dsp:txBody>
      <dsp:txXfrm>
        <a:off x="7208178" y="2644140"/>
        <a:ext cx="28894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B9150-B35A-4212-A151-8FDD6C29C1FA}" type="datetimeFigureOut">
              <a:rPr lang="en-IN" smtClean="0"/>
              <a:t>25-10-2024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A57A6F-E0E0-446E-B894-6B8964669D01}" type="slidenum">
              <a:rPr lang="en-IN" smtClean="0"/>
              <a:t>‹#›</a:t>
            </a:fld>
            <a:endParaRPr lang="en-IN"/>
          </a:p>
        </p:txBody>
      </p:sp>
    </p:spTree>
    <p:extLst>
      <p:ext uri="{BB962C8B-B14F-4D97-AF65-F5344CB8AC3E}">
        <p14:creationId xmlns:p14="http://schemas.microsoft.com/office/powerpoint/2010/main" val="603716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A57A6F-E0E0-446E-B894-6B8964669D01}" type="slidenum">
              <a:rPr lang="en-IN" smtClean="0"/>
              <a:t>5</a:t>
            </a:fld>
            <a:endParaRPr lang="en-IN"/>
          </a:p>
        </p:txBody>
      </p:sp>
    </p:spTree>
    <p:extLst>
      <p:ext uri="{BB962C8B-B14F-4D97-AF65-F5344CB8AC3E}">
        <p14:creationId xmlns:p14="http://schemas.microsoft.com/office/powerpoint/2010/main" val="1710335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A57A6F-E0E0-446E-B894-6B8964669D01}" type="slidenum">
              <a:rPr lang="en-IN" smtClean="0"/>
              <a:t>6</a:t>
            </a:fld>
            <a:endParaRPr lang="en-IN"/>
          </a:p>
        </p:txBody>
      </p:sp>
    </p:spTree>
    <p:extLst>
      <p:ext uri="{BB962C8B-B14F-4D97-AF65-F5344CB8AC3E}">
        <p14:creationId xmlns:p14="http://schemas.microsoft.com/office/powerpoint/2010/main" val="3874283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A57A6F-E0E0-446E-B894-6B8964669D01}" type="slidenum">
              <a:rPr lang="en-IN" smtClean="0"/>
              <a:t>13</a:t>
            </a:fld>
            <a:endParaRPr lang="en-IN"/>
          </a:p>
        </p:txBody>
      </p:sp>
    </p:spTree>
    <p:extLst>
      <p:ext uri="{BB962C8B-B14F-4D97-AF65-F5344CB8AC3E}">
        <p14:creationId xmlns:p14="http://schemas.microsoft.com/office/powerpoint/2010/main" val="4028393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A57A6F-E0E0-446E-B894-6B8964669D01}" type="slidenum">
              <a:rPr lang="en-IN" smtClean="0"/>
              <a:t>23</a:t>
            </a:fld>
            <a:endParaRPr lang="en-IN"/>
          </a:p>
        </p:txBody>
      </p:sp>
    </p:spTree>
    <p:extLst>
      <p:ext uri="{BB962C8B-B14F-4D97-AF65-F5344CB8AC3E}">
        <p14:creationId xmlns:p14="http://schemas.microsoft.com/office/powerpoint/2010/main" val="2982244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90B87-ABE1-B353-464F-A12A00CCC8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779858-1B73-643F-3420-9274866319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CBBFB9-3873-04EE-7A3A-FC3BAEE11C79}"/>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5" name="Footer Placeholder 4">
            <a:extLst>
              <a:ext uri="{FF2B5EF4-FFF2-40B4-BE49-F238E27FC236}">
                <a16:creationId xmlns:a16="http://schemas.microsoft.com/office/drawing/2014/main" id="{1110A835-E1B5-24B4-FA8E-8104765D4A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3F9BEA-ABFE-15B5-1131-A47D6302164F}"/>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3391164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6271-66DB-7A67-4E23-03E6726796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D7CD01-F3DA-C09D-4A4A-E41EB3173D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A7ED7C-28D7-D5A9-39AF-41AEBBB24745}"/>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5" name="Footer Placeholder 4">
            <a:extLst>
              <a:ext uri="{FF2B5EF4-FFF2-40B4-BE49-F238E27FC236}">
                <a16:creationId xmlns:a16="http://schemas.microsoft.com/office/drawing/2014/main" id="{2B418AC7-93AF-6C64-15B1-49218C670E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D7D738-3347-4726-FD28-D610AC625D67}"/>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3413406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F98B0-6949-21F0-3FC8-744F7A344C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DF4406-EA1B-0A32-3038-AECF66160D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C4058-F52F-0C09-D341-5D837B203BD7}"/>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5" name="Footer Placeholder 4">
            <a:extLst>
              <a:ext uri="{FF2B5EF4-FFF2-40B4-BE49-F238E27FC236}">
                <a16:creationId xmlns:a16="http://schemas.microsoft.com/office/drawing/2014/main" id="{1BFAE238-D47E-B7DE-633E-E137B3D951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6A9252-84D1-E3B2-C979-AA575678501F}"/>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415833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2753-8B57-AAD6-FC78-0C4769DB12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11AF54-EC59-C6F5-253E-6C9A3F74D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3371FE-D6FA-E7E5-61AF-7F5D54CF5C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74ABA1-E5EC-94B6-AF02-1A6401D581FC}"/>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6" name="Footer Placeholder 5">
            <a:extLst>
              <a:ext uri="{FF2B5EF4-FFF2-40B4-BE49-F238E27FC236}">
                <a16:creationId xmlns:a16="http://schemas.microsoft.com/office/drawing/2014/main" id="{FC9B5411-4FD4-65E0-8BF7-607317446D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D0853-1E08-E04E-A998-093B9B9ED6D7}"/>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2488078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68226-28B3-9D97-6080-5D7BE76955D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29C3F9-3C72-99FA-E10E-59E00D94F3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2C808D-71D2-7451-FAF1-578B4AB06F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D7C5BA-582A-DDFD-161E-478DABEC9B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D09F4C-F0C9-2071-BBCD-94AB9DF557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5D1FA2-49F0-04F4-B172-68B339EB8C42}"/>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8" name="Footer Placeholder 7">
            <a:extLst>
              <a:ext uri="{FF2B5EF4-FFF2-40B4-BE49-F238E27FC236}">
                <a16:creationId xmlns:a16="http://schemas.microsoft.com/office/drawing/2014/main" id="{32FFF7AC-0263-F3F3-6464-8F6356FDBE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E684E0A-555B-54D2-422F-BF9D1A3CBEB1}"/>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879860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7F7E7-4D06-4D6F-FA73-72A241BDFD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6F700E4-345D-6D3B-D818-5104ACD23677}"/>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4" name="Footer Placeholder 3">
            <a:extLst>
              <a:ext uri="{FF2B5EF4-FFF2-40B4-BE49-F238E27FC236}">
                <a16:creationId xmlns:a16="http://schemas.microsoft.com/office/drawing/2014/main" id="{702A1140-F28F-52F1-158B-3928E959F9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5F805C-96CB-A07E-9D99-5FA38BBA3688}"/>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2222088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7ED9C7-ADF2-91E6-6A8E-8A03180E3113}"/>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3" name="Footer Placeholder 2">
            <a:extLst>
              <a:ext uri="{FF2B5EF4-FFF2-40B4-BE49-F238E27FC236}">
                <a16:creationId xmlns:a16="http://schemas.microsoft.com/office/drawing/2014/main" id="{519DABF7-3841-5BDE-11B6-CC68AFF5B1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6A6F71-871F-38D7-466F-5F9F32F922F5}"/>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1553481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6C703-85C0-BA72-A7E3-A3381AD936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9EA85E-E7FA-0CA4-492B-FB806B2C1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4B83780-673F-50A3-9D9C-91E7DCF65C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4B45B3-A5D3-4179-BDB5-2A6FD701D837}"/>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6" name="Footer Placeholder 5">
            <a:extLst>
              <a:ext uri="{FF2B5EF4-FFF2-40B4-BE49-F238E27FC236}">
                <a16:creationId xmlns:a16="http://schemas.microsoft.com/office/drawing/2014/main" id="{F9D00B26-90D2-E9A2-11DE-FA8F6B5315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610FC4-F4A3-139A-73CD-A6667B65A1C0}"/>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948556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6FC2-70FA-9C50-F4A9-759732FE96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C12A4ED-BEB9-47BD-C279-0FD07D0C16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0EB1D2-F658-3950-2FDC-E416C44146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00684E-C5DA-7CB4-2966-30AA1B50C031}"/>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6" name="Footer Placeholder 5">
            <a:extLst>
              <a:ext uri="{FF2B5EF4-FFF2-40B4-BE49-F238E27FC236}">
                <a16:creationId xmlns:a16="http://schemas.microsoft.com/office/drawing/2014/main" id="{3BF9BD55-DDFA-7B9E-CCFE-5B10264D87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AFE7A9-663B-9ECC-758D-E6333CF7F1AA}"/>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149278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BB153-4A12-45C4-6E34-1829C766E0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E93C33-7E96-A211-EDBD-B1D169F3BE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4AC619-A767-C34D-0F0D-80C2440E6483}"/>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5" name="Footer Placeholder 4">
            <a:extLst>
              <a:ext uri="{FF2B5EF4-FFF2-40B4-BE49-F238E27FC236}">
                <a16:creationId xmlns:a16="http://schemas.microsoft.com/office/drawing/2014/main" id="{0DE99D2C-443D-04A4-EDC8-ADAC83612E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E27BFE-2281-5407-C3F0-ACB02134761E}"/>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2934055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0AD45D-4F7A-2E5B-F6D3-9AA57F0FDC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2B1C38-CC95-5B3D-59B5-A2AA544AAB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051F01-FA75-6590-3BF8-BFEDE056FED0}"/>
              </a:ext>
            </a:extLst>
          </p:cNvPr>
          <p:cNvSpPr>
            <a:spLocks noGrp="1"/>
          </p:cNvSpPr>
          <p:nvPr>
            <p:ph type="dt" sz="half" idx="10"/>
          </p:nvPr>
        </p:nvSpPr>
        <p:spPr/>
        <p:txBody>
          <a:bodyPr/>
          <a:lstStyle/>
          <a:p>
            <a:fld id="{D4337785-E38B-4BD2-BD03-35CBA8F15200}" type="datetimeFigureOut">
              <a:rPr lang="en-IN" smtClean="0"/>
              <a:t>25-10-2024</a:t>
            </a:fld>
            <a:endParaRPr lang="en-IN"/>
          </a:p>
        </p:txBody>
      </p:sp>
      <p:sp>
        <p:nvSpPr>
          <p:cNvPr id="5" name="Footer Placeholder 4">
            <a:extLst>
              <a:ext uri="{FF2B5EF4-FFF2-40B4-BE49-F238E27FC236}">
                <a16:creationId xmlns:a16="http://schemas.microsoft.com/office/drawing/2014/main" id="{77F6DA09-E6FF-C6E6-1FE4-FEBB0CFA21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212F71-07B7-D97F-F5E8-F216AA36FCE1}"/>
              </a:ext>
            </a:extLst>
          </p:cNvPr>
          <p:cNvSpPr>
            <a:spLocks noGrp="1"/>
          </p:cNvSpPr>
          <p:nvPr>
            <p:ph type="sldNum" sz="quarter" idx="12"/>
          </p:nvPr>
        </p:nvSpPr>
        <p:spPr/>
        <p:txBody>
          <a:bodyPr/>
          <a:lstStyle/>
          <a:p>
            <a:fld id="{707321E0-3B51-44AC-90A0-43D66077DF87}" type="slidenum">
              <a:rPr lang="en-IN" smtClean="0"/>
              <a:t>‹#›</a:t>
            </a:fld>
            <a:endParaRPr lang="en-IN"/>
          </a:p>
        </p:txBody>
      </p:sp>
    </p:spTree>
    <p:extLst>
      <p:ext uri="{BB962C8B-B14F-4D97-AF65-F5344CB8AC3E}">
        <p14:creationId xmlns:p14="http://schemas.microsoft.com/office/powerpoint/2010/main" val="84092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C7E805-AB88-7BDF-94C1-920A922B32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730987-CBBF-EF07-706D-6E147C652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A89A4A-41EC-39F7-C5CC-967438F788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337785-E38B-4BD2-BD03-35CBA8F15200}" type="datetimeFigureOut">
              <a:rPr lang="en-IN" smtClean="0"/>
              <a:t>25-10-2024</a:t>
            </a:fld>
            <a:endParaRPr lang="en-IN"/>
          </a:p>
        </p:txBody>
      </p:sp>
      <p:sp>
        <p:nvSpPr>
          <p:cNvPr id="5" name="Footer Placeholder 4">
            <a:extLst>
              <a:ext uri="{FF2B5EF4-FFF2-40B4-BE49-F238E27FC236}">
                <a16:creationId xmlns:a16="http://schemas.microsoft.com/office/drawing/2014/main" id="{E4E0A535-F57B-0C33-7FB8-606C5E3827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4A74DB2-5FB2-8123-74D0-510B13703A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7321E0-3B51-44AC-90A0-43D66077DF87}" type="slidenum">
              <a:rPr lang="en-IN" smtClean="0"/>
              <a:t>‹#›</a:t>
            </a:fld>
            <a:endParaRPr lang="en-IN"/>
          </a:p>
        </p:txBody>
      </p:sp>
    </p:spTree>
    <p:extLst>
      <p:ext uri="{BB962C8B-B14F-4D97-AF65-F5344CB8AC3E}">
        <p14:creationId xmlns:p14="http://schemas.microsoft.com/office/powerpoint/2010/main" val="517999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ocs.spring.io/spring-boot/installing.html#getting-started.installing.cli"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 Id="rId9" Type="http://schemas.openxmlformats.org/officeDocument/2006/relationships/image" Target="../media/image6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31" name="Group 30">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32" name="Freeform: Shape 31">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6BECC3F9-0C43-04D5-B864-598542E41147}"/>
              </a:ext>
            </a:extLst>
          </p:cNvPr>
          <p:cNvSpPr>
            <a:spLocks noGrp="1"/>
          </p:cNvSpPr>
          <p:nvPr>
            <p:ph type="ctrTitle"/>
          </p:nvPr>
        </p:nvSpPr>
        <p:spPr>
          <a:xfrm>
            <a:off x="3045368" y="2043663"/>
            <a:ext cx="6105194" cy="2031055"/>
          </a:xfrm>
        </p:spPr>
        <p:txBody>
          <a:bodyPr>
            <a:normAutofit/>
          </a:bodyPr>
          <a:lstStyle/>
          <a:p>
            <a:r>
              <a:rPr lang="en-IN" sz="5200" dirty="0">
                <a:solidFill>
                  <a:schemeClr val="tx2"/>
                </a:solidFill>
              </a:rPr>
              <a:t>Spring Boot Microservices</a:t>
            </a:r>
          </a:p>
        </p:txBody>
      </p:sp>
    </p:spTree>
    <p:extLst>
      <p:ext uri="{BB962C8B-B14F-4D97-AF65-F5344CB8AC3E}">
        <p14:creationId xmlns:p14="http://schemas.microsoft.com/office/powerpoint/2010/main" val="2582370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0" name="Group 19">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1" name="Freeform: Shape 20">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67ADF13-2F91-D39B-7E23-2699DED2DCCA}"/>
              </a:ext>
            </a:extLst>
          </p:cNvPr>
          <p:cNvSpPr>
            <a:spLocks noGrp="1"/>
          </p:cNvSpPr>
          <p:nvPr>
            <p:ph type="title"/>
          </p:nvPr>
        </p:nvSpPr>
        <p:spPr>
          <a:xfrm>
            <a:off x="804672" y="2053641"/>
            <a:ext cx="3669161" cy="2760098"/>
          </a:xfrm>
        </p:spPr>
        <p:txBody>
          <a:bodyPr>
            <a:normAutofit/>
          </a:bodyPr>
          <a:lstStyle/>
          <a:p>
            <a:r>
              <a:rPr lang="en-IN" sz="4000">
                <a:solidFill>
                  <a:schemeClr val="tx2"/>
                </a:solidFill>
                <a:latin typeface="Calibri" panose="020F0502020204030204" pitchFamily="34" charset="0"/>
                <a:ea typeface="Calibri" panose="020F0502020204030204" pitchFamily="34" charset="0"/>
                <a:cs typeface="Calibri" panose="020F0502020204030204" pitchFamily="34" charset="0"/>
              </a:rPr>
              <a:t>What is Spring Boot?</a:t>
            </a:r>
            <a:endParaRPr lang="en-IN" sz="4000">
              <a:solidFill>
                <a:schemeClr val="tx2"/>
              </a:solidFill>
            </a:endParaRPr>
          </a:p>
        </p:txBody>
      </p:sp>
      <p:sp>
        <p:nvSpPr>
          <p:cNvPr id="3" name="Content Placeholder 2">
            <a:extLst>
              <a:ext uri="{FF2B5EF4-FFF2-40B4-BE49-F238E27FC236}">
                <a16:creationId xmlns:a16="http://schemas.microsoft.com/office/drawing/2014/main" id="{CAAEB647-5C36-8DAB-781F-9464FE58E5EE}"/>
              </a:ext>
            </a:extLst>
          </p:cNvPr>
          <p:cNvSpPr>
            <a:spLocks noGrp="1"/>
          </p:cNvSpPr>
          <p:nvPr>
            <p:ph idx="1"/>
          </p:nvPr>
        </p:nvSpPr>
        <p:spPr>
          <a:xfrm>
            <a:off x="6090574" y="801866"/>
            <a:ext cx="5306084" cy="5230634"/>
          </a:xfrm>
          <a:noFill/>
          <a:ln>
            <a:noFill/>
          </a:ln>
        </p:spPr>
        <p:txBody>
          <a:bodyPr anchor="ctr">
            <a:normAutofit/>
          </a:bodyPr>
          <a:lstStyle/>
          <a:p>
            <a:pPr marL="0" indent="0">
              <a:buNone/>
            </a:pPr>
            <a:r>
              <a:rPr lang="en-IN" sz="1800">
                <a:solidFill>
                  <a:schemeClr val="tx2"/>
                </a:solidFill>
                <a:latin typeface="Calibri" panose="020F0502020204030204" pitchFamily="34" charset="0"/>
                <a:ea typeface="Calibri" panose="020F0502020204030204" pitchFamily="34" charset="0"/>
                <a:cs typeface="Calibri" panose="020F0502020204030204" pitchFamily="34" charset="0"/>
              </a:rPr>
              <a:t>A framework that it easy to</a:t>
            </a:r>
          </a:p>
          <a:p>
            <a:pPr lvl="1"/>
            <a:r>
              <a:rPr lang="en-IN" sz="1800">
                <a:solidFill>
                  <a:schemeClr val="tx2"/>
                </a:solidFill>
                <a:latin typeface="Calibri" panose="020F0502020204030204" pitchFamily="34" charset="0"/>
                <a:ea typeface="Calibri" panose="020F0502020204030204" pitchFamily="34" charset="0"/>
                <a:cs typeface="Calibri" panose="020F0502020204030204" pitchFamily="34" charset="0"/>
              </a:rPr>
              <a:t>Create stand-alone, production-grade Spring-based applications</a:t>
            </a:r>
          </a:p>
          <a:p>
            <a:pPr lvl="1"/>
            <a:r>
              <a:rPr lang="en-IN" sz="1800">
                <a:solidFill>
                  <a:schemeClr val="tx2"/>
                </a:solidFill>
                <a:latin typeface="Calibri" panose="020F0502020204030204" pitchFamily="34" charset="0"/>
                <a:ea typeface="Calibri" panose="020F0502020204030204" pitchFamily="34" charset="0"/>
                <a:cs typeface="Calibri" panose="020F0502020204030204" pitchFamily="34" charset="0"/>
              </a:rPr>
              <a:t> Run applications with minimal configuration ("just run") </a:t>
            </a:r>
          </a:p>
          <a:p>
            <a:pPr lvl="1"/>
            <a:r>
              <a:rPr lang="en-IN" sz="1800" b="0" i="0">
                <a:solidFill>
                  <a:schemeClr val="tx2"/>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Embed Tomcat, Jetty or Undertow directly (no need to deploy WAR files)</a:t>
            </a:r>
          </a:p>
          <a:p>
            <a:pPr lvl="1"/>
            <a:r>
              <a:rPr lang="en-IN" sz="1800" b="0" i="0">
                <a:solidFill>
                  <a:schemeClr val="tx2"/>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Provide opinionated 'starter' dependencies to simplify your build configuration</a:t>
            </a:r>
          </a:p>
          <a:p>
            <a:pPr lvl="1"/>
            <a:r>
              <a:rPr lang="en-IN" sz="1800" b="0" i="0">
                <a:solidFill>
                  <a:schemeClr val="tx2"/>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Automatically configure Spring and 3rd party libraries whenever possible</a:t>
            </a:r>
          </a:p>
          <a:p>
            <a:pPr lvl="1"/>
            <a:r>
              <a:rPr lang="en-IN" sz="1800" b="0" i="0">
                <a:solidFill>
                  <a:schemeClr val="tx2"/>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Provide production-ready features such as metrics, health checks, and externalized configuration</a:t>
            </a:r>
          </a:p>
          <a:p>
            <a:pPr lvl="1"/>
            <a:r>
              <a:rPr lang="en-IN" sz="1800" b="0" i="0">
                <a:solidFill>
                  <a:schemeClr val="tx2"/>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Absolutely no code generation and no requirement for XML configuration</a:t>
            </a:r>
          </a:p>
          <a:p>
            <a:pPr marL="0" indent="0">
              <a:buNone/>
            </a:pPr>
            <a:endParaRPr lang="en-IN" sz="1800">
              <a:solidFill>
                <a:schemeClr val="tx2"/>
              </a:solidFill>
            </a:endParaRPr>
          </a:p>
        </p:txBody>
      </p:sp>
    </p:spTree>
    <p:extLst>
      <p:ext uri="{BB962C8B-B14F-4D97-AF65-F5344CB8AC3E}">
        <p14:creationId xmlns:p14="http://schemas.microsoft.com/office/powerpoint/2010/main" val="1691631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3BCCBB5-31A8-5CCD-BFDA-365EB4827306}"/>
              </a:ext>
            </a:extLst>
          </p:cNvPr>
          <p:cNvSpPr>
            <a:spLocks noGrp="1"/>
          </p:cNvSpPr>
          <p:nvPr>
            <p:ph type="title"/>
          </p:nvPr>
        </p:nvSpPr>
        <p:spPr>
          <a:xfrm>
            <a:off x="804672" y="1243013"/>
            <a:ext cx="3855720" cy="4371974"/>
          </a:xfrm>
        </p:spPr>
        <p:txBody>
          <a:bodyPr>
            <a:normAutofit/>
          </a:bodyPr>
          <a:lstStyle/>
          <a:p>
            <a:r>
              <a:rPr lang="en-IN" sz="3600">
                <a:solidFill>
                  <a:schemeClr val="tx2"/>
                </a:solidFill>
              </a:rPr>
              <a:t>Spring CLI</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36A03AAF-43F8-A81C-E31B-52FB1BFBA22C}"/>
              </a:ext>
            </a:extLst>
          </p:cNvPr>
          <p:cNvSpPr>
            <a:spLocks noGrp="1"/>
          </p:cNvSpPr>
          <p:nvPr>
            <p:ph idx="1"/>
          </p:nvPr>
        </p:nvSpPr>
        <p:spPr>
          <a:xfrm>
            <a:off x="6632812" y="1032987"/>
            <a:ext cx="4919108" cy="4792027"/>
          </a:xfrm>
        </p:spPr>
        <p:txBody>
          <a:bodyPr anchor="ctr">
            <a:normAutofit/>
          </a:bodyPr>
          <a:lstStyle/>
          <a:p>
            <a:r>
              <a:rPr lang="en-IN" sz="2000">
                <a:solidFill>
                  <a:schemeClr val="tx2"/>
                </a:solidFill>
                <a:highlight>
                  <a:srgbClr val="FFFFFF"/>
                </a:highlight>
                <a:latin typeface="-apple-system"/>
              </a:rPr>
              <a:t>The Spring Boot CLI is a command line tool that you can use to bootstrap a new project.</a:t>
            </a:r>
          </a:p>
          <a:p>
            <a:endParaRPr lang="en-IN" sz="2000">
              <a:solidFill>
                <a:schemeClr val="tx2"/>
              </a:solidFill>
              <a:highlight>
                <a:srgbClr val="FFFFFF"/>
              </a:highlight>
              <a:latin typeface="-apple-system"/>
            </a:endParaRPr>
          </a:p>
          <a:p>
            <a:r>
              <a:rPr lang="en-IN" sz="2000">
                <a:solidFill>
                  <a:schemeClr val="tx2"/>
                </a:solidFill>
                <a:highlight>
                  <a:srgbClr val="FFFFFF"/>
                </a:highlight>
                <a:latin typeface="-apple-system"/>
                <a:hlinkClick r:id="rId2">
                  <a:extLst>
                    <a:ext uri="{A12FA001-AC4F-418D-AE19-62706E023703}">
                      <ahyp:hlinkClr xmlns:ahyp="http://schemas.microsoft.com/office/drawing/2018/hyperlinkcolor" val="tx"/>
                    </a:ext>
                  </a:extLst>
                </a:hlinkClick>
              </a:rPr>
              <a:t>https://docs.spring.io/spring-boot/installing.html#getting-started.installing.cli</a:t>
            </a:r>
            <a:r>
              <a:rPr lang="en-IN" sz="2000">
                <a:solidFill>
                  <a:schemeClr val="tx2"/>
                </a:solidFill>
                <a:highlight>
                  <a:srgbClr val="FFFFFF"/>
                </a:highlight>
                <a:latin typeface="-apple-system"/>
              </a:rPr>
              <a:t> </a:t>
            </a:r>
          </a:p>
          <a:p>
            <a:pPr lvl="1"/>
            <a:endParaRPr lang="en-IN" sz="2000">
              <a:solidFill>
                <a:schemeClr val="tx2"/>
              </a:solidFill>
              <a:highlight>
                <a:srgbClr val="FFFFFF"/>
              </a:highlight>
              <a:latin typeface="-apple-system"/>
            </a:endParaRPr>
          </a:p>
          <a:p>
            <a:pPr lvl="1"/>
            <a:r>
              <a:rPr lang="en-IN" sz="2000">
                <a:solidFill>
                  <a:schemeClr val="tx2"/>
                </a:solidFill>
                <a:highlight>
                  <a:srgbClr val="FFFFFF"/>
                </a:highlight>
                <a:latin typeface="-apple-system"/>
              </a:rPr>
              <a:t>Some Commands</a:t>
            </a:r>
          </a:p>
          <a:p>
            <a:pPr lvl="2"/>
            <a:r>
              <a:rPr lang="en-IN">
                <a:solidFill>
                  <a:schemeClr val="tx2"/>
                </a:solidFill>
                <a:highlight>
                  <a:srgbClr val="FFFFFF"/>
                </a:highlight>
                <a:latin typeface="-apple-system"/>
              </a:rPr>
              <a:t>spring version</a:t>
            </a:r>
          </a:p>
          <a:p>
            <a:pPr lvl="2"/>
            <a:r>
              <a:rPr lang="en-IN">
                <a:solidFill>
                  <a:schemeClr val="tx2"/>
                </a:solidFill>
                <a:highlight>
                  <a:srgbClr val="FFFFFF"/>
                </a:highlight>
                <a:latin typeface="-apple-system"/>
              </a:rPr>
              <a:t>spring init --dependencies=web,data-jpa my-project</a:t>
            </a:r>
          </a:p>
        </p:txBody>
      </p:sp>
    </p:spTree>
    <p:extLst>
      <p:ext uri="{BB962C8B-B14F-4D97-AF65-F5344CB8AC3E}">
        <p14:creationId xmlns:p14="http://schemas.microsoft.com/office/powerpoint/2010/main" val="3311606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5B2894-4C40-EC88-DE45-C5FE282FCAD4}"/>
              </a:ext>
            </a:extLst>
          </p:cNvPr>
          <p:cNvSpPr>
            <a:spLocks noGrp="1"/>
          </p:cNvSpPr>
          <p:nvPr>
            <p:ph type="title"/>
          </p:nvPr>
        </p:nvSpPr>
        <p:spPr>
          <a:xfrm>
            <a:off x="804672" y="802955"/>
            <a:ext cx="4766330" cy="1454051"/>
          </a:xfrm>
        </p:spPr>
        <p:txBody>
          <a:bodyPr>
            <a:normAutofit/>
          </a:bodyPr>
          <a:lstStyle/>
          <a:p>
            <a:r>
              <a:rPr lang="en-IN" sz="3600">
                <a:solidFill>
                  <a:schemeClr val="tx2"/>
                </a:solidFill>
              </a:rPr>
              <a:t>Rest Template</a:t>
            </a:r>
          </a:p>
        </p:txBody>
      </p:sp>
      <p:sp>
        <p:nvSpPr>
          <p:cNvPr id="3" name="Content Placeholder 2">
            <a:extLst>
              <a:ext uri="{FF2B5EF4-FFF2-40B4-BE49-F238E27FC236}">
                <a16:creationId xmlns:a16="http://schemas.microsoft.com/office/drawing/2014/main" id="{277FD5D3-8537-313C-7904-FB9AF756F5F7}"/>
              </a:ext>
            </a:extLst>
          </p:cNvPr>
          <p:cNvSpPr>
            <a:spLocks noGrp="1"/>
          </p:cNvSpPr>
          <p:nvPr>
            <p:ph idx="1"/>
          </p:nvPr>
        </p:nvSpPr>
        <p:spPr>
          <a:xfrm>
            <a:off x="804672" y="2421683"/>
            <a:ext cx="4765949" cy="3353476"/>
          </a:xfrm>
        </p:spPr>
        <p:txBody>
          <a:bodyPr anchor="t">
            <a:normAutofit/>
          </a:bodyPr>
          <a:lstStyle/>
          <a:p>
            <a:pPr marL="285750">
              <a:spcAft>
                <a:spcPts val="600"/>
              </a:spcAft>
            </a:pPr>
            <a:r>
              <a:rPr lang="en-IN" sz="1500" b="1" dirty="0" err="1">
                <a:solidFill>
                  <a:schemeClr val="tx2"/>
                </a:solidFill>
                <a:highlight>
                  <a:srgbClr val="FFFFFF"/>
                </a:highlight>
              </a:rPr>
              <a:t>RestTemplate</a:t>
            </a:r>
            <a:r>
              <a:rPr lang="en-IN" sz="1500" dirty="0">
                <a:solidFill>
                  <a:schemeClr val="tx2"/>
                </a:solidFill>
                <a:highlight>
                  <a:srgbClr val="FFFFFF"/>
                </a:highlight>
              </a:rPr>
              <a:t> is a class in Spring Framework used to make HTTP requests to RESTful services.</a:t>
            </a:r>
          </a:p>
          <a:p>
            <a:pPr marL="285750">
              <a:spcAft>
                <a:spcPts val="600"/>
              </a:spcAft>
            </a:pPr>
            <a:r>
              <a:rPr lang="en-IN" sz="1500" dirty="0">
                <a:solidFill>
                  <a:schemeClr val="tx2"/>
                </a:solidFill>
                <a:highlight>
                  <a:srgbClr val="FFFFFF"/>
                </a:highlight>
              </a:rPr>
              <a:t>It provides methods for common HTTP operations like GET, POST, PUT, DELETE, etc.</a:t>
            </a:r>
          </a:p>
          <a:p>
            <a:pPr marL="285750">
              <a:spcAft>
                <a:spcPts val="600"/>
              </a:spcAft>
            </a:pPr>
            <a:r>
              <a:rPr lang="en-IN" sz="1500" dirty="0">
                <a:solidFill>
                  <a:schemeClr val="tx2"/>
                </a:solidFill>
                <a:highlight>
                  <a:srgbClr val="FFFFFF"/>
                </a:highlight>
              </a:rPr>
              <a:t>Simplifies communication between microservices or external APIs.</a:t>
            </a:r>
          </a:p>
          <a:p>
            <a:pPr marL="285750">
              <a:spcAft>
                <a:spcPts val="600"/>
              </a:spcAft>
            </a:pPr>
            <a:r>
              <a:rPr lang="en-IN" sz="1500" dirty="0">
                <a:solidFill>
                  <a:schemeClr val="tx2"/>
                </a:solidFill>
                <a:highlight>
                  <a:srgbClr val="FFFFFF"/>
                </a:highlight>
              </a:rPr>
              <a:t>Automatically handles data conversion between Java objects and HTTP responses using serializers like JSON or XML.</a:t>
            </a:r>
          </a:p>
          <a:p>
            <a:pPr marL="285750">
              <a:spcAft>
                <a:spcPts val="600"/>
              </a:spcAft>
            </a:pPr>
            <a:r>
              <a:rPr lang="en-IN" sz="1500" dirty="0">
                <a:solidFill>
                  <a:schemeClr val="tx2"/>
                </a:solidFill>
                <a:highlight>
                  <a:srgbClr val="FFFFFF"/>
                </a:highlight>
              </a:rPr>
              <a:t>Can easily integrate with authentication, headers, and other HTTP configurations.</a:t>
            </a:r>
          </a:p>
          <a:p>
            <a:endParaRPr lang="en-IN" sz="1500" dirty="0">
              <a:solidFill>
                <a:schemeClr val="tx2"/>
              </a:solidFill>
            </a:endParaRPr>
          </a:p>
        </p:txBody>
      </p:sp>
      <p:grpSp>
        <p:nvGrpSpPr>
          <p:cNvPr id="45" name="Group 4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46" name="Freeform: Shape 4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CCEBDAE9-76D2-D952-ACB6-484DB8E167F3}"/>
              </a:ext>
            </a:extLst>
          </p:cNvPr>
          <p:cNvGrpSpPr/>
          <p:nvPr/>
        </p:nvGrpSpPr>
        <p:grpSpPr>
          <a:xfrm>
            <a:off x="6754761" y="3106994"/>
            <a:ext cx="5436933" cy="1149195"/>
            <a:chOff x="104330" y="4266793"/>
            <a:chExt cx="11366747" cy="2005493"/>
          </a:xfrm>
        </p:grpSpPr>
        <p:pic>
          <p:nvPicPr>
            <p:cNvPr id="15" name="Graphic 14" descr="Transfer with solid fill">
              <a:extLst>
                <a:ext uri="{FF2B5EF4-FFF2-40B4-BE49-F238E27FC236}">
                  <a16:creationId xmlns:a16="http://schemas.microsoft.com/office/drawing/2014/main" id="{1055449F-0222-F0CD-9068-8F562F1230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66478" y="4874528"/>
              <a:ext cx="914400" cy="914400"/>
            </a:xfrm>
            <a:prstGeom prst="rect">
              <a:avLst/>
            </a:prstGeom>
          </p:spPr>
        </p:pic>
        <p:pic>
          <p:nvPicPr>
            <p:cNvPr id="16" name="Graphic 15" descr="Laptop with solid fill">
              <a:extLst>
                <a:ext uri="{FF2B5EF4-FFF2-40B4-BE49-F238E27FC236}">
                  <a16:creationId xmlns:a16="http://schemas.microsoft.com/office/drawing/2014/main" id="{B43D8D52-5B25-F819-BFD1-2BC58FCD553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73147" y="4391171"/>
              <a:ext cx="1881115" cy="1881115"/>
            </a:xfrm>
            <a:prstGeom prst="rect">
              <a:avLst/>
            </a:prstGeom>
          </p:spPr>
        </p:pic>
        <p:pic>
          <p:nvPicPr>
            <p:cNvPr id="17" name="Graphic 16" descr="Database with solid fill">
              <a:extLst>
                <a:ext uri="{FF2B5EF4-FFF2-40B4-BE49-F238E27FC236}">
                  <a16:creationId xmlns:a16="http://schemas.microsoft.com/office/drawing/2014/main" id="{287A5DCF-777A-D36E-E3C1-4C26FC66B5A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89962" y="4266793"/>
              <a:ext cx="1881115" cy="1881115"/>
            </a:xfrm>
            <a:prstGeom prst="rect">
              <a:avLst/>
            </a:prstGeom>
          </p:spPr>
        </p:pic>
        <p:pic>
          <p:nvPicPr>
            <p:cNvPr id="19" name="Graphic 18" descr="Laptop with solid fill">
              <a:extLst>
                <a:ext uri="{FF2B5EF4-FFF2-40B4-BE49-F238E27FC236}">
                  <a16:creationId xmlns:a16="http://schemas.microsoft.com/office/drawing/2014/main" id="{4489A693-F5AF-C3FD-D79D-B6AC7048FE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99495" y="4391171"/>
              <a:ext cx="1881115" cy="1881115"/>
            </a:xfrm>
            <a:prstGeom prst="rect">
              <a:avLst/>
            </a:prstGeom>
          </p:spPr>
        </p:pic>
        <p:pic>
          <p:nvPicPr>
            <p:cNvPr id="21" name="Graphic 20" descr="Programmer female with solid fill">
              <a:extLst>
                <a:ext uri="{FF2B5EF4-FFF2-40B4-BE49-F238E27FC236}">
                  <a16:creationId xmlns:a16="http://schemas.microsoft.com/office/drawing/2014/main" id="{E6497593-D6D8-2E70-1170-9F884B6AB17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330" y="4266793"/>
              <a:ext cx="1881115" cy="1881115"/>
            </a:xfrm>
            <a:prstGeom prst="rect">
              <a:avLst/>
            </a:prstGeom>
          </p:spPr>
        </p:pic>
        <p:pic>
          <p:nvPicPr>
            <p:cNvPr id="27" name="Graphic 26" descr="Transfer with solid fill">
              <a:extLst>
                <a:ext uri="{FF2B5EF4-FFF2-40B4-BE49-F238E27FC236}">
                  <a16:creationId xmlns:a16="http://schemas.microsoft.com/office/drawing/2014/main" id="{55F1B556-9672-E695-1444-AEC712DB1E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93331" y="4948084"/>
              <a:ext cx="914400" cy="914400"/>
            </a:xfrm>
            <a:prstGeom prst="rect">
              <a:avLst/>
            </a:prstGeom>
          </p:spPr>
        </p:pic>
        <p:pic>
          <p:nvPicPr>
            <p:cNvPr id="33" name="Graphic 32" descr="Transfer with solid fill">
              <a:extLst>
                <a:ext uri="{FF2B5EF4-FFF2-40B4-BE49-F238E27FC236}">
                  <a16:creationId xmlns:a16="http://schemas.microsoft.com/office/drawing/2014/main" id="{8CE6E195-8CA9-DFCA-0081-43B5FE6B17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75562" y="4862238"/>
              <a:ext cx="914400" cy="914400"/>
            </a:xfrm>
            <a:prstGeom prst="rect">
              <a:avLst/>
            </a:prstGeom>
          </p:spPr>
        </p:pic>
        <p:sp>
          <p:nvSpPr>
            <p:cNvPr id="34" name="TextBox 33">
              <a:extLst>
                <a:ext uri="{FF2B5EF4-FFF2-40B4-BE49-F238E27FC236}">
                  <a16:creationId xmlns:a16="http://schemas.microsoft.com/office/drawing/2014/main" id="{65186B5A-B932-5467-F2E2-208301ED73E4}"/>
                </a:ext>
              </a:extLst>
            </p:cNvPr>
            <p:cNvSpPr txBox="1"/>
            <p:nvPr/>
          </p:nvSpPr>
          <p:spPr>
            <a:xfrm>
              <a:off x="1788161" y="4692681"/>
              <a:ext cx="1627753" cy="369332"/>
            </a:xfrm>
            <a:prstGeom prst="rect">
              <a:avLst/>
            </a:prstGeom>
            <a:noFill/>
          </p:spPr>
          <p:txBody>
            <a:bodyPr wrap="none" rtlCol="0">
              <a:spAutoFit/>
            </a:bodyPr>
            <a:lstStyle/>
            <a:p>
              <a:pPr defTabSz="329184">
                <a:spcAft>
                  <a:spcPts val="600"/>
                </a:spcAft>
              </a:pPr>
              <a:r>
                <a:rPr lang="en-IN" sz="648" kern="1200">
                  <a:solidFill>
                    <a:schemeClr val="tx1"/>
                  </a:solidFill>
                  <a:latin typeface="+mn-lt"/>
                  <a:ea typeface="+mn-ea"/>
                  <a:cs typeface="+mn-cs"/>
                </a:rPr>
                <a:t>UI/REST Client</a:t>
              </a:r>
              <a:endParaRPr lang="en-IN"/>
            </a:p>
          </p:txBody>
        </p:sp>
        <p:sp>
          <p:nvSpPr>
            <p:cNvPr id="35" name="TextBox 34">
              <a:extLst>
                <a:ext uri="{FF2B5EF4-FFF2-40B4-BE49-F238E27FC236}">
                  <a16:creationId xmlns:a16="http://schemas.microsoft.com/office/drawing/2014/main" id="{E73433E5-B01E-E5AB-75F7-05B566089348}"/>
                </a:ext>
              </a:extLst>
            </p:cNvPr>
            <p:cNvSpPr txBox="1"/>
            <p:nvPr/>
          </p:nvSpPr>
          <p:spPr>
            <a:xfrm>
              <a:off x="5282123" y="4677572"/>
              <a:ext cx="1652568" cy="369332"/>
            </a:xfrm>
            <a:prstGeom prst="rect">
              <a:avLst/>
            </a:prstGeom>
            <a:noFill/>
          </p:spPr>
          <p:txBody>
            <a:bodyPr wrap="none" rtlCol="0">
              <a:spAutoFit/>
            </a:bodyPr>
            <a:lstStyle/>
            <a:p>
              <a:pPr defTabSz="329184">
                <a:spcAft>
                  <a:spcPts val="600"/>
                </a:spcAft>
              </a:pPr>
              <a:r>
                <a:rPr lang="en-IN" sz="648" kern="1200">
                  <a:solidFill>
                    <a:schemeClr val="tx1"/>
                  </a:solidFill>
                  <a:latin typeface="+mn-lt"/>
                  <a:ea typeface="+mn-ea"/>
                  <a:cs typeface="+mn-cs"/>
                </a:rPr>
                <a:t>REST Template</a:t>
              </a:r>
              <a:endParaRPr lang="en-IN"/>
            </a:p>
          </p:txBody>
        </p:sp>
        <p:sp>
          <p:nvSpPr>
            <p:cNvPr id="36" name="TextBox 35">
              <a:extLst>
                <a:ext uri="{FF2B5EF4-FFF2-40B4-BE49-F238E27FC236}">
                  <a16:creationId xmlns:a16="http://schemas.microsoft.com/office/drawing/2014/main" id="{B673BF86-42E3-EE6E-0B5C-2F769583C9C7}"/>
                </a:ext>
              </a:extLst>
            </p:cNvPr>
            <p:cNvSpPr txBox="1"/>
            <p:nvPr/>
          </p:nvSpPr>
          <p:spPr>
            <a:xfrm>
              <a:off x="8734068" y="4677572"/>
              <a:ext cx="702436" cy="369332"/>
            </a:xfrm>
            <a:prstGeom prst="rect">
              <a:avLst/>
            </a:prstGeom>
            <a:noFill/>
          </p:spPr>
          <p:txBody>
            <a:bodyPr wrap="none" rtlCol="0">
              <a:spAutoFit/>
            </a:bodyPr>
            <a:lstStyle/>
            <a:p>
              <a:pPr defTabSz="329184">
                <a:spcAft>
                  <a:spcPts val="600"/>
                </a:spcAft>
              </a:pPr>
              <a:r>
                <a:rPr lang="en-IN" sz="648" kern="1200">
                  <a:solidFill>
                    <a:schemeClr val="tx1"/>
                  </a:solidFill>
                  <a:latin typeface="+mn-lt"/>
                  <a:ea typeface="+mn-ea"/>
                  <a:cs typeface="+mn-cs"/>
                </a:rPr>
                <a:t>HTTP</a:t>
              </a:r>
              <a:endParaRPr lang="en-IN"/>
            </a:p>
          </p:txBody>
        </p:sp>
      </p:grpSp>
    </p:spTree>
    <p:extLst>
      <p:ext uri="{BB962C8B-B14F-4D97-AF65-F5344CB8AC3E}">
        <p14:creationId xmlns:p14="http://schemas.microsoft.com/office/powerpoint/2010/main" val="1275449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7BDD930-0E65-490A-9CE5-554C357C4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A912C67-99A1-4956-8F68-1846C2177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33FE6-7D4C-23DF-FF2F-BAD0EF4F7974}"/>
              </a:ext>
            </a:extLst>
          </p:cNvPr>
          <p:cNvSpPr>
            <a:spLocks noGrp="1"/>
          </p:cNvSpPr>
          <p:nvPr>
            <p:ph type="title"/>
          </p:nvPr>
        </p:nvSpPr>
        <p:spPr>
          <a:xfrm>
            <a:off x="804672" y="457200"/>
            <a:ext cx="10579398" cy="1299411"/>
          </a:xfrm>
        </p:spPr>
        <p:txBody>
          <a:bodyPr>
            <a:normAutofit/>
          </a:bodyPr>
          <a:lstStyle/>
          <a:p>
            <a:r>
              <a:rPr lang="en-IN" sz="3600">
                <a:solidFill>
                  <a:schemeClr val="tx2"/>
                </a:solidFill>
              </a:rPr>
              <a:t>Rest Template</a:t>
            </a:r>
          </a:p>
        </p:txBody>
      </p:sp>
      <p:sp>
        <p:nvSpPr>
          <p:cNvPr id="3" name="Content Placeholder 2">
            <a:extLst>
              <a:ext uri="{FF2B5EF4-FFF2-40B4-BE49-F238E27FC236}">
                <a16:creationId xmlns:a16="http://schemas.microsoft.com/office/drawing/2014/main" id="{465D896E-878E-28F7-A114-BAE457196456}"/>
              </a:ext>
            </a:extLst>
          </p:cNvPr>
          <p:cNvSpPr>
            <a:spLocks noGrp="1"/>
          </p:cNvSpPr>
          <p:nvPr>
            <p:ph idx="1"/>
          </p:nvPr>
        </p:nvSpPr>
        <p:spPr>
          <a:xfrm>
            <a:off x="6354871" y="2827419"/>
            <a:ext cx="5029200" cy="3227626"/>
          </a:xfrm>
        </p:spPr>
        <p:txBody>
          <a:bodyPr anchor="ctr">
            <a:normAutofit/>
          </a:bodyPr>
          <a:lstStyle/>
          <a:p>
            <a:r>
              <a:rPr lang="en-IN" sz="1800" dirty="0">
                <a:solidFill>
                  <a:schemeClr val="tx2"/>
                </a:solidFill>
              </a:rPr>
              <a:t>Use Case</a:t>
            </a:r>
          </a:p>
          <a:p>
            <a:pPr lvl="1"/>
            <a:r>
              <a:rPr lang="en-IN" sz="1800" dirty="0">
                <a:solidFill>
                  <a:schemeClr val="tx2"/>
                </a:solidFill>
              </a:rPr>
              <a:t>A </a:t>
            </a:r>
            <a:r>
              <a:rPr lang="en-IN" sz="1800" dirty="0" err="1">
                <a:solidFill>
                  <a:schemeClr val="tx2"/>
                </a:solidFill>
              </a:rPr>
              <a:t>RestTemplate</a:t>
            </a:r>
            <a:r>
              <a:rPr lang="en-IN" sz="1800" dirty="0">
                <a:solidFill>
                  <a:schemeClr val="tx2"/>
                </a:solidFill>
              </a:rPr>
              <a:t> can be used in an Order Service to send a request to an Inventory Service to check if items are available. The Order Service calls the Inventory Service's API using </a:t>
            </a:r>
            <a:r>
              <a:rPr lang="en-IN" sz="1800" dirty="0" err="1">
                <a:solidFill>
                  <a:schemeClr val="tx2"/>
                </a:solidFill>
              </a:rPr>
              <a:t>RestTemplate</a:t>
            </a:r>
            <a:r>
              <a:rPr lang="en-IN" sz="1800" dirty="0">
                <a:solidFill>
                  <a:schemeClr val="tx2"/>
                </a:solidFill>
              </a:rPr>
              <a:t> to retrieve the stock availability before confirming the order.</a:t>
            </a:r>
          </a:p>
        </p:txBody>
      </p:sp>
      <p:grpSp>
        <p:nvGrpSpPr>
          <p:cNvPr id="29" name="Group 28">
            <a:extLst>
              <a:ext uri="{FF2B5EF4-FFF2-40B4-BE49-F238E27FC236}">
                <a16:creationId xmlns:a16="http://schemas.microsoft.com/office/drawing/2014/main" id="{569E5994-073E-4708-B3E6-43BFED0CE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30" name="Freeform: Shape 29">
              <a:extLst>
                <a:ext uri="{FF2B5EF4-FFF2-40B4-BE49-F238E27FC236}">
                  <a16:creationId xmlns:a16="http://schemas.microsoft.com/office/drawing/2014/main" id="{532F818D-9087-4691-AABA-465619A0C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8B7668A-5C96-4FB9-BFA9-38094EB87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BF4F95BD-8661-4C45-94E3-CF3159BF4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E85BBF8A-E2FB-47F6-A60F-4FB855D50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2DA8B28F-3916-9EAC-1959-52CFF8D10CEF}"/>
              </a:ext>
            </a:extLst>
          </p:cNvPr>
          <p:cNvPicPr>
            <a:picLocks noChangeAspect="1"/>
          </p:cNvPicPr>
          <p:nvPr/>
        </p:nvPicPr>
        <p:blipFill>
          <a:blip r:embed="rId3"/>
          <a:stretch>
            <a:fillRect/>
          </a:stretch>
        </p:blipFill>
        <p:spPr>
          <a:xfrm>
            <a:off x="804671" y="3994263"/>
            <a:ext cx="4954693" cy="904231"/>
          </a:xfrm>
          <a:prstGeom prst="rect">
            <a:avLst/>
          </a:prstGeom>
        </p:spPr>
      </p:pic>
      <p:grpSp>
        <p:nvGrpSpPr>
          <p:cNvPr id="34" name="Group 33">
            <a:extLst>
              <a:ext uri="{FF2B5EF4-FFF2-40B4-BE49-F238E27FC236}">
                <a16:creationId xmlns:a16="http://schemas.microsoft.com/office/drawing/2014/main" id="{DD81D498-EAA8-40F3-8230-AE4DEDA383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35" name="Freeform: Shape 34">
              <a:extLst>
                <a:ext uri="{FF2B5EF4-FFF2-40B4-BE49-F238E27FC236}">
                  <a16:creationId xmlns:a16="http://schemas.microsoft.com/office/drawing/2014/main" id="{262F2402-5879-41A3-ACEC-6D2811BA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BBD41895-A230-4959-97BA-80F516383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E670BD54-10A6-4092-9E32-647B2F870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8" name="Freeform: Shape 37">
              <a:extLst>
                <a:ext uri="{FF2B5EF4-FFF2-40B4-BE49-F238E27FC236}">
                  <a16:creationId xmlns:a16="http://schemas.microsoft.com/office/drawing/2014/main" id="{1C2B9A82-4826-4BF4-A16E-0B005FE76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576937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107D83B6-8783-64BA-BE6C-BF3A19EC78B5}"/>
              </a:ext>
            </a:extLst>
          </p:cNvPr>
          <p:cNvSpPr>
            <a:spLocks noGrp="1"/>
          </p:cNvSpPr>
          <p:nvPr>
            <p:ph type="title"/>
          </p:nvPr>
        </p:nvSpPr>
        <p:spPr>
          <a:xfrm>
            <a:off x="1179226" y="1280679"/>
            <a:ext cx="9833548" cy="1325563"/>
          </a:xfrm>
        </p:spPr>
        <p:txBody>
          <a:bodyPr anchor="b">
            <a:normAutofit/>
          </a:bodyPr>
          <a:lstStyle/>
          <a:p>
            <a:pPr algn="ctr"/>
            <a:r>
              <a:rPr lang="en-IN" sz="3600">
                <a:solidFill>
                  <a:schemeClr val="tx2"/>
                </a:solidFill>
              </a:rPr>
              <a:t>Content Negotiation</a:t>
            </a:r>
          </a:p>
        </p:txBody>
      </p:sp>
      <p:grpSp>
        <p:nvGrpSpPr>
          <p:cNvPr id="25" name="Group 24">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6" name="Freeform: Shape 25">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9BD7971-E5F8-4A0E-4DAB-BA9F87B6410E}"/>
              </a:ext>
            </a:extLst>
          </p:cNvPr>
          <p:cNvSpPr>
            <a:spLocks noGrp="1"/>
          </p:cNvSpPr>
          <p:nvPr>
            <p:ph idx="1"/>
          </p:nvPr>
        </p:nvSpPr>
        <p:spPr>
          <a:xfrm>
            <a:off x="1179226" y="2890979"/>
            <a:ext cx="9833548" cy="2693976"/>
          </a:xfrm>
        </p:spPr>
        <p:txBody>
          <a:bodyPr>
            <a:normAutofit/>
          </a:bodyPr>
          <a:lstStyle/>
          <a:p>
            <a:r>
              <a:rPr lang="en-IN" sz="1800" dirty="0">
                <a:solidFill>
                  <a:schemeClr val="tx2"/>
                </a:solidFill>
              </a:rPr>
              <a:t>In Spring Boot, </a:t>
            </a:r>
            <a:r>
              <a:rPr lang="en-IN" sz="1800" b="1" dirty="0">
                <a:solidFill>
                  <a:schemeClr val="tx2"/>
                </a:solidFill>
              </a:rPr>
              <a:t>Content Negotiation</a:t>
            </a:r>
            <a:r>
              <a:rPr lang="en-IN" sz="1800" dirty="0">
                <a:solidFill>
                  <a:schemeClr val="tx2"/>
                </a:solidFill>
              </a:rPr>
              <a:t> allows your RESTful web services to serve different formats of data, such as </a:t>
            </a:r>
            <a:r>
              <a:rPr lang="en-IN" sz="1800" b="1" dirty="0">
                <a:solidFill>
                  <a:schemeClr val="tx2"/>
                </a:solidFill>
              </a:rPr>
              <a:t>JSON</a:t>
            </a:r>
            <a:r>
              <a:rPr lang="en-IN" sz="1800" dirty="0">
                <a:solidFill>
                  <a:schemeClr val="tx2"/>
                </a:solidFill>
              </a:rPr>
              <a:t> and </a:t>
            </a:r>
            <a:r>
              <a:rPr lang="en-IN" sz="1800" b="1" dirty="0">
                <a:solidFill>
                  <a:schemeClr val="tx2"/>
                </a:solidFill>
              </a:rPr>
              <a:t>XML</a:t>
            </a:r>
            <a:r>
              <a:rPr lang="en-IN" sz="1800" dirty="0">
                <a:solidFill>
                  <a:schemeClr val="tx2"/>
                </a:solidFill>
              </a:rPr>
              <a:t>, based on the client's request. By default, Spring Boot supports JSON, but it also allows serving XML if needed. Content negotiation happens based on the </a:t>
            </a:r>
            <a:r>
              <a:rPr lang="en-IN" sz="1800" b="1" dirty="0">
                <a:solidFill>
                  <a:schemeClr val="tx2"/>
                </a:solidFill>
              </a:rPr>
              <a:t>Accept</a:t>
            </a:r>
            <a:r>
              <a:rPr lang="en-IN" sz="1800" dirty="0">
                <a:solidFill>
                  <a:schemeClr val="tx2"/>
                </a:solidFill>
              </a:rPr>
              <a:t> header or the file extension provided in the request.</a:t>
            </a:r>
          </a:p>
        </p:txBody>
      </p:sp>
      <p:grpSp>
        <p:nvGrpSpPr>
          <p:cNvPr id="37" name="Group 36">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38" name="Freeform: Shape 37">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63157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74" name="Group 73">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75" name="Freeform: Shape 74">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Shape 76">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Shape 77">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 name="Freeform: Shape 70">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1029F51-79E9-0060-A1D4-7C4AFF027386}"/>
              </a:ext>
            </a:extLst>
          </p:cNvPr>
          <p:cNvSpPr>
            <a:spLocks noGrp="1"/>
          </p:cNvSpPr>
          <p:nvPr>
            <p:ph type="title"/>
          </p:nvPr>
        </p:nvSpPr>
        <p:spPr>
          <a:xfrm>
            <a:off x="804672" y="2053641"/>
            <a:ext cx="3669161" cy="2760098"/>
          </a:xfrm>
        </p:spPr>
        <p:txBody>
          <a:bodyPr>
            <a:normAutofit/>
          </a:bodyPr>
          <a:lstStyle/>
          <a:p>
            <a:r>
              <a:rPr lang="en-IN" sz="4000">
                <a:solidFill>
                  <a:schemeClr val="tx2"/>
                </a:solidFill>
              </a:rPr>
              <a:t>How Content Negotiation Works</a:t>
            </a:r>
          </a:p>
        </p:txBody>
      </p:sp>
      <p:sp>
        <p:nvSpPr>
          <p:cNvPr id="30" name="Content Placeholder 2">
            <a:extLst>
              <a:ext uri="{FF2B5EF4-FFF2-40B4-BE49-F238E27FC236}">
                <a16:creationId xmlns:a16="http://schemas.microsoft.com/office/drawing/2014/main" id="{C1FE3297-E7D0-A9B2-4F9A-4B6E1892EEC6}"/>
              </a:ext>
            </a:extLst>
          </p:cNvPr>
          <p:cNvSpPr>
            <a:spLocks noGrp="1"/>
          </p:cNvSpPr>
          <p:nvPr>
            <p:ph idx="1"/>
          </p:nvPr>
        </p:nvSpPr>
        <p:spPr>
          <a:xfrm>
            <a:off x="5749684" y="801866"/>
            <a:ext cx="5646974" cy="5230634"/>
          </a:xfrm>
          <a:noFill/>
          <a:ln>
            <a:noFill/>
          </a:ln>
        </p:spPr>
        <p:txBody>
          <a:bodyPr anchor="ctr">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solidFill>
                  <a:schemeClr val="tx2"/>
                </a:solidFill>
                <a:effectLst/>
                <a:latin typeface="Arial" panose="020B0604020202020204" pitchFamily="34" charset="0"/>
              </a:rPr>
              <a:t>Client Request:</a:t>
            </a:r>
            <a:r>
              <a:rPr kumimoji="0" lang="en-US" altLang="en-US" sz="1800" b="0" i="0" u="none" strike="noStrike" cap="none" normalizeH="0" baseline="0" dirty="0">
                <a:ln>
                  <a:noFill/>
                </a:ln>
                <a:solidFill>
                  <a:schemeClr val="tx2"/>
                </a:solidFill>
                <a:effectLst/>
                <a:latin typeface="Arial" panose="020B0604020202020204" pitchFamily="34" charset="0"/>
              </a:rPr>
              <a:t> The client specifies the format it wants (JSON, XML, etc.) using the </a:t>
            </a:r>
            <a:r>
              <a:rPr kumimoji="0" lang="en-US" altLang="en-US" sz="1800" b="0" i="0" u="none" strike="noStrike" cap="none" normalizeH="0" baseline="0" dirty="0">
                <a:ln>
                  <a:noFill/>
                </a:ln>
                <a:solidFill>
                  <a:schemeClr val="tx2"/>
                </a:solidFill>
                <a:effectLst/>
                <a:latin typeface="Arial Unicode MS"/>
              </a:rPr>
              <a:t>Accept</a:t>
            </a:r>
            <a:r>
              <a:rPr kumimoji="0" lang="en-US" altLang="en-US" sz="1800" b="0" i="0" u="none" strike="noStrike" cap="none" normalizeH="0" baseline="0" dirty="0">
                <a:ln>
                  <a:noFill/>
                </a:ln>
                <a:solidFill>
                  <a:schemeClr val="tx2"/>
                </a:solidFill>
                <a:effectLst/>
              </a:rPr>
              <a:t> header or a file extension in the URL (like </a:t>
            </a:r>
            <a:r>
              <a:rPr kumimoji="0" lang="en-US" altLang="en-US" sz="1800" b="0" i="0" u="none" strike="noStrike" cap="none" normalizeH="0" baseline="0" dirty="0">
                <a:ln>
                  <a:noFill/>
                </a:ln>
                <a:solidFill>
                  <a:schemeClr val="tx2"/>
                </a:solidFill>
                <a:effectLst/>
                <a:latin typeface="Arial Unicode MS"/>
              </a:rPr>
              <a:t>.</a:t>
            </a:r>
            <a:r>
              <a:rPr kumimoji="0" lang="en-US" altLang="en-US" sz="1800" b="0" i="0" u="none" strike="noStrike" cap="none" normalizeH="0" baseline="0" dirty="0" err="1">
                <a:ln>
                  <a:noFill/>
                </a:ln>
                <a:solidFill>
                  <a:schemeClr val="tx2"/>
                </a:solidFill>
                <a:effectLst/>
                <a:latin typeface="Arial Unicode MS"/>
              </a:rPr>
              <a:t>json</a:t>
            </a:r>
            <a:r>
              <a:rPr kumimoji="0" lang="en-US" altLang="en-US" sz="1800" b="0" i="0" u="none" strike="noStrike" cap="none" normalizeH="0" baseline="0" dirty="0">
                <a:ln>
                  <a:noFill/>
                </a:ln>
                <a:solidFill>
                  <a:schemeClr val="tx2"/>
                </a:solidFill>
                <a:effectLst/>
              </a:rPr>
              <a:t> or </a:t>
            </a:r>
            <a:r>
              <a:rPr kumimoji="0" lang="en-US" altLang="en-US" sz="1800" b="0" i="0" u="none" strike="noStrike" cap="none" normalizeH="0" baseline="0" dirty="0">
                <a:ln>
                  <a:noFill/>
                </a:ln>
                <a:solidFill>
                  <a:schemeClr val="tx2"/>
                </a:solidFill>
                <a:effectLst/>
                <a:latin typeface="Arial Unicode MS"/>
              </a:rPr>
              <a:t>.xml</a:t>
            </a:r>
            <a:r>
              <a:rPr kumimoji="0" lang="en-US" altLang="en-US" sz="1800" b="0" i="0" u="none" strike="noStrike" cap="none" normalizeH="0" baseline="0" dirty="0">
                <a:ln>
                  <a:noFill/>
                </a:ln>
                <a:solidFill>
                  <a:schemeClr val="tx2"/>
                </a:solidFill>
                <a:effectLst/>
              </a:rPr>
              <a:t>).</a:t>
            </a:r>
            <a:endParaRPr kumimoji="0" lang="en-US" altLang="en-US" sz="18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solidFill>
                  <a:schemeClr val="tx2"/>
                </a:solidFill>
                <a:effectLst/>
                <a:latin typeface="Arial" panose="020B0604020202020204" pitchFamily="34" charset="0"/>
              </a:rPr>
              <a:t>Spring Response:</a:t>
            </a:r>
            <a:r>
              <a:rPr kumimoji="0" lang="en-US" altLang="en-US" sz="1800" b="0" i="0" u="none" strike="noStrike" cap="none" normalizeH="0" baseline="0" dirty="0">
                <a:ln>
                  <a:noFill/>
                </a:ln>
                <a:solidFill>
                  <a:schemeClr val="tx2"/>
                </a:solidFill>
                <a:effectLst/>
                <a:latin typeface="Arial" panose="020B0604020202020204" pitchFamily="34" charset="0"/>
              </a:rPr>
              <a:t> Spring Boot checks the requested media type and returns the response in that </a:t>
            </a:r>
            <a:r>
              <a:rPr kumimoji="0" lang="en-US" altLang="en-US" sz="1800" b="1" i="0" u="none" strike="noStrike" cap="none" normalizeH="0" baseline="0" dirty="0">
                <a:ln>
                  <a:noFill/>
                </a:ln>
                <a:solidFill>
                  <a:schemeClr val="tx2"/>
                </a:solidFill>
                <a:effectLst/>
                <a:latin typeface="Arial" panose="020B0604020202020204" pitchFamily="34" charset="0"/>
              </a:rPr>
              <a:t>format if it's supported</a:t>
            </a:r>
            <a:r>
              <a:rPr kumimoji="0" lang="en-US" altLang="en-US" sz="1800" b="0" i="0" u="none" strike="noStrike" cap="none" normalizeH="0" baseline="0" dirty="0">
                <a:ln>
                  <a:noFill/>
                </a:ln>
                <a:solidFill>
                  <a:schemeClr val="tx2"/>
                </a:solidFill>
                <a:effectLst/>
                <a:latin typeface="Arial" panose="020B0604020202020204" pitchFamily="34" charset="0"/>
              </a:rPr>
              <a:t>.</a:t>
            </a:r>
          </a:p>
          <a:p>
            <a:pPr marL="0" indent="0" eaLnBrk="0" fontAlgn="base" hangingPunct="0">
              <a:spcBef>
                <a:spcPct val="0"/>
              </a:spcBef>
              <a:spcAft>
                <a:spcPts val="600"/>
              </a:spcAft>
              <a:buFontTx/>
              <a:buChar char="•"/>
            </a:pPr>
            <a:r>
              <a:rPr lang="en-US" altLang="en-US" sz="1800" dirty="0">
                <a:solidFill>
                  <a:schemeClr val="tx2"/>
                </a:solidFill>
                <a:latin typeface="Arial" panose="020B0604020202020204" pitchFamily="34" charset="0"/>
              </a:rPr>
              <a:t>Spring Boot includes the </a:t>
            </a:r>
            <a:r>
              <a:rPr lang="en-US" altLang="en-US" sz="1800" dirty="0" err="1">
                <a:solidFill>
                  <a:schemeClr val="tx2"/>
                </a:solidFill>
                <a:latin typeface="Arial" panose="020B0604020202020204" pitchFamily="34" charset="0"/>
              </a:rPr>
              <a:t>jackson-databind</a:t>
            </a:r>
            <a:r>
              <a:rPr lang="en-US" altLang="en-US" sz="1800" dirty="0">
                <a:solidFill>
                  <a:schemeClr val="tx2"/>
                </a:solidFill>
                <a:latin typeface="Arial" panose="020B0604020202020204" pitchFamily="34" charset="0"/>
              </a:rPr>
              <a:t> dependency by default for JSON. For XML support, you'll need the Jackson XML dependency. </a:t>
            </a:r>
          </a:p>
          <a:p>
            <a:pPr marL="0" indent="0" eaLnBrk="0" fontAlgn="base" hangingPunct="0">
              <a:spcBef>
                <a:spcPct val="0"/>
              </a:spcBef>
              <a:spcAft>
                <a:spcPts val="600"/>
              </a:spcAft>
              <a:buFontTx/>
              <a:buChar char="•"/>
            </a:pPr>
            <a:endParaRPr lang="en-US" altLang="en-US" sz="1800" dirty="0">
              <a:solidFill>
                <a:schemeClr val="tx2"/>
              </a:solidFill>
            </a:endParaRPr>
          </a:p>
          <a:p>
            <a:pPr marL="0" indent="0" eaLnBrk="0" fontAlgn="base" hangingPunct="0">
              <a:spcBef>
                <a:spcPct val="0"/>
              </a:spcBef>
              <a:spcAft>
                <a:spcPts val="600"/>
              </a:spcAft>
              <a:buFontTx/>
              <a:buChar char="•"/>
            </a:pPr>
            <a:r>
              <a:rPr lang="en-IN" sz="1800" dirty="0">
                <a:solidFill>
                  <a:schemeClr val="tx2"/>
                </a:solidFill>
              </a:rPr>
              <a:t>Steps to Enable JSON and XML Content Negotiation in Spring Boot</a:t>
            </a:r>
          </a:p>
          <a:p>
            <a:pPr marL="457200" lvl="1" indent="0" eaLnBrk="0" fontAlgn="base" hangingPunct="0">
              <a:spcBef>
                <a:spcPct val="0"/>
              </a:spcBef>
              <a:spcAft>
                <a:spcPts val="600"/>
              </a:spcAft>
              <a:buFontTx/>
              <a:buChar char="•"/>
            </a:pPr>
            <a:r>
              <a:rPr lang="en-IN" sz="1800" dirty="0">
                <a:solidFill>
                  <a:schemeClr val="tx2"/>
                </a:solidFill>
              </a:rPr>
              <a:t>@GetMapping(value = "/order", produces = { "application/</a:t>
            </a:r>
            <a:r>
              <a:rPr lang="en-IN" sz="1800" dirty="0" err="1">
                <a:solidFill>
                  <a:schemeClr val="tx2"/>
                </a:solidFill>
              </a:rPr>
              <a:t>json</a:t>
            </a:r>
            <a:r>
              <a:rPr lang="en-IN" sz="1800" dirty="0">
                <a:solidFill>
                  <a:schemeClr val="tx2"/>
                </a:solidFill>
              </a:rPr>
              <a:t>", "application/xml" })</a:t>
            </a:r>
          </a:p>
          <a:p>
            <a:pPr marL="457200" lvl="1" indent="0" eaLnBrk="0" fontAlgn="base" hangingPunct="0">
              <a:spcBef>
                <a:spcPct val="0"/>
              </a:spcBef>
              <a:spcAft>
                <a:spcPts val="600"/>
              </a:spcAft>
              <a:buFontTx/>
              <a:buChar char="•"/>
            </a:pPr>
            <a:r>
              <a:rPr lang="en-IN" sz="1800" dirty="0">
                <a:solidFill>
                  <a:schemeClr val="tx2"/>
                </a:solidFill>
              </a:rPr>
              <a:t>@JacksonXmlRootElement(localName = "order") </a:t>
            </a:r>
            <a:br>
              <a:rPr lang="en-IN" sz="1800" dirty="0">
                <a:solidFill>
                  <a:schemeClr val="tx2"/>
                </a:solidFill>
              </a:rPr>
            </a:br>
            <a:r>
              <a:rPr lang="en-IN" sz="1800" dirty="0">
                <a:solidFill>
                  <a:schemeClr val="tx2"/>
                </a:solidFill>
              </a:rPr>
              <a:t>  public class Order {}</a:t>
            </a:r>
          </a:p>
          <a:p>
            <a:endParaRPr lang="en-IN" sz="1800" dirty="0">
              <a:solidFill>
                <a:schemeClr val="tx2"/>
              </a:solidFill>
            </a:endParaRPr>
          </a:p>
        </p:txBody>
      </p:sp>
    </p:spTree>
    <p:extLst>
      <p:ext uri="{BB962C8B-B14F-4D97-AF65-F5344CB8AC3E}">
        <p14:creationId xmlns:p14="http://schemas.microsoft.com/office/powerpoint/2010/main" val="2932135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B193D6A0-0678-364E-FDB1-1C2DB1FC734D}"/>
              </a:ext>
            </a:extLst>
          </p:cNvPr>
          <p:cNvSpPr>
            <a:spLocks noGrp="1"/>
          </p:cNvSpPr>
          <p:nvPr>
            <p:ph type="title"/>
          </p:nvPr>
        </p:nvSpPr>
        <p:spPr>
          <a:xfrm>
            <a:off x="804672" y="1243013"/>
            <a:ext cx="3855720" cy="4371974"/>
          </a:xfrm>
        </p:spPr>
        <p:txBody>
          <a:bodyPr>
            <a:normAutofit/>
          </a:bodyPr>
          <a:lstStyle/>
          <a:p>
            <a:r>
              <a:rPr lang="en-IN" sz="3600" dirty="0">
                <a:solidFill>
                  <a:schemeClr val="tx2"/>
                </a:solidFill>
              </a:rPr>
              <a:t>Spring JMS</a:t>
            </a:r>
          </a:p>
        </p:txBody>
      </p:sp>
      <p:grpSp>
        <p:nvGrpSpPr>
          <p:cNvPr id="67" name="Group 66">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68" name="Freeform: Shape 67">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2" name="Rectangle 1">
            <a:extLst>
              <a:ext uri="{FF2B5EF4-FFF2-40B4-BE49-F238E27FC236}">
                <a16:creationId xmlns:a16="http://schemas.microsoft.com/office/drawing/2014/main" id="{E4662FEC-585C-D7DF-051A-037A13A3AFA0}"/>
              </a:ext>
            </a:extLst>
          </p:cNvPr>
          <p:cNvSpPr>
            <a:spLocks noGrp="1" noChangeArrowheads="1"/>
          </p:cNvSpPr>
          <p:nvPr>
            <p:ph idx="1"/>
          </p:nvPr>
        </p:nvSpPr>
        <p:spPr bwMode="auto">
          <a:xfrm>
            <a:off x="6632812" y="1032987"/>
            <a:ext cx="4919108" cy="47920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endParaRPr kumimoji="0" lang="en-US" altLang="en-US" sz="19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r>
              <a:rPr kumimoji="0" lang="en-US" altLang="en-US" sz="1900" b="0" i="0" u="none" strike="noStrike" cap="none" normalizeH="0" baseline="0" dirty="0">
                <a:ln>
                  <a:noFill/>
                </a:ln>
                <a:solidFill>
                  <a:schemeClr val="tx2"/>
                </a:solidFill>
                <a:effectLst/>
                <a:latin typeface="Arial" panose="020B0604020202020204" pitchFamily="34" charset="0"/>
              </a:rPr>
              <a:t>Java Message Service (JMS) is an API for messaging between applications.</a:t>
            </a:r>
          </a:p>
          <a:p>
            <a:pPr marL="0" marR="0" lvl="0" indent="0" defTabSz="914400" rtl="0" eaLnBrk="0" fontAlgn="base" latinLnBrk="0" hangingPunct="0">
              <a:spcBef>
                <a:spcPct val="0"/>
              </a:spcBef>
              <a:spcAft>
                <a:spcPct val="0"/>
              </a:spcAft>
              <a:buClrTx/>
              <a:buSzTx/>
              <a:buFontTx/>
              <a:buChar char="•"/>
              <a:tabLst/>
            </a:pPr>
            <a:r>
              <a:rPr kumimoji="0" lang="en-US" altLang="en-US" sz="1900" b="0" i="0" u="none" strike="noStrike" cap="none" normalizeH="0" baseline="0" dirty="0">
                <a:ln>
                  <a:noFill/>
                </a:ln>
                <a:solidFill>
                  <a:schemeClr val="tx2"/>
                </a:solidFill>
                <a:effectLst/>
                <a:latin typeface="Arial" panose="020B0604020202020204" pitchFamily="34" charset="0"/>
              </a:rPr>
              <a:t>It enables asynchronous communication, decoupling the sender and receiver.</a:t>
            </a:r>
          </a:p>
          <a:p>
            <a:pPr marL="0" marR="0" lvl="0" indent="0" defTabSz="914400" rtl="0" eaLnBrk="0" fontAlgn="base" latinLnBrk="0" hangingPunct="0">
              <a:spcBef>
                <a:spcPct val="0"/>
              </a:spcBef>
              <a:spcAft>
                <a:spcPct val="0"/>
              </a:spcAft>
              <a:buClrTx/>
              <a:buSzTx/>
              <a:buFontTx/>
              <a:buChar char="•"/>
              <a:tabLst/>
            </a:pPr>
            <a:r>
              <a:rPr kumimoji="0" lang="en-US" altLang="en-US" sz="1900" b="0" i="0" u="none" strike="noStrike" cap="none" normalizeH="0" baseline="0" dirty="0">
                <a:ln>
                  <a:noFill/>
                </a:ln>
                <a:solidFill>
                  <a:schemeClr val="tx2"/>
                </a:solidFill>
                <a:effectLst/>
                <a:latin typeface="Arial" panose="020B0604020202020204" pitchFamily="34" charset="0"/>
              </a:rPr>
              <a:t>Commonly used for messaging in microservices, enterprise applications, etc.</a:t>
            </a:r>
          </a:p>
          <a:p>
            <a:r>
              <a:rPr lang="en-IN" sz="1900" b="1" dirty="0">
                <a:solidFill>
                  <a:schemeClr val="tx2"/>
                </a:solidFill>
              </a:rPr>
              <a:t>Key Features:</a:t>
            </a:r>
            <a:endParaRPr lang="en-IN" sz="1900" dirty="0">
              <a:solidFill>
                <a:schemeClr val="tx2"/>
              </a:solidFill>
            </a:endParaRPr>
          </a:p>
          <a:p>
            <a:pPr lvl="1"/>
            <a:r>
              <a:rPr lang="en-IN" sz="1500" dirty="0">
                <a:solidFill>
                  <a:schemeClr val="tx2"/>
                </a:solidFill>
              </a:rPr>
              <a:t>Provides messaging reliability and durability.</a:t>
            </a:r>
          </a:p>
          <a:p>
            <a:pPr lvl="1"/>
            <a:r>
              <a:rPr lang="en-IN" sz="1500" dirty="0">
                <a:solidFill>
                  <a:schemeClr val="tx2"/>
                </a:solidFill>
              </a:rPr>
              <a:t>Supports both point-to-point (queues) and publish-subscribe (topics) messaging models.</a:t>
            </a:r>
          </a:p>
          <a:p>
            <a:pPr lvl="1"/>
            <a:r>
              <a:rPr lang="en-IN" sz="1500" dirty="0">
                <a:solidFill>
                  <a:schemeClr val="tx2"/>
                </a:solidFill>
              </a:rPr>
              <a:t>Integrated in Spring for seamless usage.</a:t>
            </a:r>
          </a:p>
        </p:txBody>
      </p:sp>
    </p:spTree>
    <p:extLst>
      <p:ext uri="{BB962C8B-B14F-4D97-AF65-F5344CB8AC3E}">
        <p14:creationId xmlns:p14="http://schemas.microsoft.com/office/powerpoint/2010/main" val="754792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20">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22" name="Freeform: Shape 21">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54252FD-F6C0-D73B-AAA7-87C156C34AFC}"/>
              </a:ext>
            </a:extLst>
          </p:cNvPr>
          <p:cNvSpPr>
            <a:spLocks noGrp="1"/>
          </p:cNvSpPr>
          <p:nvPr>
            <p:ph type="title"/>
          </p:nvPr>
        </p:nvSpPr>
        <p:spPr>
          <a:xfrm>
            <a:off x="804672" y="2053641"/>
            <a:ext cx="3669161" cy="2760098"/>
          </a:xfrm>
        </p:spPr>
        <p:txBody>
          <a:bodyPr>
            <a:normAutofit/>
          </a:bodyPr>
          <a:lstStyle/>
          <a:p>
            <a:r>
              <a:rPr lang="en-IN" sz="4000">
                <a:solidFill>
                  <a:schemeClr val="tx2"/>
                </a:solidFill>
              </a:rPr>
              <a:t>JmsTemplate</a:t>
            </a:r>
          </a:p>
        </p:txBody>
      </p:sp>
      <p:sp>
        <p:nvSpPr>
          <p:cNvPr id="4" name="Rectangle 1">
            <a:extLst>
              <a:ext uri="{FF2B5EF4-FFF2-40B4-BE49-F238E27FC236}">
                <a16:creationId xmlns:a16="http://schemas.microsoft.com/office/drawing/2014/main" id="{B590DD0F-EC60-F4BB-95FB-231285C9CDB8}"/>
              </a:ext>
            </a:extLst>
          </p:cNvPr>
          <p:cNvSpPr>
            <a:spLocks noGrp="1" noChangeArrowheads="1"/>
          </p:cNvSpPr>
          <p:nvPr>
            <p:ph idx="1"/>
          </p:nvPr>
        </p:nvSpPr>
        <p:spPr bwMode="auto">
          <a:xfrm>
            <a:off x="6090574" y="801866"/>
            <a:ext cx="5306084" cy="5230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800" b="1" i="0" u="none" strike="noStrike" cap="none" normalizeH="0" baseline="0" dirty="0">
                <a:ln>
                  <a:noFill/>
                </a:ln>
                <a:solidFill>
                  <a:schemeClr val="tx2"/>
                </a:solidFill>
                <a:effectLst/>
                <a:latin typeface="Arial" panose="020B0604020202020204" pitchFamily="34" charset="0"/>
              </a:rPr>
              <a:t>Overview:</a:t>
            </a:r>
            <a:endParaRPr kumimoji="0" lang="en-US" altLang="en-US" sz="18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err="1">
                <a:ln>
                  <a:noFill/>
                </a:ln>
                <a:solidFill>
                  <a:schemeClr val="tx2"/>
                </a:solidFill>
                <a:effectLst/>
                <a:latin typeface="Arial Unicode MS"/>
              </a:rPr>
              <a:t>JmsTemplate</a:t>
            </a:r>
            <a:r>
              <a:rPr kumimoji="0" lang="en-US" altLang="en-US" sz="1800" b="0" i="0" u="none" strike="noStrike" cap="none" normalizeH="0" baseline="0" dirty="0">
                <a:ln>
                  <a:noFill/>
                </a:ln>
                <a:solidFill>
                  <a:schemeClr val="tx2"/>
                </a:solidFill>
                <a:effectLst/>
              </a:rPr>
              <a:t> is a central class in Spring’s JMS support, offering a simplified API for sending and receiving messages.</a:t>
            </a:r>
            <a:endParaRPr kumimoji="0" lang="en-US" altLang="en-US" sz="18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Handles connection management and simplifies sending/receiving JMS messages.</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1800" b="1" i="0" u="none" strike="noStrike" cap="none" normalizeH="0" baseline="0" dirty="0">
                <a:ln>
                  <a:noFill/>
                </a:ln>
                <a:solidFill>
                  <a:schemeClr val="tx2"/>
                </a:solidFill>
                <a:effectLst/>
                <a:latin typeface="Arial" panose="020B0604020202020204" pitchFamily="34" charset="0"/>
              </a:rPr>
              <a:t>Key Methods:</a:t>
            </a:r>
            <a:endParaRPr kumimoji="0" lang="en-US" altLang="en-US" sz="1800" b="0" i="0" u="none" strike="noStrike" cap="none" normalizeH="0" baseline="0" dirty="0">
              <a:ln>
                <a:noFill/>
              </a:ln>
              <a:solidFill>
                <a:schemeClr val="tx2"/>
              </a:solidFill>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400" b="0" i="0" u="none" strike="noStrike" cap="none" normalizeH="0" baseline="0" dirty="0" err="1">
                <a:ln>
                  <a:noFill/>
                </a:ln>
                <a:solidFill>
                  <a:schemeClr val="tx2"/>
                </a:solidFill>
                <a:effectLst/>
                <a:latin typeface="Arial Unicode MS"/>
              </a:rPr>
              <a:t>convertAndSend</a:t>
            </a:r>
            <a:r>
              <a:rPr kumimoji="0" lang="en-US" altLang="en-US" sz="1400" b="0" i="0" u="none" strike="noStrike" cap="none" normalizeH="0" baseline="0" dirty="0">
                <a:ln>
                  <a:noFill/>
                </a:ln>
                <a:solidFill>
                  <a:schemeClr val="tx2"/>
                </a:solidFill>
                <a:effectLst/>
                <a:latin typeface="Arial Unicode MS"/>
              </a:rPr>
              <a:t>()</a:t>
            </a:r>
            <a:r>
              <a:rPr kumimoji="0" lang="en-US" altLang="en-US" sz="1400" b="0" i="0" u="none" strike="noStrike" cap="none" normalizeH="0" baseline="0" dirty="0">
                <a:ln>
                  <a:noFill/>
                </a:ln>
                <a:solidFill>
                  <a:schemeClr val="tx2"/>
                </a:solidFill>
                <a:effectLst/>
              </a:rPr>
              <a:t> - Sends a message to a specified destination.</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400" b="0" i="0" u="none" strike="noStrike" cap="none" normalizeH="0" baseline="0" dirty="0" err="1">
                <a:ln>
                  <a:noFill/>
                </a:ln>
                <a:solidFill>
                  <a:schemeClr val="tx2"/>
                </a:solidFill>
                <a:effectLst/>
                <a:latin typeface="Arial Unicode MS"/>
              </a:rPr>
              <a:t>receiveAndConvert</a:t>
            </a:r>
            <a:r>
              <a:rPr kumimoji="0" lang="en-US" altLang="en-US" sz="1400" b="0" i="0" u="none" strike="noStrike" cap="none" normalizeH="0" baseline="0" dirty="0">
                <a:ln>
                  <a:noFill/>
                </a:ln>
                <a:solidFill>
                  <a:schemeClr val="tx2"/>
                </a:solidFill>
                <a:effectLst/>
                <a:latin typeface="Arial Unicode MS"/>
              </a:rPr>
              <a:t>()</a:t>
            </a:r>
            <a:r>
              <a:rPr kumimoji="0" lang="en-US" altLang="en-US" sz="1400" b="0" i="0" u="none" strike="noStrike" cap="none" normalizeH="0" baseline="0" dirty="0">
                <a:ln>
                  <a:noFill/>
                </a:ln>
                <a:solidFill>
                  <a:schemeClr val="tx2"/>
                </a:solidFill>
                <a:effectLst/>
              </a:rPr>
              <a:t> - Receives a message from the destination and converts it.</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2556358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5AE441-AE5A-9FB5-332A-8AAEF4BAE81E}"/>
              </a:ext>
            </a:extLst>
          </p:cNvPr>
          <p:cNvSpPr>
            <a:spLocks noGrp="1"/>
          </p:cNvSpPr>
          <p:nvPr>
            <p:ph type="title"/>
          </p:nvPr>
        </p:nvSpPr>
        <p:spPr>
          <a:xfrm>
            <a:off x="1179576" y="1261423"/>
            <a:ext cx="9829800" cy="1325880"/>
          </a:xfrm>
        </p:spPr>
        <p:txBody>
          <a:bodyPr anchor="b">
            <a:normAutofit/>
          </a:bodyPr>
          <a:lstStyle/>
          <a:p>
            <a:pPr algn="ctr"/>
            <a:r>
              <a:rPr lang="en-IN" sz="3600" dirty="0">
                <a:solidFill>
                  <a:schemeClr val="tx2"/>
                </a:solidFill>
              </a:rPr>
              <a:t>Health Endpoint</a:t>
            </a:r>
          </a:p>
        </p:txBody>
      </p:sp>
      <p:grpSp>
        <p:nvGrpSpPr>
          <p:cNvPr id="79" name="Group 78">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80" name="Freeform: Shape 79">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Freeform: Shape 81">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Freeform: Shape 82">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1">
            <a:extLst>
              <a:ext uri="{FF2B5EF4-FFF2-40B4-BE49-F238E27FC236}">
                <a16:creationId xmlns:a16="http://schemas.microsoft.com/office/drawing/2014/main" id="{35D51CD7-36E7-8490-20FA-FF43AB6B3344}"/>
              </a:ext>
            </a:extLst>
          </p:cNvPr>
          <p:cNvSpPr>
            <a:spLocks noGrp="1" noChangeArrowheads="1"/>
          </p:cNvSpPr>
          <p:nvPr>
            <p:ph idx="1"/>
          </p:nvPr>
        </p:nvSpPr>
        <p:spPr bwMode="auto">
          <a:xfrm>
            <a:off x="804672" y="2827419"/>
            <a:ext cx="5126896" cy="322762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US" altLang="en-US" sz="1400" b="1" i="0" u="none" strike="noStrike" cap="none" normalizeH="0" baseline="0">
                <a:ln>
                  <a:noFill/>
                </a:ln>
                <a:solidFill>
                  <a:schemeClr val="tx2"/>
                </a:solidFill>
                <a:effectLst/>
                <a:latin typeface="Arial" panose="020B0604020202020204" pitchFamily="34" charset="0"/>
              </a:rPr>
              <a:t>Overview</a:t>
            </a:r>
          </a:p>
          <a:p>
            <a:pPr eaLnBrk="0" fontAlgn="base" hangingPunct="0">
              <a:spcBef>
                <a:spcPct val="0"/>
              </a:spcBef>
              <a:spcAft>
                <a:spcPts val="600"/>
              </a:spcAft>
            </a:pPr>
            <a:r>
              <a:rPr kumimoji="0" lang="en-US" altLang="en-US" sz="1400" b="1" i="0" u="none" strike="noStrike" cap="none" normalizeH="0" baseline="0">
                <a:ln>
                  <a:noFill/>
                </a:ln>
                <a:solidFill>
                  <a:schemeClr val="tx2"/>
                </a:solidFill>
                <a:effectLst/>
                <a:latin typeface="Arial" panose="020B0604020202020204" pitchFamily="34" charset="0"/>
              </a:rPr>
              <a:t>Purpose</a:t>
            </a:r>
            <a:r>
              <a:rPr kumimoji="0" lang="en-US" altLang="en-US" sz="1400" b="0" i="0" u="none" strike="noStrike" cap="none" normalizeH="0" baseline="0">
                <a:ln>
                  <a:noFill/>
                </a:ln>
                <a:solidFill>
                  <a:schemeClr val="tx2"/>
                </a:solidFill>
                <a:effectLst/>
                <a:latin typeface="Arial" panose="020B0604020202020204" pitchFamily="34" charset="0"/>
              </a:rPr>
              <a:t>: To provide the health status of a Spring Boot application.</a:t>
            </a:r>
          </a:p>
          <a:p>
            <a:pPr eaLnBrk="0" fontAlgn="base" hangingPunct="0">
              <a:spcBef>
                <a:spcPct val="0"/>
              </a:spcBef>
              <a:spcAft>
                <a:spcPts val="600"/>
              </a:spcAft>
            </a:pPr>
            <a:r>
              <a:rPr kumimoji="0" lang="en-US" altLang="en-US" sz="1400" b="1" i="0" u="none" strike="noStrike" cap="none" normalizeH="0" baseline="0">
                <a:ln>
                  <a:noFill/>
                </a:ln>
                <a:solidFill>
                  <a:schemeClr val="tx2"/>
                </a:solidFill>
                <a:effectLst/>
                <a:latin typeface="Arial" panose="020B0604020202020204" pitchFamily="34" charset="0"/>
              </a:rPr>
              <a:t>Component</a:t>
            </a:r>
            <a:r>
              <a:rPr kumimoji="0" lang="en-US" altLang="en-US" sz="1400" b="0" i="0" u="none" strike="noStrike" cap="none" normalizeH="0" baseline="0">
                <a:ln>
                  <a:noFill/>
                </a:ln>
                <a:solidFill>
                  <a:schemeClr val="tx2"/>
                </a:solidFill>
                <a:effectLst/>
                <a:latin typeface="Arial" panose="020B0604020202020204" pitchFamily="34" charset="0"/>
              </a:rPr>
              <a:t>: Part of Spring Boot’s </a:t>
            </a:r>
            <a:r>
              <a:rPr kumimoji="0" lang="en-US" altLang="en-US" sz="1400" b="1" i="0" u="none" strike="noStrike" cap="none" normalizeH="0" baseline="0">
                <a:ln>
                  <a:noFill/>
                </a:ln>
                <a:solidFill>
                  <a:schemeClr val="tx2"/>
                </a:solidFill>
                <a:effectLst/>
                <a:latin typeface="Arial" panose="020B0604020202020204" pitchFamily="34" charset="0"/>
              </a:rPr>
              <a:t>Actuator</a:t>
            </a:r>
            <a:r>
              <a:rPr kumimoji="0" lang="en-US" altLang="en-US" sz="1400" b="0" i="0" u="none" strike="noStrike" cap="none" normalizeH="0" baseline="0">
                <a:ln>
                  <a:noFill/>
                </a:ln>
                <a:solidFill>
                  <a:schemeClr val="tx2"/>
                </a:solidFill>
                <a:effectLst/>
                <a:latin typeface="Arial" panose="020B0604020202020204" pitchFamily="34" charset="0"/>
              </a:rPr>
              <a:t> module.</a:t>
            </a:r>
          </a:p>
          <a:p>
            <a:pPr eaLnBrk="0" fontAlgn="base" hangingPunct="0">
              <a:spcBef>
                <a:spcPct val="0"/>
              </a:spcBef>
              <a:spcAft>
                <a:spcPts val="600"/>
              </a:spcAft>
            </a:pPr>
            <a:r>
              <a:rPr kumimoji="0" lang="en-US" altLang="en-US" sz="1400" b="1" i="0" u="none" strike="noStrike" cap="none" normalizeH="0" baseline="0">
                <a:ln>
                  <a:noFill/>
                </a:ln>
                <a:solidFill>
                  <a:schemeClr val="tx2"/>
                </a:solidFill>
                <a:effectLst/>
                <a:latin typeface="Arial" panose="020B0604020202020204" pitchFamily="34" charset="0"/>
              </a:rPr>
              <a:t>Access</a:t>
            </a:r>
            <a:r>
              <a:rPr kumimoji="0" lang="en-US" altLang="en-US" sz="1400" b="0" i="0" u="none" strike="noStrike" cap="none" normalizeH="0" baseline="0">
                <a:ln>
                  <a:noFill/>
                </a:ln>
                <a:solidFill>
                  <a:schemeClr val="tx2"/>
                </a:solidFill>
                <a:effectLst/>
                <a:latin typeface="Arial" panose="020B0604020202020204" pitchFamily="34" charset="0"/>
              </a:rPr>
              <a:t>: Accessible via </a:t>
            </a:r>
            <a:r>
              <a:rPr kumimoji="0" lang="en-US" altLang="en-US" sz="1400" b="0" i="0" u="none" strike="noStrike" cap="none" normalizeH="0" baseline="0">
                <a:ln>
                  <a:noFill/>
                </a:ln>
                <a:solidFill>
                  <a:schemeClr val="tx2"/>
                </a:solidFill>
                <a:effectLst/>
                <a:latin typeface="Arial Unicode MS"/>
              </a:rPr>
              <a:t>/actuator/health</a:t>
            </a:r>
            <a:r>
              <a:rPr kumimoji="0" lang="en-US" altLang="en-US" sz="1400" b="0" i="0" u="none" strike="noStrike" cap="none" normalizeH="0" baseline="0">
                <a:ln>
                  <a:noFill/>
                </a:ln>
                <a:solidFill>
                  <a:schemeClr val="tx2"/>
                </a:solidFill>
                <a:effectLst/>
              </a:rPr>
              <a:t>.</a:t>
            </a:r>
            <a:endParaRPr kumimoji="0" lang="en-US" altLang="en-US" sz="1400" b="0" i="0" u="none" strike="noStrike" cap="none" normalizeH="0" baseline="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lang="en-US" altLang="en-US" sz="1400">
              <a:solidFill>
                <a:schemeClr val="tx2"/>
              </a:solidFill>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lang="en-IN" sz="1400" b="1">
                <a:solidFill>
                  <a:schemeClr val="tx2"/>
                </a:solidFill>
              </a:rPr>
              <a:t>Key Features of the Health Endpoint</a:t>
            </a:r>
          </a:p>
          <a:p>
            <a:pPr eaLnBrk="0" fontAlgn="base" hangingPunct="0">
              <a:spcBef>
                <a:spcPct val="0"/>
              </a:spcBef>
              <a:spcAft>
                <a:spcPts val="600"/>
              </a:spcAft>
            </a:pPr>
            <a:r>
              <a:rPr kumimoji="0" lang="en-US" altLang="en-US" sz="1400" b="1" i="0" u="none" strike="noStrike" cap="none" normalizeH="0" baseline="0">
                <a:ln>
                  <a:noFill/>
                </a:ln>
                <a:solidFill>
                  <a:schemeClr val="tx2"/>
                </a:solidFill>
                <a:effectLst/>
                <a:latin typeface="Arial" panose="020B0604020202020204" pitchFamily="34" charset="0"/>
              </a:rPr>
              <a:t>Auto-configuration</a:t>
            </a:r>
            <a:r>
              <a:rPr kumimoji="0" lang="en-US" altLang="en-US" sz="1400" b="0" i="0" u="none" strike="noStrike" cap="none" normalizeH="0" baseline="0">
                <a:ln>
                  <a:noFill/>
                </a:ln>
                <a:solidFill>
                  <a:schemeClr val="tx2"/>
                </a:solidFill>
                <a:effectLst/>
                <a:latin typeface="Arial" panose="020B0604020202020204" pitchFamily="34" charset="0"/>
              </a:rPr>
              <a:t>: Spring Boot auto-configures the health check endpoint when Actuator is added as a dependency.</a:t>
            </a:r>
          </a:p>
          <a:p>
            <a:pPr eaLnBrk="0" fontAlgn="base" hangingPunct="0">
              <a:spcBef>
                <a:spcPct val="0"/>
              </a:spcBef>
              <a:spcAft>
                <a:spcPts val="600"/>
              </a:spcAft>
            </a:pPr>
            <a:r>
              <a:rPr kumimoji="0" lang="en-US" altLang="en-US" sz="1400" b="1" i="0" u="none" strike="noStrike" cap="none" normalizeH="0" baseline="0">
                <a:ln>
                  <a:noFill/>
                </a:ln>
                <a:solidFill>
                  <a:schemeClr val="tx2"/>
                </a:solidFill>
                <a:effectLst/>
                <a:latin typeface="Arial" panose="020B0604020202020204" pitchFamily="34" charset="0"/>
              </a:rPr>
              <a:t>Customizable</a:t>
            </a:r>
            <a:r>
              <a:rPr kumimoji="0" lang="en-US" altLang="en-US" sz="1400" b="0" i="0" u="none" strike="noStrike" cap="none" normalizeH="0" baseline="0">
                <a:ln>
                  <a:noFill/>
                </a:ln>
                <a:solidFill>
                  <a:schemeClr val="tx2"/>
                </a:solidFill>
                <a:effectLst/>
                <a:latin typeface="Arial" panose="020B0604020202020204" pitchFamily="34" charset="0"/>
              </a:rPr>
              <a:t>: Developers can create custom health indicators to enhance application monitoring.</a:t>
            </a:r>
            <a:br>
              <a:rPr lang="en-US" sz="1400">
                <a:solidFill>
                  <a:schemeClr val="tx2"/>
                </a:solidFill>
                <a:latin typeface="Arial" panose="020B0604020202020204" pitchFamily="34" charset="0"/>
              </a:rPr>
            </a:br>
            <a:endParaRPr kumimoji="0" lang="en-US" altLang="en-US" sz="1400" b="0" i="0" u="none" strike="noStrike" cap="none" normalizeH="0" baseline="0">
              <a:ln>
                <a:noFill/>
              </a:ln>
              <a:solidFill>
                <a:schemeClr val="tx2"/>
              </a:solidFill>
              <a:effectLst/>
              <a:latin typeface="Arial" panose="020B0604020202020204" pitchFamily="34" charset="0"/>
            </a:endParaRPr>
          </a:p>
        </p:txBody>
      </p:sp>
      <p:grpSp>
        <p:nvGrpSpPr>
          <p:cNvPr id="85" name="Group 84">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86" name="Freeform: Shape 85">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9" name="Freeform: Shape 88">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1" name="Graphic 40" descr="Laptop Secure">
            <a:extLst>
              <a:ext uri="{FF2B5EF4-FFF2-40B4-BE49-F238E27FC236}">
                <a16:creationId xmlns:a16="http://schemas.microsoft.com/office/drawing/2014/main" id="{C785DF22-1446-7304-9617-863F1C152D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98058" y="2837712"/>
            <a:ext cx="3217333" cy="3217333"/>
          </a:xfrm>
          <a:prstGeom prst="rect">
            <a:avLst/>
          </a:prstGeom>
        </p:spPr>
      </p:pic>
    </p:spTree>
    <p:extLst>
      <p:ext uri="{BB962C8B-B14F-4D97-AF65-F5344CB8AC3E}">
        <p14:creationId xmlns:p14="http://schemas.microsoft.com/office/powerpoint/2010/main" val="3300828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4E32C3-AB9B-562E-8446-C4FE82381CC1}"/>
              </a:ext>
            </a:extLst>
          </p:cNvPr>
          <p:cNvSpPr>
            <a:spLocks noGrp="1"/>
          </p:cNvSpPr>
          <p:nvPr>
            <p:ph type="title"/>
          </p:nvPr>
        </p:nvSpPr>
        <p:spPr>
          <a:xfrm>
            <a:off x="1179576" y="1261423"/>
            <a:ext cx="9829800" cy="1325880"/>
          </a:xfrm>
        </p:spPr>
        <p:txBody>
          <a:bodyPr anchor="b">
            <a:normAutofit/>
          </a:bodyPr>
          <a:lstStyle/>
          <a:p>
            <a:pPr algn="ctr"/>
            <a:r>
              <a:rPr lang="en-IN" sz="3600" dirty="0">
                <a:solidFill>
                  <a:schemeClr val="tx2"/>
                </a:solidFill>
              </a:rPr>
              <a:t>How to Enable the Health Endpoint</a:t>
            </a:r>
          </a:p>
        </p:txBody>
      </p:sp>
      <p:grpSp>
        <p:nvGrpSpPr>
          <p:cNvPr id="71" name="Group 70">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72" name="Freeform: Shape 71">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Freeform: Shape 74">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Content Placeholder 26">
            <a:extLst>
              <a:ext uri="{FF2B5EF4-FFF2-40B4-BE49-F238E27FC236}">
                <a16:creationId xmlns:a16="http://schemas.microsoft.com/office/drawing/2014/main" id="{7B431DDF-4319-CD67-887D-ACEC66F47C7F}"/>
              </a:ext>
            </a:extLst>
          </p:cNvPr>
          <p:cNvSpPr>
            <a:spLocks noGrp="1"/>
          </p:cNvSpPr>
          <p:nvPr>
            <p:ph idx="1"/>
          </p:nvPr>
        </p:nvSpPr>
        <p:spPr>
          <a:xfrm>
            <a:off x="804671" y="2827419"/>
            <a:ext cx="5861599" cy="3227626"/>
          </a:xfrm>
        </p:spPr>
        <p:txBody>
          <a:bodyPr anchor="ctr">
            <a:normAutofit/>
          </a:bodyPr>
          <a:lstStyle/>
          <a:p>
            <a:pPr marL="342900" indent="-342900">
              <a:buFont typeface="+mj-lt"/>
              <a:buAutoNum type="arabicPeriod"/>
            </a:pPr>
            <a:r>
              <a:rPr lang="en-IN" sz="1800" b="1" dirty="0">
                <a:solidFill>
                  <a:schemeClr val="tx2"/>
                </a:solidFill>
              </a:rPr>
              <a:t>Add Dependency</a:t>
            </a:r>
            <a:br>
              <a:rPr lang="en-IN" sz="1800" b="1" dirty="0">
                <a:solidFill>
                  <a:schemeClr val="tx2"/>
                </a:solidFill>
              </a:rPr>
            </a:br>
            <a:br>
              <a:rPr lang="en-IN" sz="1800" b="1" dirty="0">
                <a:solidFill>
                  <a:schemeClr val="tx2"/>
                </a:solidFill>
              </a:rPr>
            </a:br>
            <a:r>
              <a:rPr lang="en-IN" sz="1800" dirty="0">
                <a:solidFill>
                  <a:schemeClr val="tx2"/>
                </a:solidFill>
              </a:rPr>
              <a:t>implementation '</a:t>
            </a:r>
            <a:r>
              <a:rPr lang="en-IN" sz="1800" dirty="0" err="1">
                <a:solidFill>
                  <a:schemeClr val="tx2"/>
                </a:solidFill>
              </a:rPr>
              <a:t>org.springframework.boot:spring-boot-starter-actuator</a:t>
            </a:r>
            <a:r>
              <a:rPr lang="en-IN" sz="1800" dirty="0">
                <a:solidFill>
                  <a:schemeClr val="tx2"/>
                </a:solidFill>
              </a:rPr>
              <a:t>’</a:t>
            </a:r>
          </a:p>
          <a:p>
            <a:pPr marL="342900" indent="-342900">
              <a:buFont typeface="+mj-lt"/>
              <a:buAutoNum type="arabicPeriod"/>
            </a:pPr>
            <a:endParaRPr lang="en-IN" altLang="en-US" sz="1800" b="1" dirty="0">
              <a:solidFill>
                <a:schemeClr val="tx2"/>
              </a:solidFill>
              <a:latin typeface="Courier New" panose="02070309020205020404" pitchFamily="49" charset="0"/>
            </a:endParaRPr>
          </a:p>
          <a:p>
            <a:pPr marL="342900" indent="-342900">
              <a:buFont typeface="+mj-lt"/>
              <a:buAutoNum type="arabicPeriod"/>
            </a:pPr>
            <a:r>
              <a:rPr lang="en-US" altLang="en-US" sz="1800" b="1" dirty="0">
                <a:solidFill>
                  <a:schemeClr val="tx2"/>
                </a:solidFill>
              </a:rPr>
              <a:t>Enable in </a:t>
            </a:r>
            <a:r>
              <a:rPr lang="en-US" altLang="en-US" sz="1800" b="1" dirty="0" err="1">
                <a:solidFill>
                  <a:schemeClr val="tx2"/>
                </a:solidFill>
              </a:rPr>
              <a:t>application.properties</a:t>
            </a:r>
            <a:br>
              <a:rPr lang="en-US" altLang="en-US" sz="1800" b="1" dirty="0">
                <a:solidFill>
                  <a:schemeClr val="tx2"/>
                </a:solidFill>
              </a:rPr>
            </a:br>
            <a:br>
              <a:rPr lang="en-IN" altLang="en-US" sz="1800" b="1" dirty="0">
                <a:solidFill>
                  <a:schemeClr val="tx2"/>
                </a:solidFill>
              </a:rPr>
            </a:br>
            <a:r>
              <a:rPr lang="en-IN" sz="1800" dirty="0" err="1">
                <a:solidFill>
                  <a:schemeClr val="tx2"/>
                </a:solidFill>
              </a:rPr>
              <a:t>management.endpoints.web.exposure.include</a:t>
            </a:r>
            <a:r>
              <a:rPr lang="en-IN" sz="1800" dirty="0">
                <a:solidFill>
                  <a:schemeClr val="tx2"/>
                </a:solidFill>
              </a:rPr>
              <a:t>=health</a:t>
            </a:r>
          </a:p>
          <a:p>
            <a:pPr marL="342900" marR="0" lvl="0" indent="-342900" defTabSz="914400" rtl="0" eaLnBrk="0" fontAlgn="base" latinLnBrk="0" hangingPunct="0">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2"/>
              </a:solidFill>
              <a:effectLst/>
              <a:latin typeface="Arial Unicode MS"/>
            </a:endParaRPr>
          </a:p>
          <a:p>
            <a:pPr marL="0" marR="0" lvl="0" indent="0" defTabSz="914400" rtl="0" eaLnBrk="0" fontAlgn="base" latinLnBrk="0" hangingPunct="0">
              <a:spcBef>
                <a:spcPct val="0"/>
              </a:spcBef>
              <a:spcAft>
                <a:spcPct val="0"/>
              </a:spcAft>
              <a:buClrTx/>
              <a:buSzTx/>
              <a:buFontTx/>
              <a:buNone/>
              <a:tabLst/>
            </a:pPr>
            <a:endParaRPr lang="en-US" altLang="en-US" sz="1800" dirty="0">
              <a:solidFill>
                <a:schemeClr val="tx2"/>
              </a:solidFill>
              <a:latin typeface="Arial Unicode MS"/>
            </a:endParaRPr>
          </a:p>
        </p:txBody>
      </p:sp>
      <p:grpSp>
        <p:nvGrpSpPr>
          <p:cNvPr id="64" name="Group 63">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65" name="Freeform: Shape 64">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8" name="Freeform: Shape 67">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5" name="Graphic 44" descr="Hierarchy">
            <a:extLst>
              <a:ext uri="{FF2B5EF4-FFF2-40B4-BE49-F238E27FC236}">
                <a16:creationId xmlns:a16="http://schemas.microsoft.com/office/drawing/2014/main" id="{E47AC2C0-BD88-E234-F74E-79774E418F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98058" y="2837712"/>
            <a:ext cx="3217333" cy="3217333"/>
          </a:xfrm>
          <a:prstGeom prst="rect">
            <a:avLst/>
          </a:prstGeom>
        </p:spPr>
      </p:pic>
    </p:spTree>
    <p:extLst>
      <p:ext uri="{BB962C8B-B14F-4D97-AF65-F5344CB8AC3E}">
        <p14:creationId xmlns:p14="http://schemas.microsoft.com/office/powerpoint/2010/main" val="235773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D0619-8B25-D885-D45F-388D2D3D91E0}"/>
              </a:ext>
            </a:extLst>
          </p:cNvPr>
          <p:cNvSpPr>
            <a:spLocks noGrp="1"/>
          </p:cNvSpPr>
          <p:nvPr>
            <p:ph type="title"/>
          </p:nvPr>
        </p:nvSpPr>
        <p:spPr>
          <a:xfrm>
            <a:off x="804672" y="802955"/>
            <a:ext cx="4766330" cy="1454051"/>
          </a:xfrm>
        </p:spPr>
        <p:txBody>
          <a:bodyPr>
            <a:normAutofit/>
          </a:bodyPr>
          <a:lstStyle/>
          <a:p>
            <a:r>
              <a:rPr lang="en-IN" sz="3600">
                <a:solidFill>
                  <a:schemeClr val="tx2"/>
                </a:solidFill>
              </a:rPr>
              <a:t>Microservices</a:t>
            </a:r>
          </a:p>
        </p:txBody>
      </p:sp>
      <p:sp>
        <p:nvSpPr>
          <p:cNvPr id="3" name="Content Placeholder 2">
            <a:extLst>
              <a:ext uri="{FF2B5EF4-FFF2-40B4-BE49-F238E27FC236}">
                <a16:creationId xmlns:a16="http://schemas.microsoft.com/office/drawing/2014/main" id="{CB1FD7A3-1310-E5A2-96F5-E419BAB1671E}"/>
              </a:ext>
            </a:extLst>
          </p:cNvPr>
          <p:cNvSpPr>
            <a:spLocks noGrp="1"/>
          </p:cNvSpPr>
          <p:nvPr>
            <p:ph idx="1"/>
          </p:nvPr>
        </p:nvSpPr>
        <p:spPr>
          <a:xfrm>
            <a:off x="804672" y="2421683"/>
            <a:ext cx="4765949" cy="3353476"/>
          </a:xfrm>
        </p:spPr>
        <p:txBody>
          <a:bodyPr anchor="t">
            <a:normAutofit/>
          </a:bodyPr>
          <a:lstStyle/>
          <a:p>
            <a:r>
              <a:rPr lang="en-IN" sz="1800" dirty="0">
                <a:solidFill>
                  <a:schemeClr val="tx2"/>
                </a:solidFill>
                <a:highlight>
                  <a:srgbClr val="FFFFFF"/>
                </a:highlight>
                <a:latin typeface="-apple-system"/>
              </a:rPr>
              <a:t>Microservices - also known as the microservice architecture- is an architectural style that structures an application as a collection of services that are:</a:t>
            </a:r>
          </a:p>
          <a:p>
            <a:pPr lvl="1"/>
            <a:r>
              <a:rPr lang="en-IN" sz="1800" dirty="0">
                <a:solidFill>
                  <a:schemeClr val="tx2"/>
                </a:solidFill>
                <a:highlight>
                  <a:srgbClr val="FFFFFF"/>
                </a:highlight>
                <a:latin typeface="-apple-system"/>
              </a:rPr>
              <a:t>Independently deployable</a:t>
            </a:r>
          </a:p>
          <a:p>
            <a:pPr lvl="1"/>
            <a:r>
              <a:rPr lang="en-IN" sz="1800" dirty="0">
                <a:solidFill>
                  <a:schemeClr val="tx2"/>
                </a:solidFill>
                <a:highlight>
                  <a:srgbClr val="FFFFFF"/>
                </a:highlight>
                <a:latin typeface="-apple-system"/>
              </a:rPr>
              <a:t>Loosely coupled</a:t>
            </a:r>
          </a:p>
          <a:p>
            <a:pPr lvl="1"/>
            <a:endParaRPr lang="en-IN" sz="1800" dirty="0">
              <a:solidFill>
                <a:schemeClr val="tx2"/>
              </a:solidFill>
              <a:highlight>
                <a:srgbClr val="FFFFFF"/>
              </a:highlight>
              <a:latin typeface="-apple-system"/>
            </a:endParaRPr>
          </a:p>
          <a:p>
            <a:r>
              <a:rPr lang="en-IN" sz="1800" dirty="0">
                <a:solidFill>
                  <a:schemeClr val="tx2"/>
                </a:solidFill>
                <a:highlight>
                  <a:srgbClr val="FFFFFF"/>
                </a:highlight>
                <a:latin typeface="-apple-system"/>
              </a:rPr>
              <a:t>Services are typically organized around business capabilities. Each service is often owned by a single, small team.</a:t>
            </a:r>
          </a:p>
          <a:p>
            <a:endParaRPr lang="en-IN" sz="1800" dirty="0">
              <a:solidFill>
                <a:schemeClr val="tx2"/>
              </a:solidFill>
              <a:highlight>
                <a:srgbClr val="FFFFFF"/>
              </a:highlight>
              <a:latin typeface="-apple-system"/>
            </a:endParaRPr>
          </a:p>
          <a:p>
            <a:endParaRPr lang="en-IN" sz="1800" dirty="0">
              <a:solidFill>
                <a:schemeClr val="tx2"/>
              </a:solidFill>
              <a:highlight>
                <a:srgbClr val="FFFFFF"/>
              </a:highlight>
              <a:latin typeface="-apple-system"/>
            </a:endParaRPr>
          </a:p>
        </p:txBody>
      </p:sp>
      <p:grpSp>
        <p:nvGrpSpPr>
          <p:cNvPr id="1042" name="Group 1041">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036" name="Freeform: Shape 103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Freeform: Shape 103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Freeform: Shape 103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Freeform: Shape 103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Microservice Architecture pattern">
            <a:extLst>
              <a:ext uri="{FF2B5EF4-FFF2-40B4-BE49-F238E27FC236}">
                <a16:creationId xmlns:a16="http://schemas.microsoft.com/office/drawing/2014/main" id="{5800CF35-A00A-9B46-9DF5-0727AFBBA18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08392" y="2466880"/>
            <a:ext cx="4142232" cy="2847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24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585E3138-BE4B-4C66-2639-20DAF387B5C1}"/>
              </a:ext>
            </a:extLst>
          </p:cNvPr>
          <p:cNvSpPr>
            <a:spLocks noGrp="1"/>
          </p:cNvSpPr>
          <p:nvPr>
            <p:ph type="title"/>
          </p:nvPr>
        </p:nvSpPr>
        <p:spPr>
          <a:xfrm>
            <a:off x="804672" y="457200"/>
            <a:ext cx="10579608" cy="1188720"/>
          </a:xfrm>
        </p:spPr>
        <p:txBody>
          <a:bodyPr>
            <a:normAutofit/>
          </a:bodyPr>
          <a:lstStyle/>
          <a:p>
            <a:r>
              <a:rPr lang="en-IN" sz="4000">
                <a:solidFill>
                  <a:schemeClr val="tx2"/>
                </a:solidFill>
              </a:rPr>
              <a:t>Characteristics</a:t>
            </a:r>
          </a:p>
        </p:txBody>
      </p:sp>
      <p:grpSp>
        <p:nvGrpSpPr>
          <p:cNvPr id="32" name="Group 31">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48" name="Freeform: Shape 47">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52" name="Freeform: Shape 51">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5" name="Freeform: Shape 54">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24" name="Content Placeholder 2">
            <a:extLst>
              <a:ext uri="{FF2B5EF4-FFF2-40B4-BE49-F238E27FC236}">
                <a16:creationId xmlns:a16="http://schemas.microsoft.com/office/drawing/2014/main" id="{0BDD6BF2-F5C0-DAEF-9B0D-65EBD8B4E16E}"/>
              </a:ext>
            </a:extLst>
          </p:cNvPr>
          <p:cNvGraphicFramePr>
            <a:graphicFrameLocks noGrp="1"/>
          </p:cNvGraphicFramePr>
          <p:nvPr>
            <p:ph idx="1"/>
            <p:extLst>
              <p:ext uri="{D42A27DB-BD31-4B8C-83A1-F6EECF244321}">
                <p14:modId xmlns:p14="http://schemas.microsoft.com/office/powerpoint/2010/main" val="3934966897"/>
              </p:ext>
            </p:extLst>
          </p:nvPr>
        </p:nvGraphicFramePr>
        <p:xfrm>
          <a:off x="1034796" y="2009713"/>
          <a:ext cx="10119360"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7429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D702449-4B54-07AE-643F-C9668EB551FC}"/>
              </a:ext>
            </a:extLst>
          </p:cNvPr>
          <p:cNvSpPr>
            <a:spLocks noGrp="1"/>
          </p:cNvSpPr>
          <p:nvPr>
            <p:ph type="title"/>
          </p:nvPr>
        </p:nvSpPr>
        <p:spPr>
          <a:xfrm>
            <a:off x="804672" y="457200"/>
            <a:ext cx="10579608" cy="1188720"/>
          </a:xfrm>
        </p:spPr>
        <p:txBody>
          <a:bodyPr>
            <a:normAutofit/>
          </a:bodyPr>
          <a:lstStyle/>
          <a:p>
            <a:r>
              <a:rPr lang="en-IN" sz="4000">
                <a:solidFill>
                  <a:schemeClr val="tx2"/>
                </a:solidFill>
              </a:rPr>
              <a:t>Why &amp; How</a:t>
            </a:r>
          </a:p>
        </p:txBody>
      </p:sp>
      <p:grpSp>
        <p:nvGrpSpPr>
          <p:cNvPr id="33" name="Group 32">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34" name="Freeform: Shape 33">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36">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40" name="Freeform: Shape 39">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Rectangle 1">
            <a:extLst>
              <a:ext uri="{FF2B5EF4-FFF2-40B4-BE49-F238E27FC236}">
                <a16:creationId xmlns:a16="http://schemas.microsoft.com/office/drawing/2014/main" id="{D98AAE4D-D437-D802-EAAD-3C9CD699237C}"/>
              </a:ext>
            </a:extLst>
          </p:cNvPr>
          <p:cNvGraphicFramePr>
            <a:graphicFrameLocks noGrp="1"/>
          </p:cNvGraphicFramePr>
          <p:nvPr>
            <p:ph idx="1"/>
            <p:extLst>
              <p:ext uri="{D42A27DB-BD31-4B8C-83A1-F6EECF244321}">
                <p14:modId xmlns:p14="http://schemas.microsoft.com/office/powerpoint/2010/main" val="4001443031"/>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720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061C8EB3-BD45-0566-1EA0-FF86977BD27C}"/>
              </a:ext>
            </a:extLst>
          </p:cNvPr>
          <p:cNvSpPr>
            <a:spLocks noGrp="1"/>
          </p:cNvSpPr>
          <p:nvPr>
            <p:ph type="title"/>
          </p:nvPr>
        </p:nvSpPr>
        <p:spPr>
          <a:xfrm>
            <a:off x="804672" y="457200"/>
            <a:ext cx="10579608" cy="1188720"/>
          </a:xfrm>
        </p:spPr>
        <p:txBody>
          <a:bodyPr>
            <a:normAutofit/>
          </a:bodyPr>
          <a:lstStyle/>
          <a:p>
            <a:r>
              <a:rPr lang="en-IN" sz="3700">
                <a:solidFill>
                  <a:schemeClr val="tx2"/>
                </a:solidFill>
              </a:rPr>
              <a:t>Decentralized Governance, Scalability, Fault Tolerance</a:t>
            </a:r>
          </a:p>
        </p:txBody>
      </p:sp>
      <p:grpSp>
        <p:nvGrpSpPr>
          <p:cNvPr id="14" name="Group 13">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15" name="Freeform: Shape 14">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21" name="Freeform: Shape 20">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8" name="Rectangle 1">
            <a:extLst>
              <a:ext uri="{FF2B5EF4-FFF2-40B4-BE49-F238E27FC236}">
                <a16:creationId xmlns:a16="http://schemas.microsoft.com/office/drawing/2014/main" id="{97EEC14A-629E-2C8D-1A6A-73E5B80899EC}"/>
              </a:ext>
            </a:extLst>
          </p:cNvPr>
          <p:cNvGraphicFramePr>
            <a:graphicFrameLocks noGrp="1"/>
          </p:cNvGraphicFramePr>
          <p:nvPr>
            <p:ph idx="1"/>
            <p:extLst>
              <p:ext uri="{D42A27DB-BD31-4B8C-83A1-F6EECF244321}">
                <p14:modId xmlns:p14="http://schemas.microsoft.com/office/powerpoint/2010/main" val="1116849461"/>
              </p:ext>
            </p:extLst>
          </p:nvPr>
        </p:nvGraphicFramePr>
        <p:xfrm>
          <a:off x="1034796" y="1989755"/>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427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061C8EB3-BD45-0566-1EA0-FF86977BD27C}"/>
              </a:ext>
            </a:extLst>
          </p:cNvPr>
          <p:cNvSpPr>
            <a:spLocks noGrp="1"/>
          </p:cNvSpPr>
          <p:nvPr>
            <p:ph type="title"/>
          </p:nvPr>
        </p:nvSpPr>
        <p:spPr>
          <a:xfrm>
            <a:off x="804672" y="457200"/>
            <a:ext cx="10579608" cy="1188720"/>
          </a:xfrm>
        </p:spPr>
        <p:txBody>
          <a:bodyPr>
            <a:normAutofit/>
          </a:bodyPr>
          <a:lstStyle/>
          <a:p>
            <a:r>
              <a:rPr lang="en-IN" sz="3700" dirty="0">
                <a:solidFill>
                  <a:schemeClr val="tx2"/>
                </a:solidFill>
              </a:rPr>
              <a:t>Decentralized Governance: Why &amp; How</a:t>
            </a:r>
          </a:p>
        </p:txBody>
      </p:sp>
      <p:grpSp>
        <p:nvGrpSpPr>
          <p:cNvPr id="14" name="Group 13">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15" name="Freeform: Shape 14">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21" name="Freeform: Shape 20">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6" name="Rectangle 1">
            <a:extLst>
              <a:ext uri="{FF2B5EF4-FFF2-40B4-BE49-F238E27FC236}">
                <a16:creationId xmlns:a16="http://schemas.microsoft.com/office/drawing/2014/main" id="{092442B4-237A-4D94-DAD0-C6F3A2C12E2E}"/>
              </a:ext>
            </a:extLst>
          </p:cNvPr>
          <p:cNvGraphicFramePr/>
          <p:nvPr>
            <p:extLst>
              <p:ext uri="{D42A27DB-BD31-4B8C-83A1-F6EECF244321}">
                <p14:modId xmlns:p14="http://schemas.microsoft.com/office/powerpoint/2010/main" val="3803708171"/>
              </p:ext>
            </p:extLst>
          </p:nvPr>
        </p:nvGraphicFramePr>
        <p:xfrm>
          <a:off x="1160206" y="1553498"/>
          <a:ext cx="9153833" cy="3809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5876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061C8EB3-BD45-0566-1EA0-FF86977BD27C}"/>
              </a:ext>
            </a:extLst>
          </p:cNvPr>
          <p:cNvSpPr>
            <a:spLocks noGrp="1"/>
          </p:cNvSpPr>
          <p:nvPr>
            <p:ph type="title"/>
          </p:nvPr>
        </p:nvSpPr>
        <p:spPr>
          <a:xfrm>
            <a:off x="804672" y="457200"/>
            <a:ext cx="10579608" cy="1188720"/>
          </a:xfrm>
        </p:spPr>
        <p:txBody>
          <a:bodyPr>
            <a:normAutofit/>
          </a:bodyPr>
          <a:lstStyle/>
          <a:p>
            <a:r>
              <a:rPr lang="en-IN" sz="4000" dirty="0"/>
              <a:t>Scalability: Why &amp; How</a:t>
            </a:r>
            <a:endParaRPr lang="en-IN" sz="3700" dirty="0">
              <a:solidFill>
                <a:schemeClr val="tx2"/>
              </a:solidFill>
            </a:endParaRPr>
          </a:p>
        </p:txBody>
      </p:sp>
      <p:grpSp>
        <p:nvGrpSpPr>
          <p:cNvPr id="14" name="Group 13">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15" name="Freeform: Shape 14">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21" name="Freeform: Shape 20">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6" name="Rectangle 1">
            <a:extLst>
              <a:ext uri="{FF2B5EF4-FFF2-40B4-BE49-F238E27FC236}">
                <a16:creationId xmlns:a16="http://schemas.microsoft.com/office/drawing/2014/main" id="{092442B4-237A-4D94-DAD0-C6F3A2C12E2E}"/>
              </a:ext>
            </a:extLst>
          </p:cNvPr>
          <p:cNvGraphicFramePr/>
          <p:nvPr>
            <p:extLst>
              <p:ext uri="{D42A27DB-BD31-4B8C-83A1-F6EECF244321}">
                <p14:modId xmlns:p14="http://schemas.microsoft.com/office/powerpoint/2010/main" val="2657764242"/>
              </p:ext>
            </p:extLst>
          </p:nvPr>
        </p:nvGraphicFramePr>
        <p:xfrm>
          <a:off x="1160206" y="1553498"/>
          <a:ext cx="9153833" cy="3809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1979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CD9ABCBB-BDAB-C92D-618F-10C841788CC5}"/>
              </a:ext>
            </a:extLst>
          </p:cNvPr>
          <p:cNvSpPr>
            <a:spLocks noGrp="1"/>
          </p:cNvSpPr>
          <p:nvPr>
            <p:ph type="title"/>
          </p:nvPr>
        </p:nvSpPr>
        <p:spPr>
          <a:xfrm>
            <a:off x="804672" y="457200"/>
            <a:ext cx="10579608" cy="1188720"/>
          </a:xfrm>
        </p:spPr>
        <p:txBody>
          <a:bodyPr>
            <a:normAutofit/>
          </a:bodyPr>
          <a:lstStyle/>
          <a:p>
            <a:r>
              <a:rPr lang="en-IN" sz="4000">
                <a:solidFill>
                  <a:schemeClr val="tx2"/>
                </a:solidFill>
              </a:rPr>
              <a:t>Horizontal vs Vertical Scaling</a:t>
            </a:r>
          </a:p>
        </p:txBody>
      </p:sp>
      <p:grpSp>
        <p:nvGrpSpPr>
          <p:cNvPr id="81" name="Group 80">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82" name="Freeform: Shape 81">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Shape 82">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Shape 83">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85">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87" name="Freeform: Shape 86">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Shape 88">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90" name="Freeform: Shape 89">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8" name="Rectangle 1">
            <a:extLst>
              <a:ext uri="{FF2B5EF4-FFF2-40B4-BE49-F238E27FC236}">
                <a16:creationId xmlns:a16="http://schemas.microsoft.com/office/drawing/2014/main" id="{B9B73DB4-CB3F-6670-2BA6-38671A659F4D}"/>
              </a:ext>
            </a:extLst>
          </p:cNvPr>
          <p:cNvGraphicFramePr>
            <a:graphicFrameLocks noGrp="1"/>
          </p:cNvGraphicFramePr>
          <p:nvPr>
            <p:ph idx="1"/>
            <p:extLst>
              <p:ext uri="{D42A27DB-BD31-4B8C-83A1-F6EECF244321}">
                <p14:modId xmlns:p14="http://schemas.microsoft.com/office/powerpoint/2010/main" val="1778660896"/>
              </p:ext>
            </p:extLst>
          </p:nvPr>
        </p:nvGraphicFramePr>
        <p:xfrm>
          <a:off x="1036320" y="2560320"/>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7605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B6479DB5-7006-2B0F-EEE0-C049387C641E}"/>
              </a:ext>
            </a:extLst>
          </p:cNvPr>
          <p:cNvSpPr>
            <a:spLocks noGrp="1"/>
          </p:cNvSpPr>
          <p:nvPr>
            <p:ph type="title"/>
          </p:nvPr>
        </p:nvSpPr>
        <p:spPr>
          <a:xfrm>
            <a:off x="804672" y="457200"/>
            <a:ext cx="10579608" cy="1188720"/>
          </a:xfrm>
        </p:spPr>
        <p:txBody>
          <a:bodyPr>
            <a:normAutofit/>
          </a:bodyPr>
          <a:lstStyle/>
          <a:p>
            <a:r>
              <a:rPr lang="en-IN" sz="4000">
                <a:solidFill>
                  <a:schemeClr val="tx2"/>
                </a:solidFill>
              </a:rPr>
              <a:t>Auto-Scaling Strategies</a:t>
            </a:r>
          </a:p>
        </p:txBody>
      </p:sp>
      <p:grpSp>
        <p:nvGrpSpPr>
          <p:cNvPr id="25" name="Group 24">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26" name="Freeform: Shape 25">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8">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32" name="Freeform: Shape 31">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Rectangle 1">
            <a:extLst>
              <a:ext uri="{FF2B5EF4-FFF2-40B4-BE49-F238E27FC236}">
                <a16:creationId xmlns:a16="http://schemas.microsoft.com/office/drawing/2014/main" id="{98DD5A52-683C-6DD6-36F4-40597AC1D08E}"/>
              </a:ext>
            </a:extLst>
          </p:cNvPr>
          <p:cNvGraphicFramePr>
            <a:graphicFrameLocks noGrp="1"/>
          </p:cNvGraphicFramePr>
          <p:nvPr>
            <p:ph idx="1"/>
            <p:extLst>
              <p:ext uri="{D42A27DB-BD31-4B8C-83A1-F6EECF244321}">
                <p14:modId xmlns:p14="http://schemas.microsoft.com/office/powerpoint/2010/main" val="596036606"/>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9715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9D7712-4BEC-3E0B-4A6A-1D6944084D0F}"/>
              </a:ext>
            </a:extLst>
          </p:cNvPr>
          <p:cNvSpPr>
            <a:spLocks noGrp="1"/>
          </p:cNvSpPr>
          <p:nvPr>
            <p:ph type="title"/>
          </p:nvPr>
        </p:nvSpPr>
        <p:spPr>
          <a:xfrm>
            <a:off x="804672" y="802955"/>
            <a:ext cx="4977976" cy="1454051"/>
          </a:xfrm>
        </p:spPr>
        <p:txBody>
          <a:bodyPr>
            <a:normAutofit/>
          </a:bodyPr>
          <a:lstStyle/>
          <a:p>
            <a:r>
              <a:rPr lang="en-IN" sz="3600">
                <a:solidFill>
                  <a:schemeClr val="tx2"/>
                </a:solidFill>
              </a:rPr>
              <a:t>Load Balancing</a:t>
            </a:r>
          </a:p>
        </p:txBody>
      </p:sp>
      <p:sp>
        <p:nvSpPr>
          <p:cNvPr id="4" name="Rectangle 1">
            <a:extLst>
              <a:ext uri="{FF2B5EF4-FFF2-40B4-BE49-F238E27FC236}">
                <a16:creationId xmlns:a16="http://schemas.microsoft.com/office/drawing/2014/main" id="{96146D89-1D2B-F2D4-B164-333C56C7702A}"/>
              </a:ext>
            </a:extLst>
          </p:cNvPr>
          <p:cNvSpPr>
            <a:spLocks noGrp="1" noChangeArrowheads="1"/>
          </p:cNvSpPr>
          <p:nvPr>
            <p:ph idx="1"/>
          </p:nvPr>
        </p:nvSpPr>
        <p:spPr bwMode="auto">
          <a:xfrm>
            <a:off x="804672" y="2421682"/>
            <a:ext cx="4977578" cy="363928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a:ln>
                  <a:noFill/>
                </a:ln>
                <a:solidFill>
                  <a:schemeClr val="tx2"/>
                </a:solidFill>
                <a:effectLst/>
                <a:latin typeface="Arial" panose="020B0604020202020204" pitchFamily="34" charset="0"/>
              </a:rPr>
              <a:t>Role of Load Balancers</a:t>
            </a:r>
            <a:r>
              <a:rPr kumimoji="0" lang="en-US" altLang="en-US" sz="1800" b="0" i="0" u="none" strike="noStrike" cap="none" normalizeH="0" baseline="0">
                <a:ln>
                  <a:noFill/>
                </a:ln>
                <a:solidFill>
                  <a:schemeClr val="tx2"/>
                </a:solidFill>
                <a:effectLst/>
                <a:latin typeface="Arial" panose="020B0604020202020204" pitchFamily="34" charset="0"/>
              </a:rPr>
              <a:t>: Efficient distribution of incoming traffic across multiple instances of a service.</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a:ln>
                  <a:noFill/>
                </a:ln>
                <a:solidFill>
                  <a:schemeClr val="tx2"/>
                </a:solidFill>
                <a:effectLst/>
                <a:latin typeface="Arial" panose="020B0604020202020204" pitchFamily="34" charset="0"/>
              </a:rPr>
              <a:t>Techniques</a:t>
            </a:r>
            <a:r>
              <a:rPr kumimoji="0" lang="en-US" altLang="en-US" sz="1800" b="0" i="0" u="none" strike="noStrike" cap="none" normalizeH="0" baseline="0">
                <a:ln>
                  <a:noFill/>
                </a:ln>
                <a:solidFill>
                  <a:schemeClr val="tx2"/>
                </a:solidFill>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800" b="1" i="0" u="none" strike="noStrike" cap="none" normalizeH="0" baseline="0">
                <a:ln>
                  <a:noFill/>
                </a:ln>
                <a:solidFill>
                  <a:schemeClr val="tx2"/>
                </a:solidFill>
                <a:effectLst/>
                <a:latin typeface="Arial" panose="020B0604020202020204" pitchFamily="34" charset="0"/>
              </a:rPr>
              <a:t>Round-robin</a:t>
            </a:r>
            <a:r>
              <a:rPr kumimoji="0" lang="en-US" altLang="en-US" sz="1800" b="0" i="0" u="none" strike="noStrike" cap="none" normalizeH="0" baseline="0">
                <a:ln>
                  <a:noFill/>
                </a:ln>
                <a:solidFill>
                  <a:schemeClr val="tx2"/>
                </a:solidFill>
                <a:effectLst/>
                <a:latin typeface="Arial" panose="020B0604020202020204" pitchFamily="34" charset="0"/>
              </a:rPr>
              <a:t>: Requests are distributed sequentially across instances.</a:t>
            </a:r>
          </a:p>
          <a:p>
            <a:pPr marL="457200" lvl="1" indent="0" eaLnBrk="0" fontAlgn="base" hangingPunct="0">
              <a:spcBef>
                <a:spcPct val="0"/>
              </a:spcBef>
              <a:spcAft>
                <a:spcPts val="600"/>
              </a:spcAft>
              <a:buFontTx/>
              <a:buChar char="•"/>
            </a:pPr>
            <a:r>
              <a:rPr kumimoji="0" lang="en-US" altLang="en-US" sz="1800" b="1" i="0" u="none" strike="noStrike" cap="none" normalizeH="0" baseline="0">
                <a:ln>
                  <a:noFill/>
                </a:ln>
                <a:solidFill>
                  <a:schemeClr val="tx2"/>
                </a:solidFill>
                <a:effectLst/>
                <a:latin typeface="Arial" panose="020B0604020202020204" pitchFamily="34" charset="0"/>
              </a:rPr>
              <a:t>Least connections</a:t>
            </a:r>
            <a:r>
              <a:rPr kumimoji="0" lang="en-US" altLang="en-US" sz="1800" b="0" i="0" u="none" strike="noStrike" cap="none" normalizeH="0" baseline="0">
                <a:ln>
                  <a:noFill/>
                </a:ln>
                <a:solidFill>
                  <a:schemeClr val="tx2"/>
                </a:solidFill>
                <a:effectLst/>
                <a:latin typeface="Arial" panose="020B0604020202020204" pitchFamily="34" charset="0"/>
              </a:rPr>
              <a:t>: Requests are sent to the instance with the fewest active connections.</a:t>
            </a:r>
          </a:p>
          <a:p>
            <a:pPr marL="457200" lvl="1" indent="0" eaLnBrk="0" fontAlgn="base" hangingPunct="0">
              <a:spcBef>
                <a:spcPct val="0"/>
              </a:spcBef>
              <a:spcAft>
                <a:spcPts val="600"/>
              </a:spcAft>
              <a:buFontTx/>
              <a:buChar char="•"/>
            </a:pPr>
            <a:r>
              <a:rPr kumimoji="0" lang="en-US" altLang="en-US" sz="1800" b="1" i="0" u="none" strike="noStrike" cap="none" normalizeH="0" baseline="0">
                <a:ln>
                  <a:noFill/>
                </a:ln>
                <a:solidFill>
                  <a:schemeClr val="tx2"/>
                </a:solidFill>
                <a:effectLst/>
                <a:latin typeface="Arial" panose="020B0604020202020204" pitchFamily="34" charset="0"/>
              </a:rPr>
              <a:t>Latency-based routing</a:t>
            </a:r>
            <a:r>
              <a:rPr kumimoji="0" lang="en-US" altLang="en-US" sz="1800" b="0" i="0" u="none" strike="noStrike" cap="none" normalizeH="0" baseline="0">
                <a:ln>
                  <a:noFill/>
                </a:ln>
                <a:solidFill>
                  <a:schemeClr val="tx2"/>
                </a:solidFill>
                <a:effectLst/>
                <a:latin typeface="Arial" panose="020B0604020202020204" pitchFamily="34" charset="0"/>
              </a:rPr>
              <a:t>: Traffic is directed to the instance with the lowest latency.</a:t>
            </a: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tx2"/>
              </a:solidFill>
              <a:effectLst/>
              <a:latin typeface="Arial" panose="020B0604020202020204" pitchFamily="34" charset="0"/>
            </a:endParaRPr>
          </a:p>
        </p:txBody>
      </p:sp>
      <p:grpSp>
        <p:nvGrpSpPr>
          <p:cNvPr id="15" name="Group 14">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6" name="Freeform: Shape 15">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Graphic 7" descr="Circular Flowchart">
            <a:extLst>
              <a:ext uri="{FF2B5EF4-FFF2-40B4-BE49-F238E27FC236}">
                <a16:creationId xmlns:a16="http://schemas.microsoft.com/office/drawing/2014/main" id="{8800FB05-2C57-A374-DD06-6B925CE845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466523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1985-B98F-2F57-B5FF-084D3B33F9E8}"/>
              </a:ext>
            </a:extLst>
          </p:cNvPr>
          <p:cNvSpPr>
            <a:spLocks noGrp="1"/>
          </p:cNvSpPr>
          <p:nvPr>
            <p:ph type="title"/>
          </p:nvPr>
        </p:nvSpPr>
        <p:spPr/>
        <p:txBody>
          <a:bodyPr/>
          <a:lstStyle/>
          <a:p>
            <a:r>
              <a:rPr lang="en-IN"/>
              <a:t>Key Differences</a:t>
            </a:r>
            <a:endParaRPr lang="en-IN" dirty="0"/>
          </a:p>
        </p:txBody>
      </p:sp>
      <p:graphicFrame>
        <p:nvGraphicFramePr>
          <p:cNvPr id="11" name="Content Placeholder 10">
            <a:extLst>
              <a:ext uri="{FF2B5EF4-FFF2-40B4-BE49-F238E27FC236}">
                <a16:creationId xmlns:a16="http://schemas.microsoft.com/office/drawing/2014/main" id="{3B2ADE95-C6C4-B635-779F-6930A75D1BF4}"/>
              </a:ext>
            </a:extLst>
          </p:cNvPr>
          <p:cNvGraphicFramePr>
            <a:graphicFrameLocks noGrp="1"/>
          </p:cNvGraphicFramePr>
          <p:nvPr>
            <p:ph idx="1"/>
            <p:extLst>
              <p:ext uri="{D42A27DB-BD31-4B8C-83A1-F6EECF244321}">
                <p14:modId xmlns:p14="http://schemas.microsoft.com/office/powerpoint/2010/main" val="4029200833"/>
              </p:ext>
            </p:extLst>
          </p:nvPr>
        </p:nvGraphicFramePr>
        <p:xfrm>
          <a:off x="838200" y="1825625"/>
          <a:ext cx="10515597" cy="3429000"/>
        </p:xfrm>
        <a:graphic>
          <a:graphicData uri="http://schemas.openxmlformats.org/drawingml/2006/table">
            <a:tbl>
              <a:tblPr firstRow="1" bandRow="1">
                <a:tableStyleId>{C4B1156A-380E-4F78-BDF5-A606A8083BF9}</a:tableStyleId>
              </a:tblPr>
              <a:tblGrid>
                <a:gridCol w="3505199">
                  <a:extLst>
                    <a:ext uri="{9D8B030D-6E8A-4147-A177-3AD203B41FA5}">
                      <a16:colId xmlns:a16="http://schemas.microsoft.com/office/drawing/2014/main" val="2025853227"/>
                    </a:ext>
                  </a:extLst>
                </a:gridCol>
                <a:gridCol w="3505199">
                  <a:extLst>
                    <a:ext uri="{9D8B030D-6E8A-4147-A177-3AD203B41FA5}">
                      <a16:colId xmlns:a16="http://schemas.microsoft.com/office/drawing/2014/main" val="2127335819"/>
                    </a:ext>
                  </a:extLst>
                </a:gridCol>
                <a:gridCol w="3505199">
                  <a:extLst>
                    <a:ext uri="{9D8B030D-6E8A-4147-A177-3AD203B41FA5}">
                      <a16:colId xmlns:a16="http://schemas.microsoft.com/office/drawing/2014/main" val="785449762"/>
                    </a:ext>
                  </a:extLst>
                </a:gridCol>
              </a:tblGrid>
              <a:tr h="370840">
                <a:tc>
                  <a:txBody>
                    <a:bodyPr/>
                    <a:lstStyle/>
                    <a:p>
                      <a:r>
                        <a:rPr lang="en-IN" sz="1600"/>
                        <a:t>Feature</a:t>
                      </a:r>
                      <a:endParaRPr lang="en-IN" sz="1600" dirty="0"/>
                    </a:p>
                  </a:txBody>
                  <a:tcPr/>
                </a:tc>
                <a:tc>
                  <a:txBody>
                    <a:bodyPr/>
                    <a:lstStyle/>
                    <a:p>
                      <a:r>
                        <a:rPr lang="en-IN" sz="1600"/>
                        <a:t>Server-Side Load Balancing</a:t>
                      </a:r>
                      <a:endParaRPr lang="en-IN" sz="1600" dirty="0"/>
                    </a:p>
                  </a:txBody>
                  <a:tcPr/>
                </a:tc>
                <a:tc>
                  <a:txBody>
                    <a:bodyPr/>
                    <a:lstStyle/>
                    <a:p>
                      <a:r>
                        <a:rPr lang="en-IN" sz="1600"/>
                        <a:t>Client-Side Load Balancing</a:t>
                      </a:r>
                      <a:endParaRPr lang="en-IN" sz="1600" dirty="0"/>
                    </a:p>
                  </a:txBody>
                  <a:tcPr/>
                </a:tc>
                <a:extLst>
                  <a:ext uri="{0D108BD9-81ED-4DB2-BD59-A6C34878D82A}">
                    <a16:rowId xmlns:a16="http://schemas.microsoft.com/office/drawing/2014/main" val="4261779109"/>
                  </a:ext>
                </a:extLst>
              </a:tr>
              <a:tr h="370840">
                <a:tc>
                  <a:txBody>
                    <a:bodyPr/>
                    <a:lstStyle/>
                    <a:p>
                      <a:r>
                        <a:rPr lang="en-IN" sz="1600" dirty="0"/>
                        <a:t>Traffic Flow</a:t>
                      </a:r>
                    </a:p>
                  </a:txBody>
                  <a:tcPr/>
                </a:tc>
                <a:tc>
                  <a:txBody>
                    <a:bodyPr/>
                    <a:lstStyle/>
                    <a:p>
                      <a:pPr marL="0" algn="l" defTabSz="914400" rtl="0" eaLnBrk="1" latinLnBrk="0" hangingPunct="1"/>
                      <a:r>
                        <a:rPr lang="en-IN" sz="1600" kern="1200">
                          <a:solidFill>
                            <a:schemeClr val="dk1"/>
                          </a:solidFill>
                        </a:rPr>
                        <a:t>Through a centralized load balancer</a:t>
                      </a:r>
                      <a:endParaRPr lang="en-IN" sz="1600" kern="1200" dirty="0">
                        <a:solidFill>
                          <a:schemeClr val="dk1"/>
                        </a:solidFill>
                        <a:latin typeface="+mn-lt"/>
                        <a:ea typeface="+mn-ea"/>
                        <a:cs typeface="+mn-cs"/>
                      </a:endParaRPr>
                    </a:p>
                  </a:txBody>
                  <a:tcPr anchor="ctr"/>
                </a:tc>
                <a:tc>
                  <a:txBody>
                    <a:bodyPr/>
                    <a:lstStyle/>
                    <a:p>
                      <a:pPr marL="0" algn="l" defTabSz="914400" rtl="0" eaLnBrk="1" latinLnBrk="0" hangingPunct="1"/>
                      <a:r>
                        <a:rPr lang="en-IN" sz="1600" kern="1200">
                          <a:solidFill>
                            <a:schemeClr val="dk1"/>
                          </a:solidFill>
                        </a:rPr>
                        <a:t>Direct from client to service instance</a:t>
                      </a:r>
                      <a:endParaRPr lang="en-IN" sz="1600" kern="1200" dirty="0">
                        <a:solidFill>
                          <a:schemeClr val="dk1"/>
                        </a:solidFill>
                        <a:latin typeface="+mn-lt"/>
                        <a:ea typeface="+mn-ea"/>
                        <a:cs typeface="+mn-cs"/>
                      </a:endParaRPr>
                    </a:p>
                  </a:txBody>
                  <a:tcPr anchor="ctr"/>
                </a:tc>
                <a:extLst>
                  <a:ext uri="{0D108BD9-81ED-4DB2-BD59-A6C34878D82A}">
                    <a16:rowId xmlns:a16="http://schemas.microsoft.com/office/drawing/2014/main" val="2141310239"/>
                  </a:ext>
                </a:extLst>
              </a:tr>
              <a:tr h="370840">
                <a:tc>
                  <a:txBody>
                    <a:bodyPr/>
                    <a:lstStyle/>
                    <a:p>
                      <a:r>
                        <a:rPr lang="en-IN" sz="1600"/>
                        <a:t>Complexity</a:t>
                      </a:r>
                      <a:endParaRPr lang="en-IN" sz="1600" dirty="0"/>
                    </a:p>
                  </a:txBody>
                  <a:tcPr/>
                </a:tc>
                <a:tc>
                  <a:txBody>
                    <a:bodyPr/>
                    <a:lstStyle/>
                    <a:p>
                      <a:r>
                        <a:rPr lang="en-IN" sz="1600" dirty="0"/>
                        <a:t>Centralized in the load balancer</a:t>
                      </a:r>
                    </a:p>
                  </a:txBody>
                  <a:tcPr anchor="ctr"/>
                </a:tc>
                <a:tc>
                  <a:txBody>
                    <a:bodyPr/>
                    <a:lstStyle/>
                    <a:p>
                      <a:r>
                        <a:rPr lang="en-IN" sz="1600"/>
                        <a:t>Distributed across clients</a:t>
                      </a:r>
                      <a:endParaRPr lang="en-IN" sz="1600" dirty="0"/>
                    </a:p>
                  </a:txBody>
                  <a:tcPr anchor="ctr"/>
                </a:tc>
                <a:extLst>
                  <a:ext uri="{0D108BD9-81ED-4DB2-BD59-A6C34878D82A}">
                    <a16:rowId xmlns:a16="http://schemas.microsoft.com/office/drawing/2014/main" val="1451220640"/>
                  </a:ext>
                </a:extLst>
              </a:tr>
              <a:tr h="370840">
                <a:tc>
                  <a:txBody>
                    <a:bodyPr/>
                    <a:lstStyle/>
                    <a:p>
                      <a:r>
                        <a:rPr lang="en-IN" sz="1600" kern="1200" dirty="0">
                          <a:solidFill>
                            <a:schemeClr val="tx1"/>
                          </a:solidFill>
                        </a:rPr>
                        <a:t>Load-Balancing Algorithms</a:t>
                      </a:r>
                      <a:endParaRPr lang="en-IN" sz="1600" kern="1200" dirty="0">
                        <a:solidFill>
                          <a:schemeClr val="tx1"/>
                        </a:solidFill>
                        <a:latin typeface="+mn-lt"/>
                        <a:ea typeface="+mn-ea"/>
                        <a:cs typeface="+mn-cs"/>
                      </a:endParaRPr>
                    </a:p>
                  </a:txBody>
                  <a:tcPr/>
                </a:tc>
                <a:tc>
                  <a:txBody>
                    <a:bodyPr/>
                    <a:lstStyle/>
                    <a:p>
                      <a:r>
                        <a:rPr lang="en-IN" sz="1600" dirty="0"/>
                        <a:t>Managed by the load balancer (e.g., NGINX, </a:t>
                      </a:r>
                      <a:r>
                        <a:rPr lang="en-IN" sz="1600" dirty="0" err="1"/>
                        <a:t>HAProxy</a:t>
                      </a:r>
                      <a:r>
                        <a:rPr lang="en-IN" sz="1600" dirty="0"/>
                        <a:t>)</a:t>
                      </a:r>
                    </a:p>
                  </a:txBody>
                  <a:tcPr anchor="ctr"/>
                </a:tc>
                <a:tc>
                  <a:txBody>
                    <a:bodyPr/>
                    <a:lstStyle/>
                    <a:p>
                      <a:r>
                        <a:rPr lang="en-IN" sz="1600"/>
                        <a:t>Handled by the client (e.g., Spring LoadBalancer, Ribbon)</a:t>
                      </a:r>
                      <a:endParaRPr lang="en-IN" sz="1600" dirty="0"/>
                    </a:p>
                  </a:txBody>
                  <a:tcPr anchor="ctr"/>
                </a:tc>
                <a:extLst>
                  <a:ext uri="{0D108BD9-81ED-4DB2-BD59-A6C34878D82A}">
                    <a16:rowId xmlns:a16="http://schemas.microsoft.com/office/drawing/2014/main" val="1019170554"/>
                  </a:ext>
                </a:extLst>
              </a:tr>
              <a:tr h="370840">
                <a:tc>
                  <a:txBody>
                    <a:bodyPr/>
                    <a:lstStyle/>
                    <a:p>
                      <a:r>
                        <a:rPr lang="en-IN" sz="1600" kern="1200" dirty="0">
                          <a:solidFill>
                            <a:schemeClr val="tx1"/>
                          </a:solidFill>
                          <a:latin typeface="+mn-lt"/>
                          <a:ea typeface="+mn-ea"/>
                          <a:cs typeface="+mn-cs"/>
                        </a:rPr>
                        <a:t>Service Discovery</a:t>
                      </a:r>
                    </a:p>
                  </a:txBody>
                  <a:tcPr anchor="ctr"/>
                </a:tc>
                <a:tc>
                  <a:txBody>
                    <a:bodyPr/>
                    <a:lstStyle/>
                    <a:p>
                      <a:r>
                        <a:rPr lang="en-IN" sz="1600" dirty="0"/>
                        <a:t>Not needed; the load balancer knows all instances</a:t>
                      </a:r>
                    </a:p>
                  </a:txBody>
                  <a:tcPr anchor="ctr"/>
                </a:tc>
                <a:tc>
                  <a:txBody>
                    <a:bodyPr/>
                    <a:lstStyle/>
                    <a:p>
                      <a:r>
                        <a:rPr lang="en-IN" sz="1600" dirty="0"/>
                        <a:t>Requires service discovery for clients to know instances</a:t>
                      </a:r>
                    </a:p>
                  </a:txBody>
                  <a:tcPr anchor="ctr"/>
                </a:tc>
                <a:extLst>
                  <a:ext uri="{0D108BD9-81ED-4DB2-BD59-A6C34878D82A}">
                    <a16:rowId xmlns:a16="http://schemas.microsoft.com/office/drawing/2014/main" val="4139803511"/>
                  </a:ext>
                </a:extLst>
              </a:tr>
              <a:tr h="370840">
                <a:tc>
                  <a:txBody>
                    <a:bodyPr/>
                    <a:lstStyle/>
                    <a:p>
                      <a:pPr marL="0" algn="l" defTabSz="914400" rtl="0" eaLnBrk="1" latinLnBrk="0" hangingPunct="1"/>
                      <a:r>
                        <a:rPr lang="en-IN" sz="1600" kern="1200" dirty="0">
                          <a:solidFill>
                            <a:schemeClr val="tx1"/>
                          </a:solidFill>
                        </a:rPr>
                        <a:t>Single Point of Failure</a:t>
                      </a:r>
                      <a:endParaRPr lang="en-IN" sz="1600" kern="1200" dirty="0">
                        <a:solidFill>
                          <a:schemeClr val="tx1"/>
                        </a:solidFill>
                        <a:latin typeface="+mn-lt"/>
                        <a:ea typeface="+mn-ea"/>
                        <a:cs typeface="+mn-cs"/>
                      </a:endParaRPr>
                    </a:p>
                  </a:txBody>
                  <a:tcPr anchor="ctr"/>
                </a:tc>
                <a:tc>
                  <a:txBody>
                    <a:bodyPr/>
                    <a:lstStyle/>
                    <a:p>
                      <a:r>
                        <a:rPr lang="en-IN" sz="1600"/>
                        <a:t>Load balancer is a potential point of failure</a:t>
                      </a:r>
                      <a:endParaRPr lang="en-IN" sz="1600" dirty="0"/>
                    </a:p>
                  </a:txBody>
                  <a:tcPr anchor="ctr"/>
                </a:tc>
                <a:tc>
                  <a:txBody>
                    <a:bodyPr/>
                    <a:lstStyle/>
                    <a:p>
                      <a:r>
                        <a:rPr lang="en-IN" sz="1600"/>
                        <a:t>No central point of failure</a:t>
                      </a:r>
                      <a:endParaRPr lang="en-IN" sz="1600" dirty="0"/>
                    </a:p>
                  </a:txBody>
                  <a:tcPr anchor="ctr"/>
                </a:tc>
                <a:extLst>
                  <a:ext uri="{0D108BD9-81ED-4DB2-BD59-A6C34878D82A}">
                    <a16:rowId xmlns:a16="http://schemas.microsoft.com/office/drawing/2014/main" val="2411670958"/>
                  </a:ext>
                </a:extLst>
              </a:tr>
              <a:tr h="370840">
                <a:tc>
                  <a:txBody>
                    <a:bodyPr/>
                    <a:lstStyle/>
                    <a:p>
                      <a:r>
                        <a:rPr lang="en-IN" sz="1600"/>
                        <a:t>Latency</a:t>
                      </a:r>
                      <a:endParaRPr lang="en-IN" sz="1600" dirty="0"/>
                    </a:p>
                  </a:txBody>
                  <a:tcPr/>
                </a:tc>
                <a:tc>
                  <a:txBody>
                    <a:bodyPr/>
                    <a:lstStyle/>
                    <a:p>
                      <a:r>
                        <a:rPr lang="en-IN" sz="1600"/>
                        <a:t>Potentially higher due to extra network hop</a:t>
                      </a:r>
                      <a:endParaRPr lang="en-IN" sz="1600" dirty="0"/>
                    </a:p>
                  </a:txBody>
                  <a:tcPr anchor="ctr"/>
                </a:tc>
                <a:tc>
                  <a:txBody>
                    <a:bodyPr/>
                    <a:lstStyle/>
                    <a:p>
                      <a:r>
                        <a:rPr lang="en-IN" sz="1600" dirty="0"/>
                        <a:t>Lower, as requests go directly to service</a:t>
                      </a:r>
                    </a:p>
                  </a:txBody>
                  <a:tcPr anchor="ctr"/>
                </a:tc>
                <a:extLst>
                  <a:ext uri="{0D108BD9-81ED-4DB2-BD59-A6C34878D82A}">
                    <a16:rowId xmlns:a16="http://schemas.microsoft.com/office/drawing/2014/main" val="3912096416"/>
                  </a:ext>
                </a:extLst>
              </a:tr>
            </a:tbl>
          </a:graphicData>
        </a:graphic>
      </p:graphicFrame>
    </p:spTree>
    <p:extLst>
      <p:ext uri="{BB962C8B-B14F-4D97-AF65-F5344CB8AC3E}">
        <p14:creationId xmlns:p14="http://schemas.microsoft.com/office/powerpoint/2010/main" val="3061617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8" name="Rectangle 2067">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Rectangle 2069">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106EB0-EBCA-114D-DEDE-A39F9DAC619C}"/>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dirty="0">
                <a:solidFill>
                  <a:schemeClr val="tx2"/>
                </a:solidFill>
                <a:latin typeface="+mj-lt"/>
                <a:ea typeface="+mj-ea"/>
                <a:cs typeface="+mj-cs"/>
              </a:rPr>
              <a:t>Cloud Computing</a:t>
            </a:r>
          </a:p>
        </p:txBody>
      </p:sp>
      <p:sp>
        <p:nvSpPr>
          <p:cNvPr id="5" name="TextBox 4">
            <a:extLst>
              <a:ext uri="{FF2B5EF4-FFF2-40B4-BE49-F238E27FC236}">
                <a16:creationId xmlns:a16="http://schemas.microsoft.com/office/drawing/2014/main" id="{9502539C-A47C-8C8F-5373-5F4895A801F2}"/>
              </a:ext>
            </a:extLst>
          </p:cNvPr>
          <p:cNvSpPr txBox="1"/>
          <p:nvPr/>
        </p:nvSpPr>
        <p:spPr>
          <a:xfrm>
            <a:off x="804672" y="2421683"/>
            <a:ext cx="4765949" cy="3353476"/>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1500" dirty="0">
                <a:solidFill>
                  <a:schemeClr val="tx2"/>
                </a:solidFill>
                <a:highlight>
                  <a:srgbClr val="FFFFFF"/>
                </a:highlight>
              </a:rPr>
              <a:t>Cloud computing is the delivery of various computing services over the Internet ("the cloud").</a:t>
            </a:r>
          </a:p>
          <a:p>
            <a:pPr marL="285750" indent="-228600">
              <a:lnSpc>
                <a:spcPct val="90000"/>
              </a:lnSpc>
              <a:spcAft>
                <a:spcPts val="600"/>
              </a:spcAft>
              <a:buFont typeface="Arial" panose="020B0604020202020204" pitchFamily="34" charset="0"/>
              <a:buChar char="•"/>
            </a:pPr>
            <a:r>
              <a:rPr lang="en-US" sz="1500" dirty="0">
                <a:solidFill>
                  <a:schemeClr val="tx2"/>
                </a:solidFill>
                <a:highlight>
                  <a:srgbClr val="FFFFFF"/>
                </a:highlight>
              </a:rPr>
              <a:t>Services include servers, storage, databases, networking, software, analytics, and intelligence.</a:t>
            </a:r>
          </a:p>
          <a:p>
            <a:pPr marL="285750" indent="-228600">
              <a:lnSpc>
                <a:spcPct val="90000"/>
              </a:lnSpc>
              <a:spcAft>
                <a:spcPts val="600"/>
              </a:spcAft>
              <a:buFont typeface="Arial" panose="020B0604020202020204" pitchFamily="34" charset="0"/>
              <a:buChar char="•"/>
            </a:pPr>
            <a:r>
              <a:rPr lang="en-US" sz="1500" dirty="0">
                <a:solidFill>
                  <a:schemeClr val="tx2"/>
                </a:solidFill>
                <a:highlight>
                  <a:srgbClr val="FFFFFF"/>
                </a:highlight>
              </a:rPr>
              <a:t>It offers faster innovation, flexible resources, and economies of scale.</a:t>
            </a:r>
          </a:p>
          <a:p>
            <a:pPr marL="285750" indent="-228600">
              <a:lnSpc>
                <a:spcPct val="90000"/>
              </a:lnSpc>
              <a:spcAft>
                <a:spcPts val="600"/>
              </a:spcAft>
              <a:buFont typeface="Arial" panose="020B0604020202020204" pitchFamily="34" charset="0"/>
              <a:buChar char="•"/>
            </a:pPr>
            <a:r>
              <a:rPr lang="en-US" sz="1500" dirty="0">
                <a:solidFill>
                  <a:schemeClr val="tx2"/>
                </a:solidFill>
                <a:highlight>
                  <a:srgbClr val="FFFFFF"/>
                </a:highlight>
              </a:rPr>
              <a:t>You typically pay only for the cloud services you use.</a:t>
            </a:r>
          </a:p>
          <a:p>
            <a:pPr marL="285750" indent="-228600">
              <a:lnSpc>
                <a:spcPct val="90000"/>
              </a:lnSpc>
              <a:spcAft>
                <a:spcPts val="600"/>
              </a:spcAft>
              <a:buFont typeface="Arial" panose="020B0604020202020204" pitchFamily="34" charset="0"/>
              <a:buChar char="•"/>
            </a:pPr>
            <a:r>
              <a:rPr lang="en-US" sz="1500" dirty="0">
                <a:solidFill>
                  <a:schemeClr val="tx2"/>
                </a:solidFill>
                <a:highlight>
                  <a:srgbClr val="FFFFFF"/>
                </a:highlight>
              </a:rPr>
              <a:t>Helps in lowering operating costs.</a:t>
            </a:r>
          </a:p>
          <a:p>
            <a:pPr marL="285750" indent="-228600">
              <a:lnSpc>
                <a:spcPct val="90000"/>
              </a:lnSpc>
              <a:spcAft>
                <a:spcPts val="600"/>
              </a:spcAft>
              <a:buFont typeface="Arial" panose="020B0604020202020204" pitchFamily="34" charset="0"/>
              <a:buChar char="•"/>
            </a:pPr>
            <a:r>
              <a:rPr lang="en-US" sz="1500" dirty="0">
                <a:solidFill>
                  <a:schemeClr val="tx2"/>
                </a:solidFill>
                <a:highlight>
                  <a:srgbClr val="FFFFFF"/>
                </a:highlight>
              </a:rPr>
              <a:t>Allows running infrastructure more efficiently.</a:t>
            </a:r>
          </a:p>
          <a:p>
            <a:pPr marL="285750" indent="-228600">
              <a:lnSpc>
                <a:spcPct val="90000"/>
              </a:lnSpc>
              <a:spcAft>
                <a:spcPts val="600"/>
              </a:spcAft>
              <a:buFont typeface="Arial" panose="020B0604020202020204" pitchFamily="34" charset="0"/>
              <a:buChar char="•"/>
            </a:pPr>
            <a:r>
              <a:rPr lang="en-US" sz="1500" dirty="0">
                <a:solidFill>
                  <a:schemeClr val="tx2"/>
                </a:solidFill>
                <a:highlight>
                  <a:srgbClr val="FFFFFF"/>
                </a:highlight>
              </a:rPr>
              <a:t>Supports scaling as business needs change.</a:t>
            </a:r>
          </a:p>
        </p:txBody>
      </p:sp>
      <p:grpSp>
        <p:nvGrpSpPr>
          <p:cNvPr id="2072" name="Group 2071">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073" name="Freeform: Shape 2072">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Freeform: Shape 2073">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5" name="Freeform: Shape 2074">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6" name="Freeform: Shape 2075">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0" name="Picture 2" descr="A blue cloud with many icons&#10;&#10;Description automatically generated">
            <a:extLst>
              <a:ext uri="{FF2B5EF4-FFF2-40B4-BE49-F238E27FC236}">
                <a16:creationId xmlns:a16="http://schemas.microsoft.com/office/drawing/2014/main" id="{4AD7B72A-EEC9-E190-DC65-1E9599CF2C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708392" y="1704898"/>
            <a:ext cx="4142232" cy="4371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653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91" name="Rectangle 2090">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106EB0-EBCA-114D-DEDE-A39F9DAC619C}"/>
              </a:ext>
            </a:extLst>
          </p:cNvPr>
          <p:cNvSpPr>
            <a:spLocks noGrp="1"/>
          </p:cNvSpPr>
          <p:nvPr>
            <p:ph type="title"/>
          </p:nvPr>
        </p:nvSpPr>
        <p:spPr>
          <a:xfrm>
            <a:off x="838200" y="556995"/>
            <a:ext cx="10515600" cy="1133693"/>
          </a:xfrm>
        </p:spPr>
        <p:txBody>
          <a:bodyPr vert="horz" lIns="91440" tIns="45720" rIns="91440" bIns="45720" rtlCol="0">
            <a:normAutofit/>
          </a:bodyPr>
          <a:lstStyle/>
          <a:p>
            <a:r>
              <a:rPr lang="en-US" sz="5200" kern="1200">
                <a:latin typeface="+mj-lt"/>
                <a:ea typeface="+mj-ea"/>
                <a:cs typeface="+mj-cs"/>
              </a:rPr>
              <a:t>Types</a:t>
            </a:r>
          </a:p>
        </p:txBody>
      </p:sp>
      <p:graphicFrame>
        <p:nvGraphicFramePr>
          <p:cNvPr id="3" name="Rectangle 1">
            <a:extLst>
              <a:ext uri="{FF2B5EF4-FFF2-40B4-BE49-F238E27FC236}">
                <a16:creationId xmlns:a16="http://schemas.microsoft.com/office/drawing/2014/main" id="{120B12DC-84B4-2F5D-DCF4-DDF1A7878FC3}"/>
              </a:ext>
            </a:extLst>
          </p:cNvPr>
          <p:cNvGraphicFramePr>
            <a:graphicFrameLocks/>
          </p:cNvGraphicFramePr>
          <p:nvPr>
            <p:extLst>
              <p:ext uri="{D42A27DB-BD31-4B8C-83A1-F6EECF244321}">
                <p14:modId xmlns:p14="http://schemas.microsoft.com/office/powerpoint/2010/main" val="210122340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3585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3CED1FC8-BEAD-DE42-4FF3-442E4BDD6FDC}"/>
              </a:ext>
            </a:extLst>
          </p:cNvPr>
          <p:cNvSpPr>
            <a:spLocks noGrp="1"/>
          </p:cNvSpPr>
          <p:nvPr>
            <p:ph type="title"/>
          </p:nvPr>
        </p:nvSpPr>
        <p:spPr>
          <a:xfrm>
            <a:off x="1179226" y="1280679"/>
            <a:ext cx="9833548" cy="1325563"/>
          </a:xfrm>
        </p:spPr>
        <p:txBody>
          <a:bodyPr anchor="b">
            <a:normAutofit/>
          </a:bodyPr>
          <a:lstStyle/>
          <a:p>
            <a:pPr algn="ctr"/>
            <a:r>
              <a:rPr lang="en-IN" sz="3600" dirty="0">
                <a:solidFill>
                  <a:schemeClr val="tx2"/>
                </a:solidFill>
              </a:rPr>
              <a:t>Spring Cloud</a:t>
            </a:r>
          </a:p>
        </p:txBody>
      </p:sp>
      <p:grpSp>
        <p:nvGrpSpPr>
          <p:cNvPr id="13" name="Group 12">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4" name="Freeform: Shape 13">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1">
            <a:extLst>
              <a:ext uri="{FF2B5EF4-FFF2-40B4-BE49-F238E27FC236}">
                <a16:creationId xmlns:a16="http://schemas.microsoft.com/office/drawing/2014/main" id="{2838DB5F-35E3-4199-7C18-E6ED2A670F7D}"/>
              </a:ext>
            </a:extLst>
          </p:cNvPr>
          <p:cNvSpPr>
            <a:spLocks noGrp="1" noChangeArrowheads="1"/>
          </p:cNvSpPr>
          <p:nvPr>
            <p:ph idx="1"/>
          </p:nvPr>
        </p:nvSpPr>
        <p:spPr bwMode="auto">
          <a:xfrm>
            <a:off x="1179226" y="2890979"/>
            <a:ext cx="9833548" cy="26939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US" altLang="en-US" sz="1800" b="0" i="0" u="none" strike="noStrike" cap="none" normalizeH="0" baseline="0" dirty="0">
                <a:ln>
                  <a:noFill/>
                </a:ln>
                <a:solidFill>
                  <a:schemeClr val="tx2"/>
                </a:solidFill>
                <a:effectLst/>
                <a:latin typeface="Arial" panose="020B0604020202020204" pitchFamily="34" charset="0"/>
              </a:rPr>
              <a:t>A set of tools from the Spring ecosystem designed for building microservices in a cloud environment.</a:t>
            </a:r>
          </a:p>
          <a:p>
            <a:pPr marL="0" marR="0" lvl="0" indent="0" defTabSz="914400" rtl="0" eaLnBrk="0" fontAlgn="base" latinLnBrk="0" hangingPunct="0">
              <a:spcBef>
                <a:spcPct val="0"/>
              </a:spcBef>
              <a:spcAft>
                <a:spcPts val="600"/>
              </a:spcAft>
              <a:buClrTx/>
              <a:buSzTx/>
              <a:buNone/>
              <a:tabLst/>
            </a:pPr>
            <a:endParaRPr kumimoji="0" lang="en-US" altLang="en-US" sz="18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1800" b="1" i="0" u="none" strike="noStrike" cap="none" normalizeH="0" baseline="0" dirty="0">
                <a:ln>
                  <a:noFill/>
                </a:ln>
                <a:solidFill>
                  <a:schemeClr val="tx2"/>
                </a:solidFill>
                <a:effectLst/>
                <a:latin typeface="Arial" panose="020B0604020202020204" pitchFamily="34" charset="0"/>
              </a:rPr>
              <a:t>Components</a:t>
            </a:r>
            <a:r>
              <a:rPr kumimoji="0" lang="en-US" altLang="en-US" sz="1800" b="0" i="0" u="none" strike="noStrike" cap="none" normalizeH="0" baseline="0" dirty="0">
                <a:ln>
                  <a:noFill/>
                </a:ln>
                <a:solidFill>
                  <a:schemeClr val="tx2"/>
                </a:solidFill>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400" b="1" i="0" u="none" strike="noStrike" cap="none" normalizeH="0" baseline="0" dirty="0">
                <a:ln>
                  <a:noFill/>
                </a:ln>
                <a:solidFill>
                  <a:schemeClr val="tx2"/>
                </a:solidFill>
                <a:effectLst/>
                <a:latin typeface="Arial" panose="020B0604020202020204" pitchFamily="34" charset="0"/>
              </a:rPr>
              <a:t>Service Discovery</a:t>
            </a:r>
            <a:r>
              <a:rPr kumimoji="0" lang="en-US" altLang="en-US" sz="1400" b="0" i="0" u="none" strike="noStrike" cap="none" normalizeH="0" baseline="0" dirty="0">
                <a:ln>
                  <a:noFill/>
                </a:ln>
                <a:solidFill>
                  <a:schemeClr val="tx2"/>
                </a:solidFill>
                <a:effectLst/>
                <a:latin typeface="Arial" panose="020B0604020202020204" pitchFamily="34" charset="0"/>
              </a:rPr>
              <a:t>: Eureka</a:t>
            </a:r>
          </a:p>
          <a:p>
            <a:pPr marL="457200" lvl="1" indent="0" eaLnBrk="0" fontAlgn="base" hangingPunct="0">
              <a:spcBef>
                <a:spcPct val="0"/>
              </a:spcBef>
              <a:spcAft>
                <a:spcPts val="600"/>
              </a:spcAft>
              <a:buFontTx/>
              <a:buChar char="•"/>
            </a:pPr>
            <a:r>
              <a:rPr kumimoji="0" lang="en-US" altLang="en-US" sz="1400" b="1" i="0" u="none" strike="noStrike" cap="none" normalizeH="0" baseline="0" dirty="0">
                <a:ln>
                  <a:noFill/>
                </a:ln>
                <a:solidFill>
                  <a:schemeClr val="tx2"/>
                </a:solidFill>
                <a:effectLst/>
                <a:latin typeface="Arial" panose="020B0604020202020204" pitchFamily="34" charset="0"/>
              </a:rPr>
              <a:t>Config Management</a:t>
            </a:r>
            <a:r>
              <a:rPr kumimoji="0" lang="en-US" altLang="en-US" sz="1400" b="0" i="0" u="none" strike="noStrike" cap="none" normalizeH="0" baseline="0" dirty="0">
                <a:ln>
                  <a:noFill/>
                </a:ln>
                <a:solidFill>
                  <a:schemeClr val="tx2"/>
                </a:solidFill>
                <a:effectLst/>
                <a:latin typeface="Arial" panose="020B0604020202020204" pitchFamily="34" charset="0"/>
              </a:rPr>
              <a:t>: Spring Cloud Config</a:t>
            </a:r>
          </a:p>
          <a:p>
            <a:pPr marL="457200" lvl="1" indent="0" eaLnBrk="0" fontAlgn="base" hangingPunct="0">
              <a:spcBef>
                <a:spcPct val="0"/>
              </a:spcBef>
              <a:spcAft>
                <a:spcPts val="600"/>
              </a:spcAft>
              <a:buFontTx/>
              <a:buChar char="•"/>
            </a:pPr>
            <a:r>
              <a:rPr kumimoji="0" lang="en-US" altLang="en-US" sz="1400" b="1" i="0" u="none" strike="noStrike" cap="none" normalizeH="0" baseline="0" dirty="0">
                <a:ln>
                  <a:noFill/>
                </a:ln>
                <a:solidFill>
                  <a:schemeClr val="tx2"/>
                </a:solidFill>
                <a:effectLst/>
                <a:latin typeface="Arial" panose="020B0604020202020204" pitchFamily="34" charset="0"/>
              </a:rPr>
              <a:t>Load Balancing</a:t>
            </a:r>
            <a:r>
              <a:rPr kumimoji="0" lang="en-US" altLang="en-US" sz="1400" b="0" i="0" u="none" strike="noStrike" cap="none" normalizeH="0" baseline="0" dirty="0">
                <a:ln>
                  <a:noFill/>
                </a:ln>
                <a:solidFill>
                  <a:schemeClr val="tx2"/>
                </a:solidFill>
                <a:effectLst/>
                <a:latin typeface="Arial" panose="020B0604020202020204" pitchFamily="34" charset="0"/>
              </a:rPr>
              <a:t>: Ribbon</a:t>
            </a:r>
          </a:p>
          <a:p>
            <a:pPr marL="457200" lvl="1" indent="0" eaLnBrk="0" fontAlgn="base" hangingPunct="0">
              <a:spcBef>
                <a:spcPct val="0"/>
              </a:spcBef>
              <a:spcAft>
                <a:spcPts val="600"/>
              </a:spcAft>
              <a:buFontTx/>
              <a:buChar char="•"/>
            </a:pPr>
            <a:r>
              <a:rPr kumimoji="0" lang="en-US" altLang="en-US" sz="1400" b="1" i="0" u="none" strike="noStrike" cap="none" normalizeH="0" baseline="0" dirty="0">
                <a:ln>
                  <a:noFill/>
                </a:ln>
                <a:solidFill>
                  <a:schemeClr val="tx2"/>
                </a:solidFill>
                <a:effectLst/>
                <a:latin typeface="Arial" panose="020B0604020202020204" pitchFamily="34" charset="0"/>
              </a:rPr>
              <a:t>Circuit Breakers</a:t>
            </a:r>
            <a:r>
              <a:rPr kumimoji="0" lang="en-US" altLang="en-US" sz="1400" b="0" i="0" u="none" strike="noStrike" cap="none" normalizeH="0" baseline="0" dirty="0">
                <a:ln>
                  <a:noFill/>
                </a:ln>
                <a:solidFill>
                  <a:schemeClr val="tx2"/>
                </a:solidFill>
                <a:effectLst/>
                <a:latin typeface="Arial" panose="020B0604020202020204" pitchFamily="34" charset="0"/>
              </a:rPr>
              <a:t>: Resilience4J, </a:t>
            </a:r>
            <a:r>
              <a:rPr kumimoji="0" lang="en-US" altLang="en-US" sz="1400" b="0" i="0" u="none" strike="noStrike" cap="none" normalizeH="0" baseline="0" dirty="0" err="1">
                <a:ln>
                  <a:noFill/>
                </a:ln>
                <a:solidFill>
                  <a:schemeClr val="tx2"/>
                </a:solidFill>
                <a:effectLst/>
                <a:latin typeface="Arial" panose="020B0604020202020204" pitchFamily="34" charset="0"/>
              </a:rPr>
              <a:t>Hystrix</a:t>
            </a:r>
            <a:endParaRPr kumimoji="0" lang="en-US" altLang="en-US" sz="1400" b="0" i="0" u="none" strike="noStrike" cap="none" normalizeH="0" baseline="0" dirty="0">
              <a:ln>
                <a:noFill/>
              </a:ln>
              <a:solidFill>
                <a:schemeClr val="tx2"/>
              </a:solidFill>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400" b="1" i="0" u="none" strike="noStrike" cap="none" normalizeH="0" baseline="0" dirty="0">
                <a:ln>
                  <a:noFill/>
                </a:ln>
                <a:solidFill>
                  <a:schemeClr val="tx2"/>
                </a:solidFill>
                <a:effectLst/>
                <a:latin typeface="Arial" panose="020B0604020202020204" pitchFamily="34" charset="0"/>
              </a:rPr>
              <a:t>API Gateway</a:t>
            </a:r>
            <a:r>
              <a:rPr kumimoji="0" lang="en-US" altLang="en-US" sz="1400" b="0" i="0" u="none" strike="noStrike" cap="none" normalizeH="0" baseline="0" dirty="0">
                <a:ln>
                  <a:noFill/>
                </a:ln>
                <a:solidFill>
                  <a:schemeClr val="tx2"/>
                </a:solidFill>
                <a:effectLst/>
                <a:latin typeface="Arial" panose="020B0604020202020204" pitchFamily="34" charset="0"/>
              </a:rPr>
              <a:t>: </a:t>
            </a:r>
            <a:r>
              <a:rPr kumimoji="0" lang="en-US" altLang="en-US" sz="1400" b="0" i="0" u="none" strike="noStrike" cap="none" normalizeH="0" baseline="0" dirty="0" err="1">
                <a:ln>
                  <a:noFill/>
                </a:ln>
                <a:solidFill>
                  <a:schemeClr val="tx2"/>
                </a:solidFill>
                <a:effectLst/>
                <a:latin typeface="Arial" panose="020B0604020202020204" pitchFamily="34" charset="0"/>
              </a:rPr>
              <a:t>Zuul</a:t>
            </a:r>
            <a:r>
              <a:rPr kumimoji="0" lang="en-US" altLang="en-US" sz="1400" b="0" i="0" u="none" strike="noStrike" cap="none" normalizeH="0" baseline="0" dirty="0">
                <a:ln>
                  <a:noFill/>
                </a:ln>
                <a:solidFill>
                  <a:schemeClr val="tx2"/>
                </a:solidFill>
                <a:effectLst/>
                <a:latin typeface="Arial" panose="020B0604020202020204" pitchFamily="34" charset="0"/>
              </a:rPr>
              <a:t>, Spring Cloud Gateway</a:t>
            </a: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solidFill>
                <a:schemeClr val="tx2"/>
              </a:solidFill>
              <a:effectLst/>
              <a:latin typeface="Arial" panose="020B0604020202020204" pitchFamily="34" charset="0"/>
            </a:endParaRPr>
          </a:p>
        </p:txBody>
      </p:sp>
      <p:grpSp>
        <p:nvGrpSpPr>
          <p:cNvPr id="19" name="Group 18">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0" name="Freeform: Shape 19">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65676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23D285EF-AD1B-2093-A930-E47EED50F0C6}"/>
              </a:ext>
            </a:extLst>
          </p:cNvPr>
          <p:cNvSpPr>
            <a:spLocks noGrp="1"/>
          </p:cNvSpPr>
          <p:nvPr>
            <p:ph type="title"/>
          </p:nvPr>
        </p:nvSpPr>
        <p:spPr>
          <a:xfrm>
            <a:off x="1179226" y="1755073"/>
            <a:ext cx="9833548" cy="1066802"/>
          </a:xfrm>
        </p:spPr>
        <p:txBody>
          <a:bodyPr anchor="b">
            <a:normAutofit/>
          </a:bodyPr>
          <a:lstStyle/>
          <a:p>
            <a:r>
              <a:rPr lang="en-IN" sz="3600" dirty="0">
                <a:solidFill>
                  <a:schemeClr val="tx2"/>
                </a:solidFill>
              </a:rPr>
              <a:t>Service and Client Discovery</a:t>
            </a:r>
          </a:p>
        </p:txBody>
      </p:sp>
      <p:grpSp>
        <p:nvGrpSpPr>
          <p:cNvPr id="45" name="Group 44">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46" name="Freeform: Shape 45">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1">
            <a:extLst>
              <a:ext uri="{FF2B5EF4-FFF2-40B4-BE49-F238E27FC236}">
                <a16:creationId xmlns:a16="http://schemas.microsoft.com/office/drawing/2014/main" id="{470C5030-F1B8-CD08-0EE0-D467A75CAE7C}"/>
              </a:ext>
            </a:extLst>
          </p:cNvPr>
          <p:cNvSpPr>
            <a:spLocks noGrp="1" noChangeArrowheads="1"/>
          </p:cNvSpPr>
          <p:nvPr>
            <p:ph idx="1"/>
          </p:nvPr>
        </p:nvSpPr>
        <p:spPr bwMode="auto">
          <a:xfrm>
            <a:off x="1179226" y="3049325"/>
            <a:ext cx="9833548" cy="29455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a:ln>
                  <a:noFill/>
                </a:ln>
                <a:solidFill>
                  <a:schemeClr val="tx2"/>
                </a:solidFill>
                <a:effectLst/>
                <a:latin typeface="Arial" panose="020B0604020202020204" pitchFamily="34" charset="0"/>
              </a:rPr>
              <a:t>Service Discovery</a:t>
            </a:r>
            <a:r>
              <a:rPr kumimoji="0" lang="en-US" altLang="en-US" sz="1700" b="0" i="0" u="none" strike="noStrike" cap="none" normalizeH="0" baseline="0">
                <a:ln>
                  <a:noFill/>
                </a:ln>
                <a:solidFill>
                  <a:schemeClr val="tx2"/>
                </a:solidFill>
                <a:effectLst/>
                <a:latin typeface="Arial" panose="020B0604020202020204" pitchFamily="34" charset="0"/>
              </a:rPr>
              <a:t>: Mechanism for finding services within a system.</a:t>
            </a:r>
          </a:p>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a:ln>
                  <a:noFill/>
                </a:ln>
                <a:solidFill>
                  <a:schemeClr val="tx2"/>
                </a:solidFill>
                <a:effectLst/>
                <a:latin typeface="Arial" panose="020B0604020202020204" pitchFamily="34" charset="0"/>
              </a:rPr>
              <a:t>Server-Side Discovery</a:t>
            </a:r>
            <a:r>
              <a:rPr kumimoji="0" lang="en-US" altLang="en-US" sz="1700" b="0" i="0" u="none" strike="noStrike" cap="none" normalizeH="0" baseline="0">
                <a:ln>
                  <a:noFill/>
                </a:ln>
                <a:solidFill>
                  <a:schemeClr val="tx2"/>
                </a:solidFill>
                <a:effectLst/>
                <a:latin typeface="Arial" panose="020B0604020202020204" pitchFamily="34" charset="0"/>
              </a:rPr>
              <a:t>: Load balancers handle service discovery.</a:t>
            </a:r>
          </a:p>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a:ln>
                  <a:noFill/>
                </a:ln>
                <a:solidFill>
                  <a:schemeClr val="tx2"/>
                </a:solidFill>
                <a:effectLst/>
                <a:latin typeface="Arial" panose="020B0604020202020204" pitchFamily="34" charset="0"/>
              </a:rPr>
              <a:t>Client-Side Discovery</a:t>
            </a:r>
            <a:r>
              <a:rPr kumimoji="0" lang="en-US" altLang="en-US" sz="1700" b="0" i="0" u="none" strike="noStrike" cap="none" normalizeH="0" baseline="0">
                <a:ln>
                  <a:noFill/>
                </a:ln>
                <a:solidFill>
                  <a:schemeClr val="tx2"/>
                </a:solidFill>
                <a:effectLst/>
                <a:latin typeface="Arial" panose="020B0604020202020204" pitchFamily="34" charset="0"/>
              </a:rPr>
              <a:t>: The client is responsible for finding available services.</a:t>
            </a:r>
          </a:p>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a:ln>
                  <a:noFill/>
                </a:ln>
                <a:solidFill>
                  <a:schemeClr val="tx2"/>
                </a:solidFill>
                <a:effectLst/>
                <a:latin typeface="Arial" panose="020B0604020202020204" pitchFamily="34" charset="0"/>
              </a:rPr>
              <a:t>Client Discovery</a:t>
            </a:r>
            <a:r>
              <a:rPr kumimoji="0" lang="en-US" altLang="en-US" sz="1700" b="0" i="0" u="none" strike="noStrike" cap="none" normalizeH="0" baseline="0">
                <a:ln>
                  <a:noFill/>
                </a:ln>
                <a:solidFill>
                  <a:schemeClr val="tx2"/>
                </a:solidFill>
                <a:effectLst/>
                <a:latin typeface="Arial" panose="020B0604020202020204" pitchFamily="34" charset="0"/>
              </a:rPr>
              <a:t>: Eureka, Consul, or Zookeeper allow clients to locate services dynamically without hardcoding their locations.</a:t>
            </a:r>
          </a:p>
          <a:p>
            <a:pPr marL="0" marR="0" lvl="0" indent="0" defTabSz="914400" rtl="0" eaLnBrk="0" fontAlgn="base" latinLnBrk="0" hangingPunct="0">
              <a:spcBef>
                <a:spcPct val="0"/>
              </a:spcBef>
              <a:spcAft>
                <a:spcPct val="0"/>
              </a:spcAft>
              <a:buClrTx/>
              <a:buSzTx/>
              <a:buFontTx/>
              <a:buChar char="•"/>
              <a:tabLst/>
            </a:pPr>
            <a:endParaRPr lang="en-US" altLang="en-US" sz="1700">
              <a:solidFill>
                <a:schemeClr val="tx2"/>
              </a:solidFill>
              <a:latin typeface="Arial" panose="020B0604020202020204" pitchFamily="34" charset="0"/>
            </a:endParaRPr>
          </a:p>
          <a:p>
            <a:pPr marL="0" indent="0">
              <a:buNone/>
            </a:pPr>
            <a:r>
              <a:rPr lang="en-IN" sz="1700" b="1">
                <a:solidFill>
                  <a:schemeClr val="tx2"/>
                </a:solidFill>
              </a:rPr>
              <a:t>Why &amp; How:</a:t>
            </a:r>
          </a:p>
          <a:p>
            <a:r>
              <a:rPr lang="en-IN" sz="1700" b="1">
                <a:solidFill>
                  <a:schemeClr val="tx2"/>
                </a:solidFill>
              </a:rPr>
              <a:t>Why</a:t>
            </a:r>
            <a:r>
              <a:rPr lang="en-IN" sz="1700">
                <a:solidFill>
                  <a:schemeClr val="tx2"/>
                </a:solidFill>
              </a:rPr>
              <a:t>: Facilitates dynamic scaling and failover of services, essential for microservices architecture.</a:t>
            </a:r>
          </a:p>
          <a:p>
            <a:r>
              <a:rPr lang="en-IN" sz="1700" b="1">
                <a:solidFill>
                  <a:schemeClr val="tx2"/>
                </a:solidFill>
              </a:rPr>
              <a:t>How</a:t>
            </a:r>
            <a:r>
              <a:rPr lang="en-IN" sz="1700">
                <a:solidFill>
                  <a:schemeClr val="tx2"/>
                </a:solidFill>
              </a:rPr>
              <a:t>: Register microservices with a discovery service (e.g., Eureka) and enable clients to discover services at runtime.</a:t>
            </a:r>
          </a:p>
          <a:p>
            <a:pPr marL="0" marR="0" lvl="0" indent="0" defTabSz="914400" rtl="0" eaLnBrk="0" fontAlgn="base" latinLnBrk="0" hangingPunct="0">
              <a:spcBef>
                <a:spcPct val="0"/>
              </a:spcBef>
              <a:spcAft>
                <a:spcPct val="0"/>
              </a:spcAft>
              <a:buClrTx/>
              <a:buSzTx/>
              <a:buFontTx/>
              <a:buChar char="•"/>
              <a:tabLst/>
            </a:pPr>
            <a:endParaRPr kumimoji="0" lang="en-US" altLang="en-US" sz="1700" b="0" i="0" u="none" strike="noStrike" cap="none" normalizeH="0" baseline="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3897904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F75AD06-DFC4-4B3A-8490-330823D0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C587C93-0840-40DF-96D5-D1F2137E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E96C05D5-EEEA-17F0-D081-337A574F7E76}"/>
              </a:ext>
            </a:extLst>
          </p:cNvPr>
          <p:cNvSpPr>
            <a:spLocks noGrp="1"/>
          </p:cNvSpPr>
          <p:nvPr>
            <p:ph type="title"/>
          </p:nvPr>
        </p:nvSpPr>
        <p:spPr>
          <a:xfrm>
            <a:off x="804672" y="1401859"/>
            <a:ext cx="4130185" cy="4054282"/>
          </a:xfrm>
        </p:spPr>
        <p:txBody>
          <a:bodyPr>
            <a:normAutofit/>
          </a:bodyPr>
          <a:lstStyle/>
          <a:p>
            <a:r>
              <a:rPr lang="en-IN" sz="3600">
                <a:solidFill>
                  <a:schemeClr val="tx2"/>
                </a:solidFill>
              </a:rPr>
              <a:t>Netflix OSS</a:t>
            </a:r>
          </a:p>
        </p:txBody>
      </p:sp>
      <p:grpSp>
        <p:nvGrpSpPr>
          <p:cNvPr id="26" name="Group 25">
            <a:extLst>
              <a:ext uri="{FF2B5EF4-FFF2-40B4-BE49-F238E27FC236}">
                <a16:creationId xmlns:a16="http://schemas.microsoft.com/office/drawing/2014/main" id="{5E02D55A-F529-4B19-BAF9-F63240A7B4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27" name="Freeform: Shape 26">
              <a:extLst>
                <a:ext uri="{FF2B5EF4-FFF2-40B4-BE49-F238E27FC236}">
                  <a16:creationId xmlns:a16="http://schemas.microsoft.com/office/drawing/2014/main" id="{60367E3C-3947-493D-9458-5955DB20A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1E8D9785-21DB-4CE6-B138-2999AD61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43AA5AD5-8F29-4165-8112-305DDDDDD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A4EC0CF-F38F-4D7F-B48D-9A26E814D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1">
            <a:extLst>
              <a:ext uri="{FF2B5EF4-FFF2-40B4-BE49-F238E27FC236}">
                <a16:creationId xmlns:a16="http://schemas.microsoft.com/office/drawing/2014/main" id="{E6A812F8-B7D9-1DD5-8F14-71451F9AF614}"/>
              </a:ext>
            </a:extLst>
          </p:cNvPr>
          <p:cNvSpPr>
            <a:spLocks noGrp="1" noChangeArrowheads="1"/>
          </p:cNvSpPr>
          <p:nvPr>
            <p:ph idx="1"/>
          </p:nvPr>
        </p:nvSpPr>
        <p:spPr bwMode="auto">
          <a:xfrm>
            <a:off x="5257800" y="1553134"/>
            <a:ext cx="6128539" cy="37517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None/>
              <a:tabLst/>
            </a:pPr>
            <a:r>
              <a:rPr kumimoji="0" lang="en-US" altLang="en-US" sz="1500" b="1" i="0" u="none" strike="noStrike" cap="none" normalizeH="0" baseline="0" dirty="0">
                <a:ln>
                  <a:noFill/>
                </a:ln>
                <a:solidFill>
                  <a:schemeClr val="tx2"/>
                </a:solidFill>
                <a:effectLst/>
                <a:latin typeface="Arial" panose="020B0604020202020204" pitchFamily="34" charset="0"/>
              </a:rPr>
              <a:t>Netflix Open-Source Software</a:t>
            </a:r>
            <a:r>
              <a:rPr kumimoji="0" lang="en-US" altLang="en-US" sz="1500" b="0" i="0" u="none" strike="noStrike" cap="none" normalizeH="0" baseline="0" dirty="0">
                <a:ln>
                  <a:noFill/>
                </a:ln>
                <a:solidFill>
                  <a:schemeClr val="tx2"/>
                </a:solidFill>
                <a:effectLst/>
                <a:latin typeface="Arial" panose="020B0604020202020204" pitchFamily="34" charset="0"/>
              </a:rPr>
              <a:t>: A suite of cloud and microservices tools designed by Netflix to support their microservices architecture.</a:t>
            </a:r>
          </a:p>
          <a:p>
            <a:pPr marL="0" marR="0" lvl="0" indent="0" defTabSz="914400" rtl="0" eaLnBrk="0" fontAlgn="base" latinLnBrk="0" hangingPunct="0">
              <a:spcBef>
                <a:spcPct val="0"/>
              </a:spcBef>
              <a:spcAft>
                <a:spcPct val="0"/>
              </a:spcAft>
              <a:buClrTx/>
              <a:buSzTx/>
              <a:buFontTx/>
              <a:buChar char="•"/>
              <a:tabLst/>
            </a:pPr>
            <a:r>
              <a:rPr kumimoji="0" lang="en-US" altLang="en-US" sz="1500" b="1" i="0" u="none" strike="noStrike" cap="none" normalizeH="0" baseline="0" dirty="0">
                <a:ln>
                  <a:noFill/>
                </a:ln>
                <a:solidFill>
                  <a:schemeClr val="tx2"/>
                </a:solidFill>
                <a:effectLst/>
                <a:latin typeface="Arial" panose="020B0604020202020204" pitchFamily="34" charset="0"/>
              </a:rPr>
              <a:t>Key Tools</a:t>
            </a:r>
            <a:r>
              <a:rPr kumimoji="0" lang="en-US" altLang="en-US" sz="1500" b="0" i="0" u="none" strike="noStrike" cap="none" normalizeH="0" baseline="0" dirty="0">
                <a:ln>
                  <a:noFill/>
                </a:ln>
                <a:solidFill>
                  <a:schemeClr val="tx2"/>
                </a:solidFill>
                <a:effectLst/>
                <a:latin typeface="Arial" panose="020B0604020202020204" pitchFamily="34" charset="0"/>
              </a:rPr>
              <a:t>:</a:t>
            </a:r>
          </a:p>
          <a:p>
            <a:pPr marL="457200" lvl="1" indent="0" eaLnBrk="0" fontAlgn="base" hangingPunct="0">
              <a:spcBef>
                <a:spcPct val="0"/>
              </a:spcBef>
              <a:spcAft>
                <a:spcPct val="0"/>
              </a:spcAft>
              <a:buFontTx/>
              <a:buChar char="•"/>
            </a:pPr>
            <a:r>
              <a:rPr kumimoji="0" lang="en-US" altLang="en-US" sz="1500" b="1" i="0" u="none" strike="noStrike" cap="none" normalizeH="0" baseline="0" dirty="0">
                <a:ln>
                  <a:noFill/>
                </a:ln>
                <a:solidFill>
                  <a:schemeClr val="tx2"/>
                </a:solidFill>
                <a:effectLst/>
                <a:latin typeface="Arial" panose="020B0604020202020204" pitchFamily="34" charset="0"/>
              </a:rPr>
              <a:t>Eureka</a:t>
            </a:r>
            <a:r>
              <a:rPr kumimoji="0" lang="en-US" altLang="en-US" sz="1500" b="0" i="0" u="none" strike="noStrike" cap="none" normalizeH="0" baseline="0" dirty="0">
                <a:ln>
                  <a:noFill/>
                </a:ln>
                <a:solidFill>
                  <a:schemeClr val="tx2"/>
                </a:solidFill>
                <a:effectLst/>
                <a:latin typeface="Arial" panose="020B0604020202020204" pitchFamily="34" charset="0"/>
              </a:rPr>
              <a:t>: Service discovery.</a:t>
            </a:r>
          </a:p>
          <a:p>
            <a:pPr marL="457200" lvl="1" indent="0" eaLnBrk="0" fontAlgn="base" hangingPunct="0">
              <a:spcBef>
                <a:spcPct val="0"/>
              </a:spcBef>
              <a:spcAft>
                <a:spcPct val="0"/>
              </a:spcAft>
              <a:buFontTx/>
              <a:buChar char="•"/>
            </a:pPr>
            <a:r>
              <a:rPr kumimoji="0" lang="en-US" altLang="en-US" sz="1500" b="1" i="0" u="none" strike="noStrike" cap="none" normalizeH="0" baseline="0" dirty="0" err="1">
                <a:ln>
                  <a:noFill/>
                </a:ln>
                <a:solidFill>
                  <a:schemeClr val="tx2"/>
                </a:solidFill>
                <a:effectLst/>
                <a:latin typeface="Arial" panose="020B0604020202020204" pitchFamily="34" charset="0"/>
              </a:rPr>
              <a:t>Hystrix</a:t>
            </a:r>
            <a:r>
              <a:rPr kumimoji="0" lang="en-US" altLang="en-US" sz="1500" b="0" i="0" u="none" strike="noStrike" cap="none" normalizeH="0" baseline="0" dirty="0">
                <a:ln>
                  <a:noFill/>
                </a:ln>
                <a:solidFill>
                  <a:schemeClr val="tx2"/>
                </a:solidFill>
                <a:effectLst/>
                <a:latin typeface="Arial" panose="020B0604020202020204" pitchFamily="34" charset="0"/>
              </a:rPr>
              <a:t>: Circuit breaker for fault tolerance.</a:t>
            </a:r>
          </a:p>
          <a:p>
            <a:pPr marL="457200" lvl="1" indent="0" eaLnBrk="0" fontAlgn="base" hangingPunct="0">
              <a:spcBef>
                <a:spcPct val="0"/>
              </a:spcBef>
              <a:spcAft>
                <a:spcPct val="0"/>
              </a:spcAft>
              <a:buFontTx/>
              <a:buChar char="•"/>
            </a:pPr>
            <a:r>
              <a:rPr kumimoji="0" lang="en-US" altLang="en-US" sz="1500" b="1" i="0" u="none" strike="noStrike" cap="none" normalizeH="0" baseline="0" dirty="0" err="1">
                <a:ln>
                  <a:noFill/>
                </a:ln>
                <a:solidFill>
                  <a:schemeClr val="tx2"/>
                </a:solidFill>
                <a:effectLst/>
                <a:latin typeface="Arial" panose="020B0604020202020204" pitchFamily="34" charset="0"/>
              </a:rPr>
              <a:t>Zuul</a:t>
            </a:r>
            <a:r>
              <a:rPr kumimoji="0" lang="en-US" altLang="en-US" sz="1500" b="0" i="0" u="none" strike="noStrike" cap="none" normalizeH="0" baseline="0" dirty="0">
                <a:ln>
                  <a:noFill/>
                </a:ln>
                <a:solidFill>
                  <a:schemeClr val="tx2"/>
                </a:solidFill>
                <a:effectLst/>
                <a:latin typeface="Arial" panose="020B0604020202020204" pitchFamily="34" charset="0"/>
              </a:rPr>
              <a:t>: Edge service for routing, monitoring, and security.</a:t>
            </a:r>
          </a:p>
          <a:p>
            <a:pPr marL="457200" lvl="1" indent="0" eaLnBrk="0" fontAlgn="base" hangingPunct="0">
              <a:spcBef>
                <a:spcPct val="0"/>
              </a:spcBef>
              <a:spcAft>
                <a:spcPct val="0"/>
              </a:spcAft>
              <a:buFontTx/>
              <a:buChar char="•"/>
            </a:pPr>
            <a:r>
              <a:rPr kumimoji="0" lang="en-US" altLang="en-US" sz="1500" b="1" i="0" u="none" strike="noStrike" cap="none" normalizeH="0" baseline="0" dirty="0">
                <a:ln>
                  <a:noFill/>
                </a:ln>
                <a:solidFill>
                  <a:schemeClr val="tx2"/>
                </a:solidFill>
                <a:effectLst/>
                <a:latin typeface="Arial" panose="020B0604020202020204" pitchFamily="34" charset="0"/>
              </a:rPr>
              <a:t>Ribbon</a:t>
            </a:r>
            <a:r>
              <a:rPr kumimoji="0" lang="en-US" altLang="en-US" sz="1500" b="0" i="0" u="none" strike="noStrike" cap="none" normalizeH="0" baseline="0" dirty="0">
                <a:ln>
                  <a:noFill/>
                </a:ln>
                <a:solidFill>
                  <a:schemeClr val="tx2"/>
                </a:solidFill>
                <a:effectLst/>
                <a:latin typeface="Arial" panose="020B0604020202020204" pitchFamily="34" charset="0"/>
              </a:rPr>
              <a:t>: Client-side load balancer.</a:t>
            </a:r>
          </a:p>
          <a:p>
            <a:pPr marL="0" marR="0" lvl="0" indent="0" defTabSz="914400" rtl="0" eaLnBrk="0" fontAlgn="base" latinLnBrk="0" hangingPunct="0">
              <a:spcBef>
                <a:spcPct val="0"/>
              </a:spcBef>
              <a:spcAft>
                <a:spcPct val="0"/>
              </a:spcAft>
              <a:buClrTx/>
              <a:buSzTx/>
              <a:buFontTx/>
              <a:buChar char="•"/>
              <a:tabLst/>
            </a:pPr>
            <a:endParaRPr lang="en-US" altLang="en-US" sz="1500" dirty="0">
              <a:solidFill>
                <a:schemeClr val="tx2"/>
              </a:solidFill>
              <a:latin typeface="Arial" panose="020B0604020202020204" pitchFamily="34" charset="0"/>
            </a:endParaRPr>
          </a:p>
          <a:p>
            <a:pPr marL="0" indent="0">
              <a:buNone/>
            </a:pPr>
            <a:r>
              <a:rPr lang="en-IN" sz="1500" b="1" dirty="0">
                <a:solidFill>
                  <a:schemeClr val="tx2"/>
                </a:solidFill>
              </a:rPr>
              <a:t>Why &amp; How:</a:t>
            </a:r>
          </a:p>
          <a:p>
            <a:r>
              <a:rPr lang="en-IN" sz="1500" b="1" dirty="0">
                <a:solidFill>
                  <a:schemeClr val="tx2"/>
                </a:solidFill>
              </a:rPr>
              <a:t>Why</a:t>
            </a:r>
            <a:r>
              <a:rPr lang="en-IN" sz="1500" dirty="0">
                <a:solidFill>
                  <a:schemeClr val="tx2"/>
                </a:solidFill>
              </a:rPr>
              <a:t>: Provides a proven, robust solution for microservices architecture in a cloud environment.</a:t>
            </a:r>
          </a:p>
          <a:p>
            <a:pPr>
              <a:buFont typeface="Arial" panose="020B0604020202020204" pitchFamily="34" charset="0"/>
              <a:buChar char="•"/>
            </a:pPr>
            <a:r>
              <a:rPr lang="en-IN" sz="1500" b="1" dirty="0">
                <a:solidFill>
                  <a:schemeClr val="tx2"/>
                </a:solidFill>
              </a:rPr>
              <a:t>How</a:t>
            </a:r>
            <a:r>
              <a:rPr lang="en-IN" sz="1500" dirty="0">
                <a:solidFill>
                  <a:schemeClr val="tx2"/>
                </a:solidFill>
              </a:rPr>
              <a:t>: Integrating tools like </a:t>
            </a:r>
            <a:r>
              <a:rPr lang="en-IN" sz="1500" dirty="0" err="1">
                <a:solidFill>
                  <a:schemeClr val="tx2"/>
                </a:solidFill>
              </a:rPr>
              <a:t>Hystrix</a:t>
            </a:r>
            <a:r>
              <a:rPr lang="en-IN" sz="1500" dirty="0">
                <a:solidFill>
                  <a:schemeClr val="tx2"/>
                </a:solidFill>
              </a:rPr>
              <a:t> for fault tolerance and Eureka for service discovery into your Spring Cloud or microservices ecosystem.</a:t>
            </a:r>
          </a:p>
          <a:p>
            <a:pPr marL="0" marR="0" lvl="0" indent="0" defTabSz="914400" rtl="0" eaLnBrk="0" fontAlgn="base" latinLnBrk="0" hangingPunct="0">
              <a:spcBef>
                <a:spcPct val="0"/>
              </a:spcBef>
              <a:spcAft>
                <a:spcPct val="0"/>
              </a:spcAft>
              <a:buClrTx/>
              <a:buSzTx/>
              <a:buFontTx/>
              <a:buChar char="•"/>
              <a:tabLst/>
            </a:pPr>
            <a:endParaRPr kumimoji="0" lang="en-US" altLang="en-US" sz="15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n-US" altLang="en-US" sz="1500" b="0" i="0" u="none" strike="noStrike" cap="none" normalizeH="0" baseline="0" dirty="0">
              <a:ln>
                <a:noFill/>
              </a:ln>
              <a:solidFill>
                <a:schemeClr val="tx2"/>
              </a:solidFill>
              <a:effectLst/>
              <a:latin typeface="Arial" panose="020B0604020202020204" pitchFamily="34" charset="0"/>
            </a:endParaRPr>
          </a:p>
        </p:txBody>
      </p:sp>
      <p:grpSp>
        <p:nvGrpSpPr>
          <p:cNvPr id="42" name="Group 41">
            <a:extLst>
              <a:ext uri="{FF2B5EF4-FFF2-40B4-BE49-F238E27FC236}">
                <a16:creationId xmlns:a16="http://schemas.microsoft.com/office/drawing/2014/main" id="{47A3A52F-BCB3-444D-9372-EE018B135C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43" name="Freeform: Shape 42">
              <a:extLst>
                <a:ext uri="{FF2B5EF4-FFF2-40B4-BE49-F238E27FC236}">
                  <a16:creationId xmlns:a16="http://schemas.microsoft.com/office/drawing/2014/main" id="{91E32C13-DED6-4967-85B8-68DD77103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38DDA515-BC6A-47FB-951E-E1E79287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B97EEFA7-6787-4EC0-8284-6D3D27306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1A9621AC-50AB-4B43-896D-78FE571A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63296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13966-0F6C-A53F-2434-CF986D685FB1}"/>
              </a:ext>
            </a:extLst>
          </p:cNvPr>
          <p:cNvSpPr>
            <a:spLocks noGrp="1"/>
          </p:cNvSpPr>
          <p:nvPr>
            <p:ph type="title"/>
          </p:nvPr>
        </p:nvSpPr>
        <p:spPr>
          <a:xfrm>
            <a:off x="838200" y="365126"/>
            <a:ext cx="10515600" cy="1129378"/>
          </a:xfrm>
        </p:spPr>
        <p:txBody>
          <a:bodyPr/>
          <a:lstStyle/>
          <a:p>
            <a:r>
              <a:rPr lang="en-IN" dirty="0"/>
              <a:t>Spring Caching</a:t>
            </a:r>
          </a:p>
        </p:txBody>
      </p:sp>
      <p:sp>
        <p:nvSpPr>
          <p:cNvPr id="5" name="Rectangle 2">
            <a:extLst>
              <a:ext uri="{FF2B5EF4-FFF2-40B4-BE49-F238E27FC236}">
                <a16:creationId xmlns:a16="http://schemas.microsoft.com/office/drawing/2014/main" id="{65F82D25-A8D1-86EA-F39E-779AB4DBC78F}"/>
              </a:ext>
            </a:extLst>
          </p:cNvPr>
          <p:cNvSpPr>
            <a:spLocks noGrp="1" noChangeArrowheads="1"/>
          </p:cNvSpPr>
          <p:nvPr>
            <p:ph idx="1"/>
          </p:nvPr>
        </p:nvSpPr>
        <p:spPr bwMode="auto">
          <a:xfrm>
            <a:off x="838200" y="1703878"/>
            <a:ext cx="1051560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just">
              <a:buNone/>
            </a:pPr>
            <a:r>
              <a:rPr lang="en-US" altLang="en-US" sz="1900" dirty="0">
                <a:solidFill>
                  <a:schemeClr val="tx2"/>
                </a:solidFill>
              </a:rPr>
              <a:t>The Spring Framework provides support for transparently adding caching to an application. At its core, the abstraction applies caching to methods, thus reducing the number of executions based on the information available in the cache. The caching logic is applied transparently, without any interference to the invoker. Spring Boot auto-configures the cache infrastructure if caching support is enabled by using the </a:t>
            </a:r>
            <a:r>
              <a:rPr lang="en-US" altLang="en-US" sz="1900" b="1" dirty="0">
                <a:solidFill>
                  <a:schemeClr val="tx2"/>
                </a:solidFill>
              </a:rPr>
              <a:t>@EnableCaching </a:t>
            </a:r>
            <a:r>
              <a:rPr lang="en-US" altLang="en-US" sz="1900" dirty="0">
                <a:solidFill>
                  <a:schemeClr val="tx2"/>
                </a:solidFill>
              </a:rPr>
              <a:t>annotation. </a:t>
            </a:r>
          </a:p>
        </p:txBody>
      </p:sp>
      <p:grpSp>
        <p:nvGrpSpPr>
          <p:cNvPr id="41" name="Group 40">
            <a:extLst>
              <a:ext uri="{FF2B5EF4-FFF2-40B4-BE49-F238E27FC236}">
                <a16:creationId xmlns:a16="http://schemas.microsoft.com/office/drawing/2014/main" id="{E2B09020-D725-80AB-0BEA-B5F2DE7D491A}"/>
              </a:ext>
            </a:extLst>
          </p:cNvPr>
          <p:cNvGrpSpPr/>
          <p:nvPr/>
        </p:nvGrpSpPr>
        <p:grpSpPr>
          <a:xfrm>
            <a:off x="1023047" y="3111956"/>
            <a:ext cx="9843846" cy="3412872"/>
            <a:chOff x="993551" y="3111956"/>
            <a:chExt cx="9843846" cy="3412872"/>
          </a:xfrm>
        </p:grpSpPr>
        <p:pic>
          <p:nvPicPr>
            <p:cNvPr id="7" name="Graphic 6" descr="Database outline">
              <a:extLst>
                <a:ext uri="{FF2B5EF4-FFF2-40B4-BE49-F238E27FC236}">
                  <a16:creationId xmlns:a16="http://schemas.microsoft.com/office/drawing/2014/main" id="{5555EF41-0F9A-6C2A-5989-CC6A604B98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37754" y="4951668"/>
              <a:ext cx="1573160" cy="1573160"/>
            </a:xfrm>
            <a:prstGeom prst="rect">
              <a:avLst/>
            </a:prstGeom>
          </p:spPr>
        </p:pic>
        <p:grpSp>
          <p:nvGrpSpPr>
            <p:cNvPr id="40" name="Group 39">
              <a:extLst>
                <a:ext uri="{FF2B5EF4-FFF2-40B4-BE49-F238E27FC236}">
                  <a16:creationId xmlns:a16="http://schemas.microsoft.com/office/drawing/2014/main" id="{1ABB066D-5768-B6E9-4B9E-CFCB678E1C3A}"/>
                </a:ext>
              </a:extLst>
            </p:cNvPr>
            <p:cNvGrpSpPr/>
            <p:nvPr/>
          </p:nvGrpSpPr>
          <p:grpSpPr>
            <a:xfrm>
              <a:off x="993551" y="3111956"/>
              <a:ext cx="9843846" cy="3089832"/>
              <a:chOff x="993551" y="2839020"/>
              <a:chExt cx="9843846" cy="3089832"/>
            </a:xfrm>
          </p:grpSpPr>
          <p:pic>
            <p:nvPicPr>
              <p:cNvPr id="9" name="Graphic 8" descr="Box outline">
                <a:extLst>
                  <a:ext uri="{FF2B5EF4-FFF2-40B4-BE49-F238E27FC236}">
                    <a16:creationId xmlns:a16="http://schemas.microsoft.com/office/drawing/2014/main" id="{80E2BD2C-0F34-E379-03F4-ABCDB74D77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64013" y="2839020"/>
                <a:ext cx="1641984" cy="1641984"/>
              </a:xfrm>
              <a:prstGeom prst="rect">
                <a:avLst/>
              </a:prstGeom>
            </p:spPr>
          </p:pic>
          <p:pic>
            <p:nvPicPr>
              <p:cNvPr id="11" name="Graphic 10" descr="Server with solid fill">
                <a:extLst>
                  <a:ext uri="{FF2B5EF4-FFF2-40B4-BE49-F238E27FC236}">
                    <a16:creationId xmlns:a16="http://schemas.microsoft.com/office/drawing/2014/main" id="{A1311C37-E853-632B-1918-659E2231DE4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86003" y="3846871"/>
                <a:ext cx="1573160" cy="1573160"/>
              </a:xfrm>
              <a:prstGeom prst="rect">
                <a:avLst/>
              </a:prstGeom>
            </p:spPr>
          </p:pic>
          <p:cxnSp>
            <p:nvCxnSpPr>
              <p:cNvPr id="21" name="Straight Arrow Connector 20">
                <a:extLst>
                  <a:ext uri="{FF2B5EF4-FFF2-40B4-BE49-F238E27FC236}">
                    <a16:creationId xmlns:a16="http://schemas.microsoft.com/office/drawing/2014/main" id="{F74A531A-49F6-EDD4-FEDB-DF7B220A987F}"/>
                  </a:ext>
                </a:extLst>
              </p:cNvPr>
              <p:cNvCxnSpPr>
                <a:cxnSpLocks/>
              </p:cNvCxnSpPr>
              <p:nvPr/>
            </p:nvCxnSpPr>
            <p:spPr>
              <a:xfrm flipV="1">
                <a:off x="3755923" y="3574612"/>
                <a:ext cx="4508090" cy="85442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C6A832C-99B9-EE19-54FD-9830B0EA4532}"/>
                  </a:ext>
                </a:extLst>
              </p:cNvPr>
              <p:cNvCxnSpPr>
                <a:cxnSpLocks/>
              </p:cNvCxnSpPr>
              <p:nvPr/>
            </p:nvCxnSpPr>
            <p:spPr>
              <a:xfrm flipH="1">
                <a:off x="3755923" y="3846871"/>
                <a:ext cx="4576916" cy="94143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28C14B4-11B9-BEF5-606E-B668E59AB4F8}"/>
                  </a:ext>
                </a:extLst>
              </p:cNvPr>
              <p:cNvCxnSpPr>
                <a:cxnSpLocks/>
              </p:cNvCxnSpPr>
              <p:nvPr/>
            </p:nvCxnSpPr>
            <p:spPr>
              <a:xfrm>
                <a:off x="3778047" y="5060569"/>
                <a:ext cx="4766185" cy="868283"/>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308DF861-9ABB-F827-D987-7C7577D5D5EA}"/>
                  </a:ext>
                </a:extLst>
              </p:cNvPr>
              <p:cNvSpPr txBox="1"/>
              <p:nvPr/>
            </p:nvSpPr>
            <p:spPr>
              <a:xfrm>
                <a:off x="9792929" y="3500284"/>
                <a:ext cx="838691" cy="369332"/>
              </a:xfrm>
              <a:prstGeom prst="rect">
                <a:avLst/>
              </a:prstGeom>
              <a:noFill/>
            </p:spPr>
            <p:txBody>
              <a:bodyPr wrap="none" rtlCol="0">
                <a:spAutoFit/>
              </a:bodyPr>
              <a:lstStyle/>
              <a:p>
                <a:r>
                  <a:rPr lang="en-IN" dirty="0"/>
                  <a:t>Cache</a:t>
                </a:r>
              </a:p>
            </p:txBody>
          </p:sp>
          <p:sp>
            <p:nvSpPr>
              <p:cNvPr id="32" name="TextBox 31">
                <a:extLst>
                  <a:ext uri="{FF2B5EF4-FFF2-40B4-BE49-F238E27FC236}">
                    <a16:creationId xmlns:a16="http://schemas.microsoft.com/office/drawing/2014/main" id="{85F6EBE1-9FA4-17E9-E29B-9E264970C4D4}"/>
                  </a:ext>
                </a:extLst>
              </p:cNvPr>
              <p:cNvSpPr txBox="1"/>
              <p:nvPr/>
            </p:nvSpPr>
            <p:spPr>
              <a:xfrm>
                <a:off x="9687723" y="5494710"/>
                <a:ext cx="1149674" cy="369332"/>
              </a:xfrm>
              <a:prstGeom prst="rect">
                <a:avLst/>
              </a:prstGeom>
              <a:noFill/>
            </p:spPr>
            <p:txBody>
              <a:bodyPr wrap="none" rtlCol="0">
                <a:spAutoFit/>
              </a:bodyPr>
              <a:lstStyle/>
              <a:p>
                <a:r>
                  <a:rPr lang="en-IN" dirty="0"/>
                  <a:t>Database</a:t>
                </a:r>
              </a:p>
            </p:txBody>
          </p:sp>
          <p:sp>
            <p:nvSpPr>
              <p:cNvPr id="33" name="TextBox 32">
                <a:extLst>
                  <a:ext uri="{FF2B5EF4-FFF2-40B4-BE49-F238E27FC236}">
                    <a16:creationId xmlns:a16="http://schemas.microsoft.com/office/drawing/2014/main" id="{342D3BD9-3516-6817-6EAD-8DF98D381847}"/>
                  </a:ext>
                </a:extLst>
              </p:cNvPr>
              <p:cNvSpPr txBox="1"/>
              <p:nvPr/>
            </p:nvSpPr>
            <p:spPr>
              <a:xfrm>
                <a:off x="2613034" y="3589947"/>
                <a:ext cx="919098" cy="369332"/>
              </a:xfrm>
              <a:prstGeom prst="rect">
                <a:avLst/>
              </a:prstGeom>
              <a:noFill/>
            </p:spPr>
            <p:txBody>
              <a:bodyPr wrap="none" rtlCol="0">
                <a:spAutoFit/>
              </a:bodyPr>
              <a:lstStyle/>
              <a:p>
                <a:r>
                  <a:rPr lang="en-IN" dirty="0"/>
                  <a:t>Service</a:t>
                </a:r>
              </a:p>
            </p:txBody>
          </p:sp>
          <p:pic>
            <p:nvPicPr>
              <p:cNvPr id="35" name="Graphic 34" descr="Arrow Right with solid fill">
                <a:extLst>
                  <a:ext uri="{FF2B5EF4-FFF2-40B4-BE49-F238E27FC236}">
                    <a16:creationId xmlns:a16="http://schemas.microsoft.com/office/drawing/2014/main" id="{2B77AA69-8008-9801-22A9-7AC8C74915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9595" y="4146169"/>
                <a:ext cx="1361769" cy="914400"/>
              </a:xfrm>
              <a:prstGeom prst="rect">
                <a:avLst/>
              </a:prstGeom>
            </p:spPr>
          </p:pic>
          <p:sp>
            <p:nvSpPr>
              <p:cNvPr id="36" name="TextBox 35">
                <a:extLst>
                  <a:ext uri="{FF2B5EF4-FFF2-40B4-BE49-F238E27FC236}">
                    <a16:creationId xmlns:a16="http://schemas.microsoft.com/office/drawing/2014/main" id="{E63EAFAA-4DB7-F926-890E-7693C14BCA1C}"/>
                  </a:ext>
                </a:extLst>
              </p:cNvPr>
              <p:cNvSpPr txBox="1"/>
              <p:nvPr/>
            </p:nvSpPr>
            <p:spPr>
              <a:xfrm>
                <a:off x="993551" y="4057102"/>
                <a:ext cx="1012072" cy="369332"/>
              </a:xfrm>
              <a:prstGeom prst="rect">
                <a:avLst/>
              </a:prstGeom>
              <a:noFill/>
            </p:spPr>
            <p:txBody>
              <a:bodyPr wrap="none" rtlCol="0">
                <a:spAutoFit/>
              </a:bodyPr>
              <a:lstStyle/>
              <a:p>
                <a:r>
                  <a:rPr lang="en-IN" dirty="0"/>
                  <a:t>Request</a:t>
                </a:r>
              </a:p>
            </p:txBody>
          </p:sp>
          <p:sp>
            <p:nvSpPr>
              <p:cNvPr id="37" name="TextBox 36">
                <a:extLst>
                  <a:ext uri="{FF2B5EF4-FFF2-40B4-BE49-F238E27FC236}">
                    <a16:creationId xmlns:a16="http://schemas.microsoft.com/office/drawing/2014/main" id="{356521EA-04C5-B035-6894-2043F15530B9}"/>
                  </a:ext>
                </a:extLst>
              </p:cNvPr>
              <p:cNvSpPr txBox="1"/>
              <p:nvPr/>
            </p:nvSpPr>
            <p:spPr>
              <a:xfrm rot="20942618">
                <a:off x="4688097" y="3717898"/>
                <a:ext cx="2090059" cy="369332"/>
              </a:xfrm>
              <a:prstGeom prst="rect">
                <a:avLst/>
              </a:prstGeom>
              <a:noFill/>
            </p:spPr>
            <p:txBody>
              <a:bodyPr wrap="none" rtlCol="0">
                <a:spAutoFit/>
              </a:bodyPr>
              <a:lstStyle/>
              <a:p>
                <a:r>
                  <a:rPr lang="en-IN" dirty="0"/>
                  <a:t>Available in cache?</a:t>
                </a:r>
              </a:p>
            </p:txBody>
          </p:sp>
          <p:sp>
            <p:nvSpPr>
              <p:cNvPr id="38" name="TextBox 37">
                <a:extLst>
                  <a:ext uri="{FF2B5EF4-FFF2-40B4-BE49-F238E27FC236}">
                    <a16:creationId xmlns:a16="http://schemas.microsoft.com/office/drawing/2014/main" id="{32A2763D-CC04-EAD9-9006-0C788F31763B}"/>
                  </a:ext>
                </a:extLst>
              </p:cNvPr>
              <p:cNvSpPr txBox="1"/>
              <p:nvPr/>
            </p:nvSpPr>
            <p:spPr>
              <a:xfrm rot="20878391">
                <a:off x="4532088" y="4029658"/>
                <a:ext cx="2774093" cy="369332"/>
              </a:xfrm>
              <a:prstGeom prst="rect">
                <a:avLst/>
              </a:prstGeom>
              <a:noFill/>
            </p:spPr>
            <p:txBody>
              <a:bodyPr wrap="none" rtlCol="0">
                <a:spAutoFit/>
              </a:bodyPr>
              <a:lstStyle/>
              <a:p>
                <a:r>
                  <a:rPr lang="en-IN" dirty="0"/>
                  <a:t>Returned data from cache</a:t>
                </a:r>
              </a:p>
            </p:txBody>
          </p:sp>
          <p:sp>
            <p:nvSpPr>
              <p:cNvPr id="39" name="TextBox 38">
                <a:extLst>
                  <a:ext uri="{FF2B5EF4-FFF2-40B4-BE49-F238E27FC236}">
                    <a16:creationId xmlns:a16="http://schemas.microsoft.com/office/drawing/2014/main" id="{806F50FE-EB22-5A65-C74C-EF3D554CF2C9}"/>
                  </a:ext>
                </a:extLst>
              </p:cNvPr>
              <p:cNvSpPr txBox="1"/>
              <p:nvPr/>
            </p:nvSpPr>
            <p:spPr>
              <a:xfrm rot="620748">
                <a:off x="5074006" y="5183209"/>
                <a:ext cx="2358018" cy="369332"/>
              </a:xfrm>
              <a:prstGeom prst="rect">
                <a:avLst/>
              </a:prstGeom>
              <a:noFill/>
            </p:spPr>
            <p:txBody>
              <a:bodyPr wrap="none" rtlCol="0">
                <a:spAutoFit/>
              </a:bodyPr>
              <a:lstStyle/>
              <a:p>
                <a:r>
                  <a:rPr lang="en-IN" dirty="0"/>
                  <a:t>Fetch from Data Store</a:t>
                </a:r>
              </a:p>
            </p:txBody>
          </p:sp>
        </p:grpSp>
      </p:grpSp>
    </p:spTree>
    <p:extLst>
      <p:ext uri="{BB962C8B-B14F-4D97-AF65-F5344CB8AC3E}">
        <p14:creationId xmlns:p14="http://schemas.microsoft.com/office/powerpoint/2010/main" val="3491768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6044</TotalTime>
  <Words>1773</Words>
  <Application>Microsoft Office PowerPoint</Application>
  <PresentationFormat>Widescreen</PresentationFormat>
  <Paragraphs>188</Paragraphs>
  <Slides>27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-apple-system</vt:lpstr>
      <vt:lpstr>Aptos</vt:lpstr>
      <vt:lpstr>Aptos Display</vt:lpstr>
      <vt:lpstr>Arial</vt:lpstr>
      <vt:lpstr>Arial Unicode MS</vt:lpstr>
      <vt:lpstr>Calibri</vt:lpstr>
      <vt:lpstr>Courier New</vt:lpstr>
      <vt:lpstr>Office Theme</vt:lpstr>
      <vt:lpstr>Spring Boot Microservices</vt:lpstr>
      <vt:lpstr>What is Spring Boot?</vt:lpstr>
      <vt:lpstr>Spring CLI</vt:lpstr>
      <vt:lpstr>Rest Template</vt:lpstr>
      <vt:lpstr>Rest Template</vt:lpstr>
      <vt:lpstr>Content Negotiation</vt:lpstr>
      <vt:lpstr>How Content Negotiation Works</vt:lpstr>
      <vt:lpstr>Spring JMS</vt:lpstr>
      <vt:lpstr>JmsTemplate</vt:lpstr>
      <vt:lpstr>Health Endpoint</vt:lpstr>
      <vt:lpstr>How to Enable the Health Endpoint</vt:lpstr>
      <vt:lpstr>Microservices</vt:lpstr>
      <vt:lpstr>Characteristics</vt:lpstr>
      <vt:lpstr>Why &amp; How</vt:lpstr>
      <vt:lpstr>Decentralized Governance, Scalability, Fault Tolerance</vt:lpstr>
      <vt:lpstr>Decentralized Governance: Why &amp; How</vt:lpstr>
      <vt:lpstr>Scalability: Why &amp; How</vt:lpstr>
      <vt:lpstr>Horizontal vs Vertical Scaling</vt:lpstr>
      <vt:lpstr>Auto-Scaling Strategies</vt:lpstr>
      <vt:lpstr>Load Balancing</vt:lpstr>
      <vt:lpstr>Key Differences</vt:lpstr>
      <vt:lpstr>Cloud Computing</vt:lpstr>
      <vt:lpstr>Types</vt:lpstr>
      <vt:lpstr>Spring Cloud</vt:lpstr>
      <vt:lpstr>Service and Client Discovery</vt:lpstr>
      <vt:lpstr>Netflix OSS</vt:lpstr>
      <vt:lpstr>Spring Caching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Agarwal, Prabhat (DI CTO FDS CCS COS CORE AM)</dc:creator>
  <cp:lastModifiedBy>Agarwal, Prabhat (FT FDS CCS COS CORE AM)</cp:lastModifiedBy>
  <cp:revision>127</cp:revision>
  <dcterms:created xsi:type="dcterms:W3CDTF">2024-09-10T04:04:28Z</dcterms:created>
  <dcterms:modified xsi:type="dcterms:W3CDTF">2024-10-25T07:56:56Z</dcterms:modified>
</cp:coreProperties>
</file>